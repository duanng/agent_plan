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5" r:id="rId5"/>
    <p:sldId id="257" r:id="rId6"/>
    <p:sldId id="258" r:id="rId7"/>
    <p:sldId id="259" r:id="rId8"/>
    <p:sldId id="260" r:id="rId9"/>
    <p:sldId id="261" r:id="rId10"/>
    <p:sldId id="262" r:id="rId11"/>
    <p:sldId id="264" r:id="rId12"/>
    <p:sldId id="266" r:id="rId13"/>
    <p:sldId id="268" r:id="rId15"/>
    <p:sldId id="271" r:id="rId16"/>
    <p:sldId id="272" r:id="rId17"/>
    <p:sldId id="274" r:id="rId18"/>
    <p:sldId id="275"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ableStyles" Target="tableStyles.xml"/><Relationship Id="rId23"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038600" y="6356350"/>
            <a:ext cx="4114800" cy="365125"/>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695960" y="360000"/>
            <a:ext cx="10800000" cy="720000"/>
          </a:xfrm>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tags" Target="../tags/tag21.xml"/><Relationship Id="rId4" Type="http://schemas.openxmlformats.org/officeDocument/2006/relationships/tags" Target="../tags/tag22.xml"/><Relationship Id="rId5" Type="http://schemas.openxmlformats.org/officeDocument/2006/relationships/tags" Target="../tags/tag23.xml"/><Relationship Id="rId6" Type="http://schemas.openxmlformats.org/officeDocument/2006/relationships/tags" Target="../tags/tag24.xml"/><Relationship Id="rId7"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tags" Target="../tags/tag27.xml"/><Relationship Id="rId4" Type="http://schemas.openxmlformats.org/officeDocument/2006/relationships/tags" Target="../tags/tag28.xml"/><Relationship Id="rId5" Type="http://schemas.openxmlformats.org/officeDocument/2006/relationships/tags" Target="../tags/tag29.xml"/><Relationship Id="rId6" Type="http://schemas.openxmlformats.org/officeDocument/2006/relationships/tags" Target="../tags/tag30.xml"/><Relationship Id="rId7"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矩形 1"/>
          <p:cNvSpPr>
            <a:spLocks noGrp="1"/>
          </p:cNvSpPr>
          <p:nvPr/>
        </p:nvSpPr>
        <p:spPr>
          <a:xfrm>
            <a:off x="685800" y="1905000"/>
            <a:ext cx="10820400" cy="342900"/>
          </a:xfrm>
          <a:prstGeom prst="rect">
            <a:avLst/>
          </a:prstGeom>
          <a:noFill/>
          <a:ln w="0">
            <a:noFill/>
            <a:prstDash val="solid"/>
          </a:ln>
        </p:spPr>
        <p:txBody>
          <a:bodyPr/>
          <a:lstStyle/>
          <a:p>
            <a:pPr algn="ctr">
              <a:defRPr sz="1050" b="1">
                <a:solidFill>
                  <a:srgbClr val="38BDF8"/>
                </a:solidFill>
              </a:defRPr>
            </a:pPr>
            <a:r>
              <a:rPr sz="1050" b="1">
                <a:solidFill>
                  <a:srgbClr val="38BDF8"/>
                </a:solidFill>
              </a:rPr>
              <a:t>NTR 数据平台 · 特征工程</a:t>
            </a:r>
            <a:endParaRPr sz="1050" b="1">
              <a:solidFill>
                <a:srgbClr val="38BDF8"/>
              </a:solidFill>
            </a:endParaRPr>
          </a:p>
        </p:txBody>
      </p:sp>
      <p:sp>
        <p:nvSpPr>
          <p:cNvPr id="3" name="矩形 2"/>
          <p:cNvSpPr>
            <a:spLocks noGrp="1"/>
          </p:cNvSpPr>
          <p:nvPr/>
        </p:nvSpPr>
        <p:spPr>
          <a:xfrm>
            <a:off x="685800" y="2476500"/>
            <a:ext cx="10820400" cy="685800"/>
          </a:xfrm>
          <a:prstGeom prst="rect">
            <a:avLst/>
          </a:prstGeom>
          <a:noFill/>
          <a:ln w="0">
            <a:noFill/>
            <a:prstDash val="solid"/>
          </a:ln>
        </p:spPr>
        <p:txBody>
          <a:bodyPr/>
          <a:lstStyle/>
          <a:p>
            <a:pPr algn="ctr">
              <a:defRPr sz="4200" b="1">
                <a:solidFill>
                  <a:srgbClr val="FFFFFF"/>
                </a:solidFill>
              </a:defRPr>
            </a:pPr>
            <a:r>
              <a:rPr sz="4200" b="1">
                <a:solidFill>
                  <a:srgbClr val="FFFFFF"/>
                </a:solidFill>
              </a:rPr>
              <a:t>NTR数据特征更新架构</a:t>
            </a:r>
            <a:endParaRPr sz="4200" b="1">
              <a:solidFill>
                <a:srgbClr val="FFFFFF"/>
              </a:solidFill>
            </a:endParaRPr>
          </a:p>
        </p:txBody>
      </p:sp>
      <p:sp>
        <p:nvSpPr>
          <p:cNvPr id="4" name="矩形 3"/>
          <p:cNvSpPr>
            <a:spLocks noGrp="1"/>
          </p:cNvSpPr>
          <p:nvPr/>
        </p:nvSpPr>
        <p:spPr>
          <a:xfrm>
            <a:off x="685800" y="3238500"/>
            <a:ext cx="10820400" cy="381000"/>
          </a:xfrm>
          <a:prstGeom prst="rect">
            <a:avLst/>
          </a:prstGeom>
          <a:noFill/>
          <a:ln w="0">
            <a:noFill/>
            <a:prstDash val="solid"/>
          </a:ln>
        </p:spPr>
        <p:txBody>
          <a:bodyPr/>
          <a:lstStyle/>
          <a:p>
            <a:pPr algn="ctr">
              <a:defRPr sz="1950">
                <a:solidFill>
                  <a:srgbClr val="94A3B8"/>
                </a:solidFill>
              </a:defRPr>
            </a:pPr>
            <a:r>
              <a:rPr sz="1950">
                <a:solidFill>
                  <a:srgbClr val="94A3B8"/>
                </a:solidFill>
              </a:rPr>
              <a:t>从 Lambda 到 Kappa：NTR 特征更新架构演进</a:t>
            </a:r>
            <a:endParaRPr sz="1950">
              <a:solidFill>
                <a:srgbClr val="94A3B8"/>
              </a:solidFill>
            </a:endParaRPr>
          </a:p>
        </p:txBody>
      </p:sp>
      <p:sp>
        <p:nvSpPr>
          <p:cNvPr id="5" name="圆角矩形 4"/>
          <p:cNvSpPr>
            <a:spLocks noGrp="1"/>
          </p:cNvSpPr>
          <p:nvPr/>
        </p:nvSpPr>
        <p:spPr>
          <a:xfrm>
            <a:off x="5715000" y="3810000"/>
            <a:ext cx="762000" cy="38100"/>
          </a:xfrm>
          <a:prstGeom prst="roundRect">
            <a:avLst>
              <a:gd name="adj" fmla="val 50000"/>
            </a:avLst>
          </a:prstGeom>
          <a:solidFill>
            <a:srgbClr val="0EA5E9"/>
          </a:solidFill>
          <a:ln w="0">
            <a:noFill/>
            <a:prstDash val="solid"/>
          </a:ln>
        </p:spPr>
        <p:txBody>
          <a:bodyPr/>
          <a:p/>
        </p:txBody>
      </p:sp>
      <p:sp>
        <p:nvSpPr>
          <p:cNvPr id="6" name="矩形 5"/>
          <p:cNvSpPr>
            <a:spLocks noGrp="1"/>
          </p:cNvSpPr>
          <p:nvPr/>
        </p:nvSpPr>
        <p:spPr>
          <a:xfrm>
            <a:off x="685800" y="4095750"/>
            <a:ext cx="10820400" cy="266700"/>
          </a:xfrm>
          <a:prstGeom prst="rect">
            <a:avLst/>
          </a:prstGeom>
          <a:noFill/>
          <a:ln w="0">
            <a:noFill/>
            <a:prstDash val="solid"/>
          </a:ln>
        </p:spPr>
        <p:txBody>
          <a:bodyPr/>
          <a:lstStyle/>
          <a:p>
            <a:pPr algn="ctr">
              <a:defRPr sz="1200">
                <a:solidFill>
                  <a:srgbClr val="64748B"/>
                </a:solidFill>
              </a:defRPr>
            </a:pPr>
            <a:r>
              <a:rPr sz="1200">
                <a:solidFill>
                  <a:srgbClr val="64748B"/>
                </a:solidFill>
              </a:rPr>
              <a:t>Redis + Cassandra (Lava) · Shuttle 数据增强 · 实时上锁机制</a:t>
            </a:r>
            <a:endParaRPr sz="1200">
              <a:solidFill>
                <a:srgbClr val="64748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 name="圆角矩形 72"/>
          <p:cNvSpPr>
            <a:spLocks noGrp="1"/>
          </p:cNvSpPr>
          <p:nvPr/>
        </p:nvSpPr>
        <p:spPr>
          <a:xfrm>
            <a:off x="7734935" y="2153920"/>
            <a:ext cx="1904365" cy="838200"/>
          </a:xfrm>
          <a:prstGeom prst="roundRect">
            <a:avLst>
              <a:gd name="adj" fmla="val 17143"/>
            </a:avLst>
          </a:prstGeom>
          <a:solidFill>
            <a:srgbClr val="EFF6FF"/>
          </a:solidFill>
          <a:ln w="19050">
            <a:solidFill>
              <a:srgbClr val="3B82F6"/>
            </a:solidFill>
            <a:prstDash val="solid"/>
          </a:ln>
        </p:spPr>
        <p:txBody>
          <a:bodyPr/>
          <a:p/>
        </p:txBody>
      </p:sp>
      <p:sp>
        <p:nvSpPr>
          <p:cNvPr id="2" name="矩形 1"/>
          <p:cNvSpPr>
            <a:spLocks noGrp="1"/>
          </p:cNvSpPr>
          <p:nvPr/>
        </p:nvSpPr>
        <p:spPr>
          <a:xfrm>
            <a:off x="685800" y="266700"/>
            <a:ext cx="3810000" cy="228600"/>
          </a:xfrm>
          <a:prstGeom prst="rect">
            <a:avLst/>
          </a:prstGeom>
          <a:noFill/>
          <a:ln w="0">
            <a:noFill/>
            <a:prstDash val="solid"/>
          </a:ln>
        </p:spPr>
        <p:txBody>
          <a:bodyPr/>
          <a:lstStyle/>
          <a:p>
            <a:pPr>
              <a:defRPr sz="1050" b="1">
                <a:solidFill>
                  <a:srgbClr val="2563EB"/>
                </a:solidFill>
              </a:defRPr>
            </a:pPr>
            <a:r>
              <a:rPr sz="1050" b="1">
                <a:solidFill>
                  <a:srgbClr val="2563EB"/>
                </a:solidFill>
              </a:rPr>
              <a:t>架构图复原 —— 实时与批量客户数据处理 + NTR特征更新</a:t>
            </a:r>
            <a:endParaRPr sz="1050" b="1">
              <a:solidFill>
                <a:srgbClr val="2563EB"/>
              </a:solidFill>
            </a:endParaRPr>
          </a:p>
        </p:txBody>
      </p:sp>
      <p:sp>
        <p:nvSpPr>
          <p:cNvPr id="3" name="圆角矩形 2"/>
          <p:cNvSpPr>
            <a:spLocks noGrp="1"/>
          </p:cNvSpPr>
          <p:nvPr/>
        </p:nvSpPr>
        <p:spPr>
          <a:xfrm>
            <a:off x="533400" y="666750"/>
            <a:ext cx="1619250" cy="1047750"/>
          </a:xfrm>
          <a:prstGeom prst="roundRect">
            <a:avLst>
              <a:gd name="adj" fmla="val 10909"/>
            </a:avLst>
          </a:prstGeom>
          <a:solidFill>
            <a:srgbClr val="FEF3C7"/>
          </a:solidFill>
          <a:ln w="19050">
            <a:solidFill>
              <a:srgbClr val="F59E0B"/>
            </a:solidFill>
            <a:prstDash val="solid"/>
          </a:ln>
        </p:spPr>
        <p:txBody>
          <a:bodyPr/>
          <a:p/>
        </p:txBody>
      </p:sp>
      <p:sp>
        <p:nvSpPr>
          <p:cNvPr id="4" name="矩形 3"/>
          <p:cNvSpPr>
            <a:spLocks noGrp="1"/>
          </p:cNvSpPr>
          <p:nvPr/>
        </p:nvSpPr>
        <p:spPr>
          <a:xfrm>
            <a:off x="571500" y="742950"/>
            <a:ext cx="1543050" cy="190500"/>
          </a:xfrm>
          <a:prstGeom prst="rect">
            <a:avLst/>
          </a:prstGeom>
          <a:noFill/>
          <a:ln w="0">
            <a:noFill/>
            <a:prstDash val="solid"/>
          </a:ln>
        </p:spPr>
        <p:txBody>
          <a:bodyPr/>
          <a:lstStyle/>
          <a:p>
            <a:pPr algn="ctr">
              <a:defRPr sz="975" b="1">
                <a:solidFill>
                  <a:srgbClr val="B45309"/>
                </a:solidFill>
              </a:defRPr>
            </a:pPr>
            <a:r>
              <a:rPr sz="975" b="1">
                <a:solidFill>
                  <a:srgbClr val="B45309"/>
                </a:solidFill>
              </a:rPr>
              <a:t>数据源</a:t>
            </a:r>
            <a:endParaRPr sz="975" b="1">
              <a:solidFill>
                <a:srgbClr val="B45309"/>
              </a:solidFill>
            </a:endParaRPr>
          </a:p>
        </p:txBody>
      </p:sp>
      <p:sp>
        <p:nvSpPr>
          <p:cNvPr id="5" name="矩形 4"/>
          <p:cNvSpPr>
            <a:spLocks noGrp="1"/>
          </p:cNvSpPr>
          <p:nvPr/>
        </p:nvSpPr>
        <p:spPr>
          <a:xfrm>
            <a:off x="571500" y="95250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页面浏览 / 点击日志</a:t>
            </a:r>
            <a:endParaRPr sz="825">
              <a:solidFill>
                <a:srgbClr val="78350F"/>
              </a:solidFill>
            </a:endParaRPr>
          </a:p>
        </p:txBody>
      </p:sp>
      <p:sp>
        <p:nvSpPr>
          <p:cNvPr id="6" name="矩形 5"/>
          <p:cNvSpPr>
            <a:spLocks noGrp="1"/>
          </p:cNvSpPr>
          <p:nvPr/>
        </p:nvSpPr>
        <p:spPr>
          <a:xfrm>
            <a:off x="571500" y="112395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业务 Binlog</a:t>
            </a:r>
            <a:endParaRPr sz="825">
              <a:solidFill>
                <a:srgbClr val="78350F"/>
              </a:solidFill>
            </a:endParaRPr>
          </a:p>
        </p:txBody>
      </p:sp>
      <p:sp>
        <p:nvSpPr>
          <p:cNvPr id="7" name="矩形 6"/>
          <p:cNvSpPr>
            <a:spLocks noGrp="1"/>
          </p:cNvSpPr>
          <p:nvPr/>
        </p:nvSpPr>
        <p:spPr>
          <a:xfrm>
            <a:off x="571500" y="129540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App Events</a:t>
            </a:r>
            <a:endParaRPr sz="825">
              <a:solidFill>
                <a:srgbClr val="78350F"/>
              </a:solidFill>
            </a:endParaRPr>
          </a:p>
        </p:txBody>
      </p:sp>
      <p:sp>
        <p:nvSpPr>
          <p:cNvPr id="8" name="矩形 7"/>
          <p:cNvSpPr>
            <a:spLocks noGrp="1"/>
          </p:cNvSpPr>
          <p:nvPr/>
        </p:nvSpPr>
        <p:spPr>
          <a:xfrm>
            <a:off x="571500" y="1466850"/>
            <a:ext cx="1543050" cy="152400"/>
          </a:xfrm>
          <a:prstGeom prst="rect">
            <a:avLst/>
          </a:prstGeom>
          <a:noFill/>
          <a:ln w="0">
            <a:noFill/>
            <a:prstDash val="solid"/>
          </a:ln>
        </p:spPr>
        <p:txBody>
          <a:bodyPr/>
          <a:lstStyle/>
          <a:p>
            <a:pPr algn="ctr">
              <a:defRPr sz="825">
                <a:solidFill>
                  <a:srgbClr val="78350F"/>
                </a:solidFill>
              </a:defRPr>
            </a:pPr>
            <a:r>
              <a:rPr sz="825">
                <a:solidFill>
                  <a:srgbClr val="78350F"/>
                </a:solidFill>
              </a:rPr>
              <a:t>Flume / Logstash</a:t>
            </a:r>
            <a:endParaRPr sz="825">
              <a:solidFill>
                <a:srgbClr val="78350F"/>
              </a:solidFill>
            </a:endParaRPr>
          </a:p>
        </p:txBody>
      </p:sp>
      <p:sp>
        <p:nvSpPr>
          <p:cNvPr id="9" name="圆角矩形 8"/>
          <p:cNvSpPr>
            <a:spLocks noGrp="1"/>
          </p:cNvSpPr>
          <p:nvPr/>
        </p:nvSpPr>
        <p:spPr>
          <a:xfrm>
            <a:off x="2533650" y="692785"/>
            <a:ext cx="1238250" cy="1047750"/>
          </a:xfrm>
          <a:prstGeom prst="roundRect">
            <a:avLst>
              <a:gd name="adj" fmla="val 10909"/>
            </a:avLst>
          </a:prstGeom>
          <a:solidFill>
            <a:srgbClr val="FEF3C7"/>
          </a:solidFill>
          <a:ln w="19050">
            <a:solidFill>
              <a:srgbClr val="F59E0B"/>
            </a:solidFill>
            <a:prstDash val="solid"/>
          </a:ln>
        </p:spPr>
        <p:txBody>
          <a:bodyPr/>
          <a:p/>
        </p:txBody>
      </p:sp>
      <p:sp>
        <p:nvSpPr>
          <p:cNvPr id="10" name="矩形 9"/>
          <p:cNvSpPr>
            <a:spLocks noGrp="1"/>
          </p:cNvSpPr>
          <p:nvPr/>
        </p:nvSpPr>
        <p:spPr>
          <a:xfrm>
            <a:off x="2647950" y="952500"/>
            <a:ext cx="1085850" cy="228600"/>
          </a:xfrm>
          <a:prstGeom prst="rect">
            <a:avLst/>
          </a:prstGeom>
          <a:noFill/>
          <a:ln w="0">
            <a:noFill/>
            <a:prstDash val="solid"/>
          </a:ln>
        </p:spPr>
        <p:txBody>
          <a:bodyPr/>
          <a:lstStyle/>
          <a:p>
            <a:pPr algn="ctr">
              <a:defRPr sz="1500" b="1">
                <a:solidFill>
                  <a:srgbClr val="B45309"/>
                </a:solidFill>
              </a:defRPr>
            </a:pPr>
            <a:r>
              <a:rPr sz="1500" b="1">
                <a:solidFill>
                  <a:srgbClr val="B45309"/>
                </a:solidFill>
              </a:rPr>
              <a:t>Kafka</a:t>
            </a:r>
            <a:endParaRPr sz="1500" b="1">
              <a:solidFill>
                <a:srgbClr val="B45309"/>
              </a:solidFill>
            </a:endParaRPr>
          </a:p>
        </p:txBody>
      </p:sp>
      <p:sp>
        <p:nvSpPr>
          <p:cNvPr id="11" name="矩形 10"/>
          <p:cNvSpPr>
            <a:spLocks noGrp="1"/>
          </p:cNvSpPr>
          <p:nvPr/>
        </p:nvSpPr>
        <p:spPr>
          <a:xfrm>
            <a:off x="2647950" y="1219200"/>
            <a:ext cx="1085850" cy="152400"/>
          </a:xfrm>
          <a:prstGeom prst="rect">
            <a:avLst/>
          </a:prstGeom>
          <a:noFill/>
          <a:ln w="0">
            <a:noFill/>
            <a:prstDash val="solid"/>
          </a:ln>
        </p:spPr>
        <p:txBody>
          <a:bodyPr/>
          <a:lstStyle/>
          <a:p>
            <a:pPr algn="ctr">
              <a:defRPr sz="825">
                <a:solidFill>
                  <a:srgbClr val="78350F"/>
                </a:solidFill>
              </a:defRPr>
            </a:pPr>
            <a:r>
              <a:rPr sz="825">
                <a:solidFill>
                  <a:srgbClr val="78350F"/>
                </a:solidFill>
              </a:rPr>
              <a:t>消息队列总线</a:t>
            </a:r>
            <a:endParaRPr sz="825">
              <a:solidFill>
                <a:srgbClr val="78350F"/>
              </a:solidFill>
            </a:endParaRPr>
          </a:p>
        </p:txBody>
      </p:sp>
      <p:sp>
        <p:nvSpPr>
          <p:cNvPr id="12" name="矩形 11"/>
          <p:cNvSpPr>
            <a:spLocks noGrp="1"/>
          </p:cNvSpPr>
          <p:nvPr/>
        </p:nvSpPr>
        <p:spPr>
          <a:xfrm>
            <a:off x="2152650" y="1095375"/>
            <a:ext cx="419100" cy="190500"/>
          </a:xfrm>
          <a:prstGeom prst="rect">
            <a:avLst/>
          </a:prstGeom>
          <a:noFill/>
          <a:ln w="0">
            <a:noFill/>
            <a:prstDash val="solid"/>
          </a:ln>
        </p:spPr>
        <p:txBody>
          <a:bodyPr/>
          <a:lstStyle/>
          <a:p>
            <a:pPr algn="ctr">
              <a:defRPr sz="1200">
                <a:solidFill>
                  <a:srgbClr val="F59E0B"/>
                </a:solidFill>
              </a:defRPr>
            </a:pPr>
            <a:r>
              <a:rPr sz="1200">
                <a:solidFill>
                  <a:srgbClr val="F59E0B"/>
                </a:solidFill>
              </a:rPr>
              <a:t>→</a:t>
            </a:r>
            <a:endParaRPr sz="1200">
              <a:solidFill>
                <a:srgbClr val="F59E0B"/>
              </a:solidFill>
            </a:endParaRPr>
          </a:p>
        </p:txBody>
      </p:sp>
      <p:sp>
        <p:nvSpPr>
          <p:cNvPr id="13" name="矩形 12"/>
          <p:cNvSpPr>
            <a:spLocks noGrp="1"/>
          </p:cNvSpPr>
          <p:nvPr/>
        </p:nvSpPr>
        <p:spPr>
          <a:xfrm>
            <a:off x="4439920" y="2014220"/>
            <a:ext cx="1905000" cy="190500"/>
          </a:xfrm>
          <a:prstGeom prst="rect">
            <a:avLst/>
          </a:prstGeom>
          <a:noFill/>
          <a:ln w="0">
            <a:noFill/>
            <a:prstDash val="solid"/>
          </a:ln>
        </p:spPr>
        <p:txBody>
          <a:bodyPr/>
          <a:lstStyle/>
          <a:p>
            <a:pPr>
              <a:defRPr sz="975" b="1">
                <a:solidFill>
                  <a:srgbClr val="334155"/>
                </a:solidFill>
              </a:defRPr>
            </a:pPr>
            <a:r>
              <a:rPr sz="975" b="1">
                <a:solidFill>
                  <a:srgbClr val="334155"/>
                </a:solidFill>
              </a:rPr>
              <a:t>数据处理管道</a:t>
            </a:r>
            <a:endParaRPr sz="975" b="1">
              <a:solidFill>
                <a:srgbClr val="334155"/>
              </a:solidFill>
            </a:endParaRPr>
          </a:p>
        </p:txBody>
      </p:sp>
      <p:sp>
        <p:nvSpPr>
          <p:cNvPr id="14" name="圆角矩形 13"/>
          <p:cNvSpPr>
            <a:spLocks noGrp="1"/>
          </p:cNvSpPr>
          <p:nvPr/>
        </p:nvSpPr>
        <p:spPr>
          <a:xfrm>
            <a:off x="4511675" y="2204720"/>
            <a:ext cx="2160270" cy="838835"/>
          </a:xfrm>
          <a:prstGeom prst="roundRect">
            <a:avLst>
              <a:gd name="adj" fmla="val 20000"/>
            </a:avLst>
          </a:prstGeom>
          <a:solidFill>
            <a:srgbClr val="ECFDF5"/>
          </a:solidFill>
          <a:ln w="19050">
            <a:solidFill>
              <a:srgbClr val="10B981"/>
            </a:solidFill>
            <a:prstDash val="solid"/>
          </a:ln>
        </p:spPr>
        <p:txBody>
          <a:bodyPr/>
          <a:p/>
        </p:txBody>
      </p:sp>
      <p:sp>
        <p:nvSpPr>
          <p:cNvPr id="15" name="矩形 14"/>
          <p:cNvSpPr>
            <a:spLocks noGrp="1"/>
          </p:cNvSpPr>
          <p:nvPr/>
        </p:nvSpPr>
        <p:spPr>
          <a:xfrm>
            <a:off x="4476750" y="2348865"/>
            <a:ext cx="1524000" cy="228600"/>
          </a:xfrm>
          <a:prstGeom prst="rect">
            <a:avLst/>
          </a:prstGeom>
          <a:noFill/>
          <a:ln w="0">
            <a:noFill/>
            <a:prstDash val="solid"/>
          </a:ln>
        </p:spPr>
        <p:txBody>
          <a:bodyPr/>
          <a:lstStyle/>
          <a:p>
            <a:pPr algn="ctr">
              <a:defRPr sz="1125" b="1">
                <a:solidFill>
                  <a:srgbClr val="047857"/>
                </a:solidFill>
              </a:defRPr>
            </a:pPr>
            <a:r>
              <a:rPr sz="1125" b="1">
                <a:solidFill>
                  <a:srgbClr val="047857"/>
                </a:solidFill>
              </a:rPr>
              <a:t>批量链路</a:t>
            </a:r>
            <a:endParaRPr sz="1125" b="1">
              <a:solidFill>
                <a:srgbClr val="047857"/>
              </a:solidFill>
            </a:endParaRPr>
          </a:p>
        </p:txBody>
      </p:sp>
      <p:sp>
        <p:nvSpPr>
          <p:cNvPr id="16" name="矩形 15"/>
          <p:cNvSpPr>
            <a:spLocks noGrp="1"/>
          </p:cNvSpPr>
          <p:nvPr/>
        </p:nvSpPr>
        <p:spPr>
          <a:xfrm>
            <a:off x="4549775" y="2605405"/>
            <a:ext cx="1734185" cy="185420"/>
          </a:xfrm>
          <a:prstGeom prst="rect">
            <a:avLst/>
          </a:prstGeom>
          <a:noFill/>
          <a:ln w="0">
            <a:noFill/>
            <a:prstDash val="solid"/>
          </a:ln>
        </p:spPr>
        <p:txBody>
          <a:bodyPr/>
          <a:lstStyle/>
          <a:p>
            <a:pPr algn="ctr">
              <a:defRPr sz="825">
                <a:solidFill>
                  <a:srgbClr val="047857"/>
                </a:solidFill>
              </a:defRPr>
            </a:pPr>
            <a:r>
              <a:rPr sz="825">
                <a:solidFill>
                  <a:srgbClr val="047857"/>
                </a:solidFill>
              </a:rPr>
              <a:t> Spark</a:t>
            </a:r>
            <a:endParaRPr sz="825">
              <a:solidFill>
                <a:srgbClr val="047857"/>
              </a:solidFill>
            </a:endParaRPr>
          </a:p>
        </p:txBody>
      </p:sp>
      <p:sp>
        <p:nvSpPr>
          <p:cNvPr id="18" name="圆角矩形 17"/>
          <p:cNvSpPr>
            <a:spLocks noGrp="1"/>
          </p:cNvSpPr>
          <p:nvPr/>
        </p:nvSpPr>
        <p:spPr>
          <a:xfrm>
            <a:off x="4495165" y="836930"/>
            <a:ext cx="2145665" cy="1047750"/>
          </a:xfrm>
          <a:prstGeom prst="roundRect">
            <a:avLst>
              <a:gd name="adj" fmla="val 20000"/>
            </a:avLst>
          </a:prstGeom>
          <a:solidFill>
            <a:srgbClr val="F5F3FF"/>
          </a:solidFill>
          <a:ln w="19050">
            <a:solidFill>
              <a:srgbClr val="8B5CF6"/>
            </a:solidFill>
            <a:prstDash val="solid"/>
          </a:ln>
        </p:spPr>
        <p:txBody>
          <a:bodyPr/>
          <a:p/>
        </p:txBody>
      </p:sp>
      <p:sp>
        <p:nvSpPr>
          <p:cNvPr id="19" name="矩形 18"/>
          <p:cNvSpPr>
            <a:spLocks noGrp="1"/>
          </p:cNvSpPr>
          <p:nvPr/>
        </p:nvSpPr>
        <p:spPr>
          <a:xfrm>
            <a:off x="4727575" y="1047750"/>
            <a:ext cx="1783080" cy="171450"/>
          </a:xfrm>
          <a:prstGeom prst="rect">
            <a:avLst/>
          </a:prstGeom>
          <a:noFill/>
          <a:ln w="0">
            <a:noFill/>
            <a:prstDash val="solid"/>
          </a:ln>
        </p:spPr>
        <p:txBody>
          <a:bodyPr/>
          <a:lstStyle/>
          <a:p>
            <a:pPr algn="ctr">
              <a:defRPr sz="1125" b="1">
                <a:solidFill>
                  <a:srgbClr val="5B21B6"/>
                </a:solidFill>
              </a:defRPr>
            </a:pPr>
            <a:r>
              <a:rPr lang="en-US" sz="1125" b="1">
                <a:solidFill>
                  <a:srgbClr val="5B21B6"/>
                </a:solidFill>
              </a:rPr>
              <a:t>Streaming </a:t>
            </a:r>
            <a:r>
              <a:rPr lang="en-US" sz="1125" b="1">
                <a:solidFill>
                  <a:srgbClr val="5B21B6"/>
                </a:solidFill>
              </a:rPr>
              <a:t>Services</a:t>
            </a:r>
            <a:endParaRPr lang="en-US" sz="1125" b="1">
              <a:solidFill>
                <a:srgbClr val="5B21B6"/>
              </a:solidFill>
            </a:endParaRPr>
          </a:p>
        </p:txBody>
      </p:sp>
      <p:sp>
        <p:nvSpPr>
          <p:cNvPr id="20" name="矩形 19"/>
          <p:cNvSpPr>
            <a:spLocks noGrp="1"/>
          </p:cNvSpPr>
          <p:nvPr/>
        </p:nvSpPr>
        <p:spPr>
          <a:xfrm>
            <a:off x="4324350" y="1371600"/>
            <a:ext cx="2571750" cy="190500"/>
          </a:xfrm>
          <a:prstGeom prst="rect">
            <a:avLst/>
          </a:prstGeom>
          <a:noFill/>
          <a:ln w="0">
            <a:noFill/>
            <a:prstDash val="solid"/>
          </a:ln>
        </p:spPr>
        <p:txBody>
          <a:bodyPr/>
          <a:lstStyle/>
          <a:p>
            <a:pPr algn="ctr">
              <a:defRPr sz="825">
                <a:solidFill>
                  <a:srgbClr val="5B21B6"/>
                </a:solidFill>
              </a:defRPr>
            </a:pPr>
            <a:r>
              <a:rPr sz="825">
                <a:solidFill>
                  <a:srgbClr val="5B21B6"/>
                </a:solidFill>
              </a:rPr>
              <a:t>Shuttle → Lock → Flink → Lava</a:t>
            </a:r>
            <a:endParaRPr sz="825">
              <a:solidFill>
                <a:srgbClr val="5B21B6"/>
              </a:solidFill>
            </a:endParaRPr>
          </a:p>
        </p:txBody>
      </p:sp>
      <p:sp>
        <p:nvSpPr>
          <p:cNvPr id="22" name="圆角矩形 21"/>
          <p:cNvSpPr>
            <a:spLocks noGrp="1"/>
          </p:cNvSpPr>
          <p:nvPr/>
        </p:nvSpPr>
        <p:spPr>
          <a:xfrm>
            <a:off x="7680325" y="781050"/>
            <a:ext cx="1904365" cy="1102995"/>
          </a:xfrm>
          <a:prstGeom prst="roundRect">
            <a:avLst>
              <a:gd name="adj" fmla="val 17143"/>
            </a:avLst>
          </a:prstGeom>
          <a:solidFill>
            <a:srgbClr val="EFF6FF"/>
          </a:solidFill>
          <a:ln w="19050">
            <a:solidFill>
              <a:srgbClr val="3B82F6"/>
            </a:solidFill>
            <a:prstDash val="solid"/>
          </a:ln>
        </p:spPr>
        <p:txBody>
          <a:bodyPr/>
          <a:p/>
        </p:txBody>
      </p:sp>
      <p:sp>
        <p:nvSpPr>
          <p:cNvPr id="23" name="矩形 22"/>
          <p:cNvSpPr>
            <a:spLocks noGrp="1"/>
          </p:cNvSpPr>
          <p:nvPr/>
        </p:nvSpPr>
        <p:spPr>
          <a:xfrm>
            <a:off x="7571105" y="895350"/>
            <a:ext cx="2068195" cy="229235"/>
          </a:xfrm>
          <a:prstGeom prst="rect">
            <a:avLst/>
          </a:prstGeom>
          <a:noFill/>
          <a:ln w="0">
            <a:noFill/>
            <a:prstDash val="solid"/>
          </a:ln>
        </p:spPr>
        <p:txBody>
          <a:bodyPr/>
          <a:lstStyle/>
          <a:p>
            <a:pPr algn="ctr">
              <a:defRPr sz="1200" b="1">
                <a:solidFill>
                  <a:srgbClr val="1D4ED8"/>
                </a:solidFill>
              </a:defRPr>
            </a:pPr>
            <a:r>
              <a:rPr sz="1200" b="1">
                <a:solidFill>
                  <a:srgbClr val="1D4ED8"/>
                </a:solidFill>
              </a:rPr>
              <a:t>Lava 存储体系</a:t>
            </a:r>
            <a:endParaRPr sz="1200" b="1">
              <a:solidFill>
                <a:srgbClr val="1D4ED8"/>
              </a:solidFill>
            </a:endParaRPr>
          </a:p>
        </p:txBody>
      </p:sp>
      <p:sp>
        <p:nvSpPr>
          <p:cNvPr id="24" name="矩形 23"/>
          <p:cNvSpPr>
            <a:spLocks noGrp="1"/>
          </p:cNvSpPr>
          <p:nvPr/>
        </p:nvSpPr>
        <p:spPr>
          <a:xfrm>
            <a:off x="7680325" y="1221105"/>
            <a:ext cx="1723390" cy="519430"/>
          </a:xfrm>
          <a:prstGeom prst="rect">
            <a:avLst/>
          </a:prstGeom>
          <a:noFill/>
          <a:ln w="0">
            <a:noFill/>
            <a:prstDash val="solid"/>
          </a:ln>
        </p:spPr>
        <p:txBody>
          <a:bodyPr/>
          <a:lstStyle/>
          <a:p>
            <a:pPr algn="ctr">
              <a:defRPr sz="975">
                <a:solidFill>
                  <a:srgbClr val="2563EB"/>
                </a:solidFill>
              </a:defRPr>
            </a:pPr>
            <a:r>
              <a:rPr sz="975">
                <a:solidFill>
                  <a:srgbClr val="2563EB"/>
                </a:solidFill>
              </a:rPr>
              <a:t>Redis（7d TTL 热数据）</a:t>
            </a:r>
            <a:endParaRPr sz="975">
              <a:solidFill>
                <a:srgbClr val="2563EB"/>
              </a:solidFill>
            </a:endParaRPr>
          </a:p>
          <a:p>
            <a:pPr algn="ctr">
              <a:defRPr sz="975">
                <a:solidFill>
                  <a:srgbClr val="2563EB"/>
                </a:solidFill>
              </a:defRPr>
            </a:pPr>
            <a:endParaRPr sz="975">
              <a:solidFill>
                <a:srgbClr val="2563EB"/>
              </a:solidFill>
            </a:endParaRPr>
          </a:p>
          <a:p>
            <a:pPr algn="ctr">
              <a:defRPr sz="975">
                <a:solidFill>
                  <a:srgbClr val="2563EB"/>
                </a:solidFill>
              </a:defRPr>
            </a:pPr>
            <a:r>
              <a:rPr sz="975">
                <a:solidFill>
                  <a:srgbClr val="2563EB"/>
                </a:solidFill>
              </a:rPr>
              <a:t>Cassandra（冷持久化）</a:t>
            </a:r>
            <a:endParaRPr sz="975">
              <a:solidFill>
                <a:srgbClr val="2563EB"/>
              </a:solidFill>
            </a:endParaRPr>
          </a:p>
        </p:txBody>
      </p:sp>
      <p:sp>
        <p:nvSpPr>
          <p:cNvPr id="30" name="圆角矩形 29"/>
          <p:cNvSpPr>
            <a:spLocks noGrp="1"/>
          </p:cNvSpPr>
          <p:nvPr/>
        </p:nvSpPr>
        <p:spPr>
          <a:xfrm>
            <a:off x="7810500" y="116840"/>
            <a:ext cx="1905000" cy="400050"/>
          </a:xfrm>
          <a:prstGeom prst="roundRect">
            <a:avLst>
              <a:gd name="adj" fmla="val 28571"/>
            </a:avLst>
          </a:prstGeom>
          <a:solidFill>
            <a:srgbClr val="FEF3C7"/>
          </a:solidFill>
          <a:ln w="19050">
            <a:solidFill>
              <a:srgbClr val="F59E0B"/>
            </a:solidFill>
            <a:prstDash val="solid"/>
          </a:ln>
        </p:spPr>
        <p:txBody>
          <a:bodyPr/>
          <a:p/>
        </p:txBody>
      </p:sp>
      <p:sp>
        <p:nvSpPr>
          <p:cNvPr id="31" name="矩形 30"/>
          <p:cNvSpPr>
            <a:spLocks noGrp="1"/>
          </p:cNvSpPr>
          <p:nvPr/>
        </p:nvSpPr>
        <p:spPr>
          <a:xfrm>
            <a:off x="7810500" y="188595"/>
            <a:ext cx="1752600" cy="266700"/>
          </a:xfrm>
          <a:prstGeom prst="rect">
            <a:avLst/>
          </a:prstGeom>
          <a:noFill/>
          <a:ln w="0">
            <a:noFill/>
            <a:prstDash val="solid"/>
          </a:ln>
        </p:spPr>
        <p:txBody>
          <a:bodyPr/>
          <a:lstStyle/>
          <a:p>
            <a:pPr algn="ctr">
              <a:defRPr sz="975" b="1">
                <a:solidFill>
                  <a:srgbClr val="B45309"/>
                </a:solidFill>
              </a:defRPr>
            </a:pPr>
            <a:r>
              <a:rPr sz="975" b="1">
                <a:solidFill>
                  <a:srgbClr val="B45309"/>
                </a:solidFill>
              </a:rPr>
              <a:t>↩ 回流 Kafka</a:t>
            </a:r>
            <a:endParaRPr sz="975" b="1">
              <a:solidFill>
                <a:srgbClr val="B45309"/>
              </a:solidFill>
            </a:endParaRPr>
          </a:p>
        </p:txBody>
      </p:sp>
      <p:sp>
        <p:nvSpPr>
          <p:cNvPr id="32" name="矩形 31"/>
          <p:cNvSpPr>
            <a:spLocks noGrp="1"/>
          </p:cNvSpPr>
          <p:nvPr/>
        </p:nvSpPr>
        <p:spPr>
          <a:xfrm rot="16200000">
            <a:off x="8496300" y="542925"/>
            <a:ext cx="285750" cy="190500"/>
          </a:xfrm>
          <a:prstGeom prst="rect">
            <a:avLst/>
          </a:prstGeom>
          <a:noFill/>
          <a:ln w="0">
            <a:noFill/>
            <a:prstDash val="solid"/>
          </a:ln>
        </p:spPr>
        <p:txBody>
          <a:bodyPr/>
          <a:lstStyle/>
          <a:p>
            <a:pPr algn="ctr">
              <a:defRPr sz="1200">
                <a:solidFill>
                  <a:srgbClr val="F59E0B"/>
                </a:solidFill>
              </a:defRPr>
            </a:pPr>
            <a:r>
              <a:rPr sz="1200">
                <a:solidFill>
                  <a:srgbClr val="F59E0B"/>
                </a:solidFill>
              </a:rPr>
              <a:t>→</a:t>
            </a:r>
            <a:endParaRPr sz="1200">
              <a:solidFill>
                <a:srgbClr val="F59E0B"/>
              </a:solidFill>
            </a:endParaRPr>
          </a:p>
        </p:txBody>
      </p:sp>
      <p:sp>
        <p:nvSpPr>
          <p:cNvPr id="33" name="圆角矩形 32"/>
          <p:cNvSpPr>
            <a:spLocks noGrp="1"/>
          </p:cNvSpPr>
          <p:nvPr/>
        </p:nvSpPr>
        <p:spPr>
          <a:xfrm>
            <a:off x="533400" y="3114675"/>
            <a:ext cx="11125200" cy="28575"/>
          </a:xfrm>
          <a:prstGeom prst="roundRect">
            <a:avLst>
              <a:gd name="adj" fmla="val 50000"/>
            </a:avLst>
          </a:prstGeom>
          <a:solidFill>
            <a:srgbClr val="CBD5E1"/>
          </a:solidFill>
          <a:ln w="0">
            <a:noFill/>
            <a:prstDash val="solid"/>
          </a:ln>
        </p:spPr>
        <p:txBody>
          <a:bodyPr/>
          <a:p/>
        </p:txBody>
      </p:sp>
      <p:sp>
        <p:nvSpPr>
          <p:cNvPr id="34" name="矩形 33"/>
          <p:cNvSpPr>
            <a:spLocks noGrp="1"/>
          </p:cNvSpPr>
          <p:nvPr/>
        </p:nvSpPr>
        <p:spPr>
          <a:xfrm>
            <a:off x="-38100" y="3213100"/>
            <a:ext cx="3810000" cy="190500"/>
          </a:xfrm>
          <a:prstGeom prst="rect">
            <a:avLst/>
          </a:prstGeom>
          <a:noFill/>
          <a:ln w="0">
            <a:noFill/>
            <a:prstDash val="solid"/>
          </a:ln>
        </p:spPr>
        <p:txBody>
          <a:bodyPr/>
          <a:lstStyle/>
          <a:p>
            <a:pPr>
              <a:defRPr sz="975" b="1">
                <a:solidFill>
                  <a:srgbClr val="7C3AED"/>
                </a:solidFill>
              </a:defRPr>
            </a:pPr>
            <a:r>
              <a:rPr sz="975" b="1">
                <a:solidFill>
                  <a:srgbClr val="7C3AED"/>
                </a:solidFill>
              </a:rPr>
              <a:t>Streaming 展开 —— 实时链路内部细节</a:t>
            </a:r>
            <a:endParaRPr sz="975" b="1">
              <a:solidFill>
                <a:srgbClr val="7C3AED"/>
              </a:solidFill>
            </a:endParaRPr>
          </a:p>
        </p:txBody>
      </p:sp>
      <p:sp>
        <p:nvSpPr>
          <p:cNvPr id="35" name="圆角矩形 34"/>
          <p:cNvSpPr>
            <a:spLocks noGrp="1"/>
          </p:cNvSpPr>
          <p:nvPr/>
        </p:nvSpPr>
        <p:spPr>
          <a:xfrm>
            <a:off x="571500" y="5098415"/>
            <a:ext cx="1333500" cy="762000"/>
          </a:xfrm>
          <a:prstGeom prst="roundRect">
            <a:avLst>
              <a:gd name="adj" fmla="val 15000"/>
            </a:avLst>
          </a:prstGeom>
          <a:solidFill>
            <a:srgbClr val="FEF3C7"/>
          </a:solidFill>
          <a:ln w="19050">
            <a:solidFill>
              <a:srgbClr val="F59E0B"/>
            </a:solidFill>
            <a:prstDash val="solid"/>
          </a:ln>
        </p:spPr>
        <p:txBody>
          <a:bodyPr/>
          <a:p/>
        </p:txBody>
      </p:sp>
      <p:sp>
        <p:nvSpPr>
          <p:cNvPr id="36" name="矩形 35"/>
          <p:cNvSpPr>
            <a:spLocks noGrp="1"/>
          </p:cNvSpPr>
          <p:nvPr/>
        </p:nvSpPr>
        <p:spPr>
          <a:xfrm>
            <a:off x="624840" y="5098415"/>
            <a:ext cx="1181100" cy="342900"/>
          </a:xfrm>
          <a:prstGeom prst="rect">
            <a:avLst/>
          </a:prstGeom>
          <a:noFill/>
          <a:ln w="0">
            <a:noFill/>
            <a:prstDash val="solid"/>
          </a:ln>
        </p:spPr>
        <p:txBody>
          <a:bodyPr/>
          <a:lstStyle/>
          <a:p>
            <a:pPr algn="ctr">
              <a:defRPr sz="900" b="1">
                <a:solidFill>
                  <a:srgbClr val="1E293B"/>
                </a:solidFill>
              </a:defRPr>
            </a:pPr>
            <a:r>
              <a:rPr sz="900" b="1">
                <a:solidFill>
                  <a:srgbClr val="1E293B"/>
                </a:solidFill>
              </a:rPr>
              <a:t>Kafka</a:t>
            </a:r>
            <a:endParaRPr sz="900" b="1">
              <a:solidFill>
                <a:srgbClr val="1E293B"/>
              </a:solidFill>
            </a:endParaRPr>
          </a:p>
          <a:p>
            <a:pPr algn="ctr">
              <a:defRPr sz="900" b="1">
                <a:solidFill>
                  <a:srgbClr val="1E293B"/>
                </a:solidFill>
              </a:defRPr>
            </a:pPr>
            <a:r>
              <a:rPr sz="900" b="1">
                <a:solidFill>
                  <a:srgbClr val="1E293B"/>
                </a:solidFill>
              </a:rPr>
              <a:t>事件流</a:t>
            </a:r>
            <a:endParaRPr sz="900" b="1">
              <a:solidFill>
                <a:srgbClr val="1E293B"/>
              </a:solidFill>
            </a:endParaRPr>
          </a:p>
        </p:txBody>
      </p:sp>
      <p:sp>
        <p:nvSpPr>
          <p:cNvPr id="37" name="矩形 36"/>
          <p:cNvSpPr>
            <a:spLocks noGrp="1"/>
          </p:cNvSpPr>
          <p:nvPr/>
        </p:nvSpPr>
        <p:spPr>
          <a:xfrm>
            <a:off x="624840" y="5517515"/>
            <a:ext cx="1181100" cy="285750"/>
          </a:xfrm>
          <a:prstGeom prst="rect">
            <a:avLst/>
          </a:prstGeom>
          <a:noFill/>
          <a:ln w="0">
            <a:noFill/>
            <a:prstDash val="solid"/>
          </a:ln>
        </p:spPr>
        <p:txBody>
          <a:bodyPr/>
          <a:lstStyle/>
          <a:p>
            <a:pPr algn="ctr">
              <a:defRPr sz="750">
                <a:solidFill>
                  <a:srgbClr val="475569"/>
                </a:solidFill>
              </a:defRPr>
            </a:pPr>
            <a:r>
              <a:rPr sz="750">
                <a:solidFill>
                  <a:srgbClr val="475569"/>
                </a:solidFill>
              </a:rPr>
              <a:t>原始行为数据</a:t>
            </a:r>
            <a:endParaRPr sz="750">
              <a:solidFill>
                <a:srgbClr val="475569"/>
              </a:solidFill>
            </a:endParaRPr>
          </a:p>
        </p:txBody>
      </p:sp>
      <p:sp>
        <p:nvSpPr>
          <p:cNvPr id="38" name="圆角矩形 37"/>
          <p:cNvSpPr>
            <a:spLocks noGrp="1"/>
          </p:cNvSpPr>
          <p:nvPr/>
        </p:nvSpPr>
        <p:spPr>
          <a:xfrm>
            <a:off x="2072640" y="5098415"/>
            <a:ext cx="1524000" cy="762000"/>
          </a:xfrm>
          <a:prstGeom prst="roundRect">
            <a:avLst>
              <a:gd name="adj" fmla="val 15000"/>
            </a:avLst>
          </a:prstGeom>
          <a:solidFill>
            <a:srgbClr val="E0E7FF"/>
          </a:solidFill>
          <a:ln w="19050">
            <a:solidFill>
              <a:srgbClr val="6366F1"/>
            </a:solidFill>
            <a:prstDash val="solid"/>
          </a:ln>
        </p:spPr>
        <p:txBody>
          <a:bodyPr/>
          <a:p/>
        </p:txBody>
      </p:sp>
      <p:sp>
        <p:nvSpPr>
          <p:cNvPr id="39" name="矩形 38"/>
          <p:cNvSpPr>
            <a:spLocks noGrp="1"/>
          </p:cNvSpPr>
          <p:nvPr/>
        </p:nvSpPr>
        <p:spPr>
          <a:xfrm>
            <a:off x="2207260" y="3549650"/>
            <a:ext cx="1255395" cy="342900"/>
          </a:xfrm>
          <a:prstGeom prst="rect">
            <a:avLst/>
          </a:prstGeom>
          <a:solidFill>
            <a:srgbClr val="ECFDF5"/>
          </a:solidFill>
          <a:ln w="19050">
            <a:solidFill>
              <a:srgbClr val="10B981"/>
            </a:solidFill>
            <a:prstDash val="solid"/>
          </a:ln>
        </p:spPr>
        <p:txBody>
          <a:bodyPr>
            <a:noAutofit/>
          </a:bodyPr>
          <a:lstStyle/>
          <a:p>
            <a:pPr lvl="0" algn="ctr">
              <a:buClrTx/>
              <a:buSzTx/>
              <a:buFontTx/>
              <a:defRPr sz="975" b="1">
                <a:solidFill>
                  <a:srgbClr val="047857"/>
                </a:solidFill>
              </a:defRPr>
            </a:pPr>
            <a:r>
              <a:rPr lang="en-US" sz="1800">
                <a:sym typeface="+mn-ea"/>
              </a:rPr>
              <a:t>Shuttle</a:t>
            </a:r>
            <a:endParaRPr lang="en-US" sz="1800">
              <a:sym typeface="+mn-ea"/>
            </a:endParaRPr>
          </a:p>
        </p:txBody>
      </p:sp>
      <p:sp>
        <p:nvSpPr>
          <p:cNvPr id="40" name="矩形 39"/>
          <p:cNvSpPr>
            <a:spLocks noGrp="1"/>
          </p:cNvSpPr>
          <p:nvPr/>
        </p:nvSpPr>
        <p:spPr>
          <a:xfrm>
            <a:off x="2812415" y="5328920"/>
            <a:ext cx="711835" cy="455295"/>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a:ln w="0">
            <a:noFill/>
            <a:prstDash val="solid"/>
          </a:ln>
        </p:spPr>
        <p:txBody>
          <a:bodyPr anchor="ctr" anchorCtr="0"/>
          <a:lstStyle/>
          <a:p>
            <a:pPr algn="ctr">
              <a:lnSpc>
                <a:spcPct val="110000"/>
              </a:lnSpc>
              <a:defRPr sz="750">
                <a:solidFill>
                  <a:srgbClr val="475569"/>
                </a:solidFill>
              </a:defRPr>
            </a:pPr>
            <a:r>
              <a:rPr sz="750">
                <a:solidFill>
                  <a:schemeClr val="bg1"/>
                </a:solidFill>
              </a:rPr>
              <a:t>上下文补齐</a:t>
            </a:r>
            <a:endParaRPr sz="750">
              <a:solidFill>
                <a:schemeClr val="bg1"/>
              </a:solidFill>
            </a:endParaRPr>
          </a:p>
          <a:p>
            <a:pPr algn="ctr">
              <a:lnSpc>
                <a:spcPct val="110000"/>
              </a:lnSpc>
              <a:defRPr sz="750">
                <a:solidFill>
                  <a:srgbClr val="475569"/>
                </a:solidFill>
              </a:defRPr>
            </a:pPr>
            <a:r>
              <a:rPr sz="750">
                <a:solidFill>
                  <a:schemeClr val="bg1"/>
                </a:solidFill>
              </a:rPr>
              <a:t>维度扩充</a:t>
            </a:r>
            <a:endParaRPr sz="750">
              <a:solidFill>
                <a:schemeClr val="bg1"/>
              </a:solidFill>
            </a:endParaRPr>
          </a:p>
        </p:txBody>
      </p:sp>
      <p:sp>
        <p:nvSpPr>
          <p:cNvPr id="41" name="圆角矩形 40"/>
          <p:cNvSpPr>
            <a:spLocks noGrp="1"/>
          </p:cNvSpPr>
          <p:nvPr/>
        </p:nvSpPr>
        <p:spPr>
          <a:xfrm>
            <a:off x="3787140" y="5098415"/>
            <a:ext cx="1333500" cy="762000"/>
          </a:xfrm>
          <a:prstGeom prst="roundRect">
            <a:avLst>
              <a:gd name="adj" fmla="val 15000"/>
            </a:avLst>
          </a:prstGeom>
          <a:solidFill>
            <a:srgbClr val="FCE7F3"/>
          </a:solidFill>
          <a:ln w="19050">
            <a:solidFill>
              <a:srgbClr val="EC4899"/>
            </a:solidFill>
            <a:prstDash val="solid"/>
          </a:ln>
        </p:spPr>
        <p:txBody>
          <a:bodyPr/>
          <a:p/>
        </p:txBody>
      </p:sp>
      <p:sp>
        <p:nvSpPr>
          <p:cNvPr id="42" name="矩形 41"/>
          <p:cNvSpPr>
            <a:spLocks noGrp="1"/>
          </p:cNvSpPr>
          <p:nvPr/>
        </p:nvSpPr>
        <p:spPr>
          <a:xfrm>
            <a:off x="3863340" y="5155565"/>
            <a:ext cx="1181100" cy="342900"/>
          </a:xfrm>
          <a:prstGeom prst="rect">
            <a:avLst/>
          </a:prstGeom>
          <a:noFill/>
          <a:ln w="0">
            <a:noFill/>
            <a:prstDash val="solid"/>
          </a:ln>
        </p:spPr>
        <p:txBody>
          <a:bodyPr/>
          <a:lstStyle/>
          <a:p>
            <a:pPr algn="ctr">
              <a:defRPr sz="900" b="1">
                <a:solidFill>
                  <a:srgbClr val="1E293B"/>
                </a:solidFill>
              </a:defRPr>
            </a:pPr>
            <a:r>
              <a:rPr sz="900" b="1">
                <a:solidFill>
                  <a:srgbClr val="1E293B"/>
                </a:solidFill>
              </a:rPr>
              <a:t>上锁处理</a:t>
            </a:r>
            <a:endParaRPr sz="900" b="1">
              <a:solidFill>
                <a:srgbClr val="1E293B"/>
              </a:solidFill>
            </a:endParaRPr>
          </a:p>
          <a:p>
            <a:pPr algn="ctr">
              <a:defRPr sz="900" b="1">
                <a:solidFill>
                  <a:srgbClr val="1E293B"/>
                </a:solidFill>
              </a:defRPr>
            </a:pPr>
            <a:r>
              <a:rPr sz="900" b="1">
                <a:solidFill>
                  <a:srgbClr val="1E293B"/>
                </a:solidFill>
              </a:rPr>
              <a:t>(Lock)</a:t>
            </a:r>
            <a:endParaRPr sz="900" b="1">
              <a:solidFill>
                <a:srgbClr val="1E293B"/>
              </a:solidFill>
            </a:endParaRPr>
          </a:p>
        </p:txBody>
      </p:sp>
      <p:sp>
        <p:nvSpPr>
          <p:cNvPr id="43" name="矩形 42"/>
          <p:cNvSpPr>
            <a:spLocks noGrp="1"/>
          </p:cNvSpPr>
          <p:nvPr/>
        </p:nvSpPr>
        <p:spPr>
          <a:xfrm>
            <a:off x="3863340" y="5517515"/>
            <a:ext cx="1181100" cy="285750"/>
          </a:xfrm>
          <a:prstGeom prst="rect">
            <a:avLst/>
          </a:prstGeom>
          <a:noFill/>
          <a:ln w="0">
            <a:noFill/>
            <a:prstDash val="solid"/>
          </a:ln>
        </p:spPr>
        <p:txBody>
          <a:bodyPr/>
          <a:lstStyle/>
          <a:p>
            <a:pPr algn="ctr">
              <a:defRPr sz="750">
                <a:solidFill>
                  <a:srgbClr val="475569"/>
                </a:solidFill>
              </a:defRPr>
            </a:pPr>
            <a:r>
              <a:rPr lang="en-US" sz="750">
                <a:solidFill>
                  <a:srgbClr val="475569"/>
                </a:solidFill>
              </a:rPr>
              <a:t>by pcid&amp;memberID</a:t>
            </a:r>
            <a:endParaRPr lang="en-US" sz="750">
              <a:solidFill>
                <a:srgbClr val="475569"/>
              </a:solidFill>
            </a:endParaRPr>
          </a:p>
        </p:txBody>
      </p:sp>
      <p:sp>
        <p:nvSpPr>
          <p:cNvPr id="44" name="圆角矩形 43"/>
          <p:cNvSpPr>
            <a:spLocks noGrp="1"/>
          </p:cNvSpPr>
          <p:nvPr/>
        </p:nvSpPr>
        <p:spPr>
          <a:xfrm>
            <a:off x="5311140" y="5170170"/>
            <a:ext cx="3077210" cy="762000"/>
          </a:xfrm>
          <a:prstGeom prst="roundRect">
            <a:avLst>
              <a:gd name="adj" fmla="val 15000"/>
            </a:avLst>
          </a:prstGeom>
          <a:solidFill>
            <a:srgbClr val="F5F3FF"/>
          </a:solidFill>
          <a:ln w="19050">
            <a:solidFill>
              <a:srgbClr val="8B5CF6"/>
            </a:solidFill>
            <a:prstDash val="solid"/>
          </a:ln>
        </p:spPr>
        <p:txBody>
          <a:bodyPr/>
          <a:p>
            <a:endParaRPr lang="zh-CN" altLang="en-US"/>
          </a:p>
        </p:txBody>
      </p:sp>
      <p:sp>
        <p:nvSpPr>
          <p:cNvPr id="45" name="矩形 44"/>
          <p:cNvSpPr>
            <a:spLocks noGrp="1"/>
          </p:cNvSpPr>
          <p:nvPr/>
        </p:nvSpPr>
        <p:spPr>
          <a:xfrm>
            <a:off x="5387340" y="5155565"/>
            <a:ext cx="2860675" cy="342900"/>
          </a:xfrm>
          <a:prstGeom prst="rect">
            <a:avLst/>
          </a:prstGeom>
          <a:noFill/>
          <a:ln w="0">
            <a:noFill/>
            <a:prstDash val="solid"/>
          </a:ln>
        </p:spPr>
        <p:txBody>
          <a:bodyPr/>
          <a:lstStyle/>
          <a:p>
            <a:pPr algn="ctr">
              <a:defRPr sz="900" b="1">
                <a:solidFill>
                  <a:srgbClr val="1E293B"/>
                </a:solidFill>
              </a:defRPr>
            </a:pPr>
            <a:r>
              <a:rPr lang="en-US" sz="900" b="1">
                <a:solidFill>
                  <a:srgbClr val="1E293B"/>
                </a:solidFill>
              </a:rPr>
              <a:t>Read-calculate-Write</a:t>
            </a:r>
            <a:endParaRPr lang="en-US" sz="900" b="1">
              <a:solidFill>
                <a:srgbClr val="1E293B"/>
              </a:solidFill>
            </a:endParaRPr>
          </a:p>
        </p:txBody>
      </p:sp>
      <p:sp>
        <p:nvSpPr>
          <p:cNvPr id="46" name="矩形 45"/>
          <p:cNvSpPr>
            <a:spLocks noGrp="1"/>
          </p:cNvSpPr>
          <p:nvPr/>
        </p:nvSpPr>
        <p:spPr>
          <a:xfrm>
            <a:off x="7247890" y="5193665"/>
            <a:ext cx="1181100" cy="285750"/>
          </a:xfrm>
          <a:prstGeom prst="rect">
            <a:avLst/>
          </a:prstGeom>
          <a:noFill/>
          <a:ln w="0">
            <a:noFill/>
            <a:prstDash val="solid"/>
          </a:ln>
        </p:spPr>
        <p:txBody>
          <a:bodyPr/>
          <a:lstStyle/>
          <a:p>
            <a:pPr algn="ctr">
              <a:defRPr sz="750">
                <a:solidFill>
                  <a:srgbClr val="475569"/>
                </a:solidFill>
              </a:defRPr>
            </a:pPr>
            <a:r>
              <a:rPr sz="750">
                <a:solidFill>
                  <a:srgbClr val="475569"/>
                </a:solidFill>
              </a:rPr>
              <a:t>窗口聚合</a:t>
            </a:r>
            <a:endParaRPr sz="750">
              <a:solidFill>
                <a:srgbClr val="475569"/>
              </a:solidFill>
            </a:endParaRPr>
          </a:p>
          <a:p>
            <a:pPr algn="ctr">
              <a:defRPr sz="750">
                <a:solidFill>
                  <a:srgbClr val="475569"/>
                </a:solidFill>
              </a:defRPr>
            </a:pPr>
            <a:r>
              <a:rPr sz="750">
                <a:solidFill>
                  <a:srgbClr val="475569"/>
                </a:solidFill>
              </a:rPr>
              <a:t>实时特征</a:t>
            </a:r>
            <a:endParaRPr sz="750">
              <a:solidFill>
                <a:srgbClr val="475569"/>
              </a:solidFill>
            </a:endParaRPr>
          </a:p>
        </p:txBody>
      </p:sp>
      <p:sp>
        <p:nvSpPr>
          <p:cNvPr id="50" name="矩形 49"/>
          <p:cNvSpPr>
            <a:spLocks noGrp="1"/>
          </p:cNvSpPr>
          <p:nvPr/>
        </p:nvSpPr>
        <p:spPr>
          <a:xfrm>
            <a:off x="18821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1" name="矩形 50"/>
          <p:cNvSpPr>
            <a:spLocks noGrp="1"/>
          </p:cNvSpPr>
          <p:nvPr/>
        </p:nvSpPr>
        <p:spPr>
          <a:xfrm>
            <a:off x="35966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2" name="矩形 51"/>
          <p:cNvSpPr>
            <a:spLocks noGrp="1"/>
          </p:cNvSpPr>
          <p:nvPr/>
        </p:nvSpPr>
        <p:spPr>
          <a:xfrm>
            <a:off x="5120640" y="5384165"/>
            <a:ext cx="190500" cy="190500"/>
          </a:xfrm>
          <a:prstGeom prst="rect">
            <a:avLst/>
          </a:prstGeom>
          <a:noFill/>
          <a:ln w="0">
            <a:noFill/>
            <a:prstDash val="solid"/>
          </a:ln>
        </p:spPr>
        <p:txBody>
          <a:bodyPr/>
          <a:lstStyle/>
          <a:p>
            <a:pPr algn="ctr">
              <a:defRPr sz="1200">
                <a:solidFill>
                  <a:srgbClr val="94A3B8"/>
                </a:solidFill>
              </a:defRPr>
            </a:pPr>
            <a:r>
              <a:rPr sz="1200">
                <a:solidFill>
                  <a:srgbClr val="94A3B8"/>
                </a:solidFill>
              </a:rPr>
              <a:t>→</a:t>
            </a:r>
            <a:endParaRPr sz="1200">
              <a:solidFill>
                <a:srgbClr val="94A3B8"/>
              </a:solidFill>
            </a:endParaRPr>
          </a:p>
        </p:txBody>
      </p:sp>
      <p:sp>
        <p:nvSpPr>
          <p:cNvPr id="54" name="圆角矩形 53"/>
          <p:cNvSpPr>
            <a:spLocks noGrp="1"/>
          </p:cNvSpPr>
          <p:nvPr/>
        </p:nvSpPr>
        <p:spPr>
          <a:xfrm>
            <a:off x="6311900" y="3500755"/>
            <a:ext cx="1009650" cy="391795"/>
          </a:xfrm>
          <a:prstGeom prst="roundRect">
            <a:avLst>
              <a:gd name="adj" fmla="val 20000"/>
            </a:avLst>
          </a:prstGeom>
          <a:solidFill>
            <a:srgbClr val="ECFDF5"/>
          </a:solidFill>
          <a:ln w="19050">
            <a:solidFill>
              <a:srgbClr val="10B981"/>
            </a:solidFill>
            <a:prstDash val="solid"/>
          </a:ln>
        </p:spPr>
        <p:txBody>
          <a:bodyPr/>
          <a:p>
            <a:pPr algn="ctr">
              <a:defRPr sz="975" b="1">
                <a:solidFill>
                  <a:srgbClr val="047857"/>
                </a:solidFill>
              </a:defRPr>
            </a:pPr>
            <a:r>
              <a:rPr lang="en-US" sz="1800" b="1">
                <a:solidFill>
                  <a:srgbClr val="047857"/>
                </a:solidFill>
                <a:sym typeface="+mn-ea"/>
              </a:rPr>
              <a:t>Lava</a:t>
            </a:r>
            <a:endParaRPr lang="zh-CN" altLang="en-US"/>
          </a:p>
        </p:txBody>
      </p:sp>
      <p:sp>
        <p:nvSpPr>
          <p:cNvPr id="58" name="矩形 57"/>
          <p:cNvSpPr>
            <a:spLocks noGrp="1"/>
          </p:cNvSpPr>
          <p:nvPr/>
        </p:nvSpPr>
        <p:spPr>
          <a:xfrm>
            <a:off x="479425" y="6236970"/>
            <a:ext cx="4762500" cy="171450"/>
          </a:xfrm>
          <a:prstGeom prst="rect">
            <a:avLst/>
          </a:prstGeom>
          <a:noFill/>
          <a:ln w="0">
            <a:noFill/>
            <a:prstDash val="solid"/>
          </a:ln>
        </p:spPr>
        <p:txBody>
          <a:bodyPr/>
          <a:lstStyle/>
          <a:p>
            <a:pPr>
              <a:defRPr sz="825">
                <a:solidFill>
                  <a:srgbClr val="64748B"/>
                </a:solidFill>
              </a:defRPr>
            </a:pPr>
            <a:r>
              <a:rPr sz="825">
                <a:solidFill>
                  <a:srgbClr val="64748B"/>
                </a:solidFill>
              </a:rPr>
              <a:t>图例：橙=消息层  紫=实时计算  蓝=存储  绿=批量/Serving  粉=锁</a:t>
            </a:r>
            <a:endParaRPr sz="825">
              <a:solidFill>
                <a:srgbClr val="64748B"/>
              </a:solidFill>
            </a:endParaRPr>
          </a:p>
        </p:txBody>
      </p:sp>
      <p:cxnSp>
        <p:nvCxnSpPr>
          <p:cNvPr id="59" name="直接箭头连接符 58"/>
          <p:cNvCxnSpPr/>
          <p:nvPr/>
        </p:nvCxnSpPr>
        <p:spPr>
          <a:xfrm>
            <a:off x="3972560" y="137160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0" name="圆角矩形 59"/>
          <p:cNvSpPr>
            <a:spLocks noGrp="1"/>
          </p:cNvSpPr>
          <p:nvPr/>
        </p:nvSpPr>
        <p:spPr>
          <a:xfrm>
            <a:off x="2533650" y="2014220"/>
            <a:ext cx="1085850" cy="1047750"/>
          </a:xfrm>
          <a:prstGeom prst="roundRect">
            <a:avLst>
              <a:gd name="adj" fmla="val 10909"/>
            </a:avLst>
          </a:prstGeom>
          <a:solidFill>
            <a:srgbClr val="FEF3C7"/>
          </a:solidFill>
          <a:ln w="19050">
            <a:solidFill>
              <a:srgbClr val="F59E0B"/>
            </a:solidFill>
            <a:prstDash val="solid"/>
          </a:ln>
        </p:spPr>
        <p:txBody>
          <a:bodyPr/>
          <a:p>
            <a:r>
              <a:rPr lang="en-US" altLang="zh-CN"/>
              <a:t>S3</a:t>
            </a:r>
            <a:endParaRPr lang="en-US" altLang="zh-CN"/>
          </a:p>
        </p:txBody>
      </p:sp>
      <p:cxnSp>
        <p:nvCxnSpPr>
          <p:cNvPr id="61" name="直接箭头连接符 60"/>
          <p:cNvCxnSpPr/>
          <p:nvPr/>
        </p:nvCxnSpPr>
        <p:spPr>
          <a:xfrm flipV="1">
            <a:off x="3647440" y="2646680"/>
            <a:ext cx="792480" cy="101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2" name="矩形 61"/>
          <p:cNvSpPr>
            <a:spLocks noGrp="1"/>
          </p:cNvSpPr>
          <p:nvPr/>
        </p:nvSpPr>
        <p:spPr>
          <a:xfrm>
            <a:off x="3488055" y="1971675"/>
            <a:ext cx="902970" cy="519430"/>
          </a:xfrm>
          <a:prstGeom prst="rect">
            <a:avLst/>
          </a:prstGeom>
          <a:noFill/>
          <a:ln w="0">
            <a:noFill/>
            <a:prstDash val="solid"/>
          </a:ln>
        </p:spPr>
        <p:txBody>
          <a:bodyPr/>
          <a:p>
            <a:pPr algn="ctr">
              <a:defRPr sz="825">
                <a:solidFill>
                  <a:srgbClr val="5B21B6"/>
                </a:solidFill>
              </a:defRPr>
            </a:pPr>
            <a:r>
              <a:rPr lang="en-US" sz="825">
                <a:solidFill>
                  <a:srgbClr val="5B21B6"/>
                </a:solidFill>
              </a:rPr>
              <a:t>Hot </a:t>
            </a:r>
            <a:r>
              <a:rPr lang="en-US" sz="825">
                <a:solidFill>
                  <a:srgbClr val="5B21B6"/>
                </a:solidFill>
              </a:rPr>
              <a:t>CRM</a:t>
            </a:r>
            <a:endParaRPr lang="en-US" sz="825">
              <a:solidFill>
                <a:srgbClr val="5B21B6"/>
              </a:solidFill>
            </a:endParaRPr>
          </a:p>
          <a:p>
            <a:pPr algn="ctr">
              <a:defRPr sz="825">
                <a:solidFill>
                  <a:srgbClr val="5B21B6"/>
                </a:solidFill>
              </a:defRPr>
            </a:pPr>
            <a:r>
              <a:rPr lang="en-US" sz="825">
                <a:solidFill>
                  <a:srgbClr val="5B21B6"/>
                </a:solidFill>
              </a:rPr>
              <a:t>customer_join </a:t>
            </a:r>
            <a:r>
              <a:rPr lang="en-US" sz="825">
                <a:solidFill>
                  <a:srgbClr val="5B21B6"/>
                </a:solidFill>
              </a:rPr>
              <a:t>action_emb</a:t>
            </a:r>
            <a:endParaRPr lang="en-US" sz="825">
              <a:solidFill>
                <a:srgbClr val="5B21B6"/>
              </a:solidFill>
            </a:endParaRPr>
          </a:p>
        </p:txBody>
      </p:sp>
      <p:cxnSp>
        <p:nvCxnSpPr>
          <p:cNvPr id="63" name="直接箭头连接符 62"/>
          <p:cNvCxnSpPr/>
          <p:nvPr/>
        </p:nvCxnSpPr>
        <p:spPr>
          <a:xfrm>
            <a:off x="6887845" y="137160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4" name="矩形 63"/>
          <p:cNvSpPr>
            <a:spLocks noGrp="1"/>
          </p:cNvSpPr>
          <p:nvPr/>
        </p:nvSpPr>
        <p:spPr>
          <a:xfrm>
            <a:off x="6671945" y="952500"/>
            <a:ext cx="902970" cy="285750"/>
          </a:xfrm>
          <a:prstGeom prst="rect">
            <a:avLst/>
          </a:prstGeom>
          <a:noFill/>
          <a:ln w="0">
            <a:noFill/>
            <a:prstDash val="solid"/>
          </a:ln>
        </p:spPr>
        <p:txBody>
          <a:bodyPr/>
          <a:p>
            <a:pPr algn="ctr">
              <a:defRPr sz="825">
                <a:solidFill>
                  <a:srgbClr val="5B21B6"/>
                </a:solidFill>
              </a:defRPr>
            </a:pPr>
            <a:r>
              <a:rPr lang="en-US" sz="825">
                <a:solidFill>
                  <a:srgbClr val="5B21B6"/>
                </a:solidFill>
              </a:rPr>
              <a:t>Read &amp; Update</a:t>
            </a:r>
            <a:endParaRPr lang="en-US" sz="825">
              <a:solidFill>
                <a:srgbClr val="5B21B6"/>
              </a:solidFill>
            </a:endParaRPr>
          </a:p>
        </p:txBody>
      </p:sp>
      <p:sp>
        <p:nvSpPr>
          <p:cNvPr id="65" name="圆角矩形 64"/>
          <p:cNvSpPr>
            <a:spLocks noGrp="1"/>
          </p:cNvSpPr>
          <p:nvPr/>
        </p:nvSpPr>
        <p:spPr>
          <a:xfrm>
            <a:off x="4871720" y="188595"/>
            <a:ext cx="1371600" cy="328930"/>
          </a:xfrm>
          <a:prstGeom prst="roundRect">
            <a:avLst>
              <a:gd name="adj" fmla="val 24000"/>
            </a:avLst>
          </a:prstGeom>
          <a:solidFill>
            <a:srgbClr val="F0FDF4"/>
          </a:solidFill>
          <a:ln w="19050">
            <a:solidFill>
              <a:srgbClr val="22C55E"/>
            </a:solidFill>
            <a:prstDash val="solid"/>
          </a:ln>
        </p:spPr>
        <p:txBody>
          <a:bodyPr/>
          <a:p>
            <a:pPr algn="ctr">
              <a:buClrTx/>
              <a:buSzTx/>
              <a:buFontTx/>
              <a:defRPr sz="1125" b="1">
                <a:solidFill>
                  <a:srgbClr val="047857"/>
                </a:solidFill>
              </a:defRPr>
            </a:pPr>
            <a:r>
              <a:rPr sz="1125" b="1">
                <a:solidFill>
                  <a:srgbClr val="047857"/>
                </a:solidFill>
              </a:rPr>
              <a:t>Shuttle </a:t>
            </a:r>
            <a:r>
              <a:t>(</a:t>
            </a:r>
            <a:r>
              <a:rPr sz="1125" b="1">
                <a:solidFill>
                  <a:srgbClr val="047857"/>
                </a:solidFill>
              </a:rPr>
              <a:t>gRPC</a:t>
            </a:r>
            <a:r>
              <a:t>)</a:t>
            </a:r>
          </a:p>
        </p:txBody>
      </p:sp>
      <p:cxnSp>
        <p:nvCxnSpPr>
          <p:cNvPr id="66" name="直接箭头连接符 65"/>
          <p:cNvCxnSpPr>
            <a:stCxn id="65" idx="2"/>
            <a:endCxn id="18" idx="0"/>
          </p:cNvCxnSpPr>
          <p:nvPr/>
        </p:nvCxnSpPr>
        <p:spPr>
          <a:xfrm>
            <a:off x="5557520" y="517525"/>
            <a:ext cx="10795" cy="3194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p:nvPr/>
        </p:nvCxnSpPr>
        <p:spPr>
          <a:xfrm>
            <a:off x="6960235" y="263271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8" name="圆角矩形 67"/>
          <p:cNvSpPr>
            <a:spLocks noGrp="1"/>
          </p:cNvSpPr>
          <p:nvPr/>
        </p:nvSpPr>
        <p:spPr>
          <a:xfrm>
            <a:off x="10272395" y="781050"/>
            <a:ext cx="1751965" cy="1971675"/>
          </a:xfrm>
          <a:prstGeom prst="roundRect">
            <a:avLst>
              <a:gd name="adj" fmla="val 24000"/>
            </a:avLst>
          </a:prstGeom>
          <a:solidFill>
            <a:srgbClr val="F0FDF4"/>
          </a:solidFill>
          <a:ln w="19050">
            <a:solidFill>
              <a:srgbClr val="22C55E"/>
            </a:solidFill>
            <a:prstDash val="solid"/>
          </a:ln>
        </p:spPr>
        <p:txBody>
          <a:bodyPr/>
          <a:p/>
        </p:txBody>
      </p:sp>
      <p:sp>
        <p:nvSpPr>
          <p:cNvPr id="69" name="矩形 68"/>
          <p:cNvSpPr>
            <a:spLocks noGrp="1"/>
          </p:cNvSpPr>
          <p:nvPr/>
        </p:nvSpPr>
        <p:spPr>
          <a:xfrm>
            <a:off x="10272395" y="1085215"/>
            <a:ext cx="1618615" cy="1015365"/>
          </a:xfrm>
          <a:prstGeom prst="rect">
            <a:avLst/>
          </a:prstGeom>
          <a:noFill/>
          <a:ln w="0">
            <a:noFill/>
            <a:prstDash val="solid"/>
          </a:ln>
        </p:spPr>
        <p:txBody>
          <a:bodyPr/>
          <a:p>
            <a:pPr algn="ctr">
              <a:defRPr sz="975" b="1">
                <a:solidFill>
                  <a:srgbClr val="047857"/>
                </a:solidFill>
              </a:defRPr>
            </a:pPr>
            <a:r>
              <a:rPr sz="975" b="1">
                <a:solidFill>
                  <a:srgbClr val="047857"/>
                </a:solidFill>
              </a:rPr>
              <a:t>Serving 层 · ES / API / 推荐</a:t>
            </a:r>
            <a:br>
              <a:rPr sz="975" b="1">
                <a:solidFill>
                  <a:srgbClr val="047857"/>
                </a:solidFill>
              </a:rPr>
            </a:br>
            <a:r>
              <a:rPr lang="en-US" sz="975" b="1">
                <a:solidFill>
                  <a:srgbClr val="047857"/>
                </a:solidFill>
              </a:rPr>
              <a:t>gRPC</a:t>
            </a:r>
            <a:endParaRPr lang="en-US" sz="975" b="1">
              <a:solidFill>
                <a:srgbClr val="047857"/>
              </a:solidFill>
            </a:endParaRPr>
          </a:p>
        </p:txBody>
      </p:sp>
      <p:cxnSp>
        <p:nvCxnSpPr>
          <p:cNvPr id="70" name="直接箭头连接符 69"/>
          <p:cNvCxnSpPr/>
          <p:nvPr/>
        </p:nvCxnSpPr>
        <p:spPr>
          <a:xfrm>
            <a:off x="9639300" y="146685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1" name="矩形 70"/>
          <p:cNvSpPr>
            <a:spLocks noGrp="1"/>
          </p:cNvSpPr>
          <p:nvPr/>
        </p:nvSpPr>
        <p:spPr>
          <a:xfrm>
            <a:off x="7752080" y="2276475"/>
            <a:ext cx="1723390" cy="519430"/>
          </a:xfrm>
          <a:prstGeom prst="rect">
            <a:avLst/>
          </a:prstGeom>
          <a:noFill/>
          <a:ln w="0">
            <a:noFill/>
            <a:prstDash val="solid"/>
          </a:ln>
        </p:spPr>
        <p:txBody>
          <a:bodyPr/>
          <a:p>
            <a:pPr algn="ctr">
              <a:defRPr sz="975">
                <a:solidFill>
                  <a:srgbClr val="2563EB"/>
                </a:solidFill>
              </a:defRPr>
            </a:pPr>
            <a:endParaRPr sz="975">
              <a:solidFill>
                <a:srgbClr val="2563EB"/>
              </a:solidFill>
            </a:endParaRPr>
          </a:p>
          <a:p>
            <a:pPr algn="ctr">
              <a:defRPr sz="975">
                <a:solidFill>
                  <a:srgbClr val="2563EB"/>
                </a:solidFill>
              </a:defRPr>
            </a:pPr>
            <a:endParaRPr sz="975">
              <a:solidFill>
                <a:srgbClr val="2563EB"/>
              </a:solidFill>
            </a:endParaRPr>
          </a:p>
          <a:p>
            <a:pPr algn="ctr">
              <a:defRPr sz="975">
                <a:solidFill>
                  <a:srgbClr val="2563EB"/>
                </a:solidFill>
              </a:defRPr>
            </a:pPr>
            <a:r>
              <a:rPr sz="975">
                <a:solidFill>
                  <a:srgbClr val="2563EB"/>
                </a:solidFill>
              </a:rPr>
              <a:t>Cassandra（冷持久化）</a:t>
            </a:r>
            <a:endParaRPr sz="975">
              <a:solidFill>
                <a:srgbClr val="2563EB"/>
              </a:solidFill>
            </a:endParaRPr>
          </a:p>
        </p:txBody>
      </p:sp>
      <p:sp>
        <p:nvSpPr>
          <p:cNvPr id="72" name="矩形 71"/>
          <p:cNvSpPr>
            <a:spLocks noGrp="1"/>
          </p:cNvSpPr>
          <p:nvPr/>
        </p:nvSpPr>
        <p:spPr>
          <a:xfrm>
            <a:off x="7647305" y="2261870"/>
            <a:ext cx="2068195" cy="229235"/>
          </a:xfrm>
          <a:prstGeom prst="rect">
            <a:avLst/>
          </a:prstGeom>
          <a:noFill/>
          <a:ln w="0">
            <a:noFill/>
            <a:prstDash val="solid"/>
          </a:ln>
        </p:spPr>
        <p:txBody>
          <a:bodyPr/>
          <a:p>
            <a:pPr algn="ctr">
              <a:defRPr sz="1200" b="1">
                <a:solidFill>
                  <a:srgbClr val="1D4ED8"/>
                </a:solidFill>
              </a:defRPr>
            </a:pPr>
            <a:r>
              <a:rPr sz="1200" b="1">
                <a:solidFill>
                  <a:srgbClr val="1D4ED8"/>
                </a:solidFill>
              </a:rPr>
              <a:t>Lava 存储体系</a:t>
            </a:r>
            <a:endParaRPr sz="1200" b="1">
              <a:solidFill>
                <a:srgbClr val="1D4ED8"/>
              </a:solidFill>
            </a:endParaRPr>
          </a:p>
        </p:txBody>
      </p:sp>
      <p:cxnSp>
        <p:nvCxnSpPr>
          <p:cNvPr id="74" name="直接箭头连接符 73"/>
          <p:cNvCxnSpPr/>
          <p:nvPr/>
        </p:nvCxnSpPr>
        <p:spPr>
          <a:xfrm>
            <a:off x="9696450" y="2493010"/>
            <a:ext cx="5041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a:stCxn id="39" idx="2"/>
            <a:endCxn id="38" idx="0"/>
          </p:cNvCxnSpPr>
          <p:nvPr/>
        </p:nvCxnSpPr>
        <p:spPr>
          <a:xfrm flipH="1">
            <a:off x="2834640" y="3892550"/>
            <a:ext cx="635" cy="12058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6" name="矩形 75"/>
          <p:cNvSpPr/>
          <p:nvPr/>
        </p:nvSpPr>
        <p:spPr>
          <a:xfrm>
            <a:off x="2143760" y="5140960"/>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7" name="矩形 76"/>
          <p:cNvSpPr/>
          <p:nvPr/>
        </p:nvSpPr>
        <p:spPr>
          <a:xfrm>
            <a:off x="2152650" y="5415915"/>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8" name="矩形 77"/>
          <p:cNvSpPr/>
          <p:nvPr/>
        </p:nvSpPr>
        <p:spPr>
          <a:xfrm>
            <a:off x="2152650" y="5659120"/>
            <a:ext cx="504190" cy="158750"/>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Parse</a:t>
            </a:r>
            <a:endParaRPr lang="en-US" altLang="zh-CN" sz="800">
              <a:solidFill>
                <a:schemeClr val="bg1"/>
              </a:solidFill>
            </a:endParaRPr>
          </a:p>
        </p:txBody>
      </p:sp>
      <p:sp>
        <p:nvSpPr>
          <p:cNvPr id="79" name="圆角矩形 78"/>
          <p:cNvSpPr>
            <a:spLocks noGrp="1"/>
          </p:cNvSpPr>
          <p:nvPr/>
        </p:nvSpPr>
        <p:spPr>
          <a:xfrm>
            <a:off x="8803640" y="5098415"/>
            <a:ext cx="781685" cy="762000"/>
          </a:xfrm>
          <a:prstGeom prst="roundRect">
            <a:avLst>
              <a:gd name="adj" fmla="val 15000"/>
            </a:avLst>
          </a:prstGeom>
          <a:solidFill>
            <a:srgbClr val="FCE7F3"/>
          </a:solidFill>
          <a:ln w="19050">
            <a:solidFill>
              <a:srgbClr val="EC4899"/>
            </a:solidFill>
            <a:prstDash val="solid"/>
          </a:ln>
        </p:spPr>
        <p:txBody>
          <a:bodyPr/>
          <a:p/>
        </p:txBody>
      </p:sp>
      <p:sp>
        <p:nvSpPr>
          <p:cNvPr id="80" name="矩形 79"/>
          <p:cNvSpPr>
            <a:spLocks noGrp="1"/>
          </p:cNvSpPr>
          <p:nvPr/>
        </p:nvSpPr>
        <p:spPr>
          <a:xfrm>
            <a:off x="8734425" y="5193665"/>
            <a:ext cx="902970" cy="329565"/>
          </a:xfrm>
          <a:prstGeom prst="rect">
            <a:avLst/>
          </a:prstGeom>
          <a:noFill/>
          <a:ln w="0">
            <a:noFill/>
            <a:prstDash val="solid"/>
          </a:ln>
        </p:spPr>
        <p:txBody>
          <a:bodyPr/>
          <a:p>
            <a:pPr algn="ctr">
              <a:defRPr sz="900" b="1">
                <a:solidFill>
                  <a:srgbClr val="1E293B"/>
                </a:solidFill>
              </a:defRPr>
            </a:pPr>
            <a:r>
              <a:rPr lang="zh-CN" sz="900" b="1">
                <a:solidFill>
                  <a:srgbClr val="1E293B"/>
                </a:solidFill>
              </a:rPr>
              <a:t>解</a:t>
            </a:r>
            <a:r>
              <a:rPr sz="900" b="1">
                <a:solidFill>
                  <a:srgbClr val="1E293B"/>
                </a:solidFill>
              </a:rPr>
              <a:t>锁处理</a:t>
            </a:r>
            <a:endParaRPr sz="900" b="1">
              <a:solidFill>
                <a:srgbClr val="1E293B"/>
              </a:solidFill>
            </a:endParaRPr>
          </a:p>
          <a:p>
            <a:pPr algn="ctr">
              <a:defRPr sz="900" b="1">
                <a:solidFill>
                  <a:srgbClr val="1E293B"/>
                </a:solidFill>
              </a:defRPr>
            </a:pPr>
            <a:r>
              <a:rPr sz="900" b="1">
                <a:solidFill>
                  <a:srgbClr val="1E293B"/>
                </a:solidFill>
              </a:rPr>
              <a:t>(</a:t>
            </a:r>
            <a:r>
              <a:rPr lang="en-US" sz="900" b="1">
                <a:solidFill>
                  <a:srgbClr val="1E293B"/>
                </a:solidFill>
              </a:rPr>
              <a:t>Un</a:t>
            </a:r>
            <a:r>
              <a:rPr sz="900" b="1">
                <a:solidFill>
                  <a:srgbClr val="1E293B"/>
                </a:solidFill>
              </a:rPr>
              <a:t>Lock)</a:t>
            </a:r>
            <a:endParaRPr sz="900" b="1">
              <a:solidFill>
                <a:srgbClr val="1E293B"/>
              </a:solidFill>
            </a:endParaRPr>
          </a:p>
        </p:txBody>
      </p:sp>
      <p:sp>
        <p:nvSpPr>
          <p:cNvPr id="83" name="圆角矩形 82"/>
          <p:cNvSpPr>
            <a:spLocks noGrp="1"/>
          </p:cNvSpPr>
          <p:nvPr/>
        </p:nvSpPr>
        <p:spPr>
          <a:xfrm>
            <a:off x="10594340" y="4596130"/>
            <a:ext cx="1238250" cy="735330"/>
          </a:xfrm>
          <a:prstGeom prst="roundRect">
            <a:avLst>
              <a:gd name="adj" fmla="val 10909"/>
            </a:avLst>
          </a:prstGeom>
          <a:solidFill>
            <a:srgbClr val="FEF3C7"/>
          </a:solidFill>
          <a:ln w="19050">
            <a:solidFill>
              <a:srgbClr val="F59E0B"/>
            </a:solidFill>
            <a:prstDash val="solid"/>
          </a:ln>
        </p:spPr>
        <p:txBody>
          <a:bodyPr/>
          <a:p>
            <a:pPr algn="ctr"/>
            <a:r>
              <a:rPr lang="en-US" altLang="zh-CN" sz="1200">
                <a:sym typeface="+mn-ea"/>
              </a:rPr>
              <a:t>customer event compact</a:t>
            </a:r>
            <a:endParaRPr lang="en-US" altLang="zh-CN" sz="1200">
              <a:sym typeface="+mn-ea"/>
            </a:endParaRPr>
          </a:p>
        </p:txBody>
      </p:sp>
      <p:sp>
        <p:nvSpPr>
          <p:cNvPr id="84" name="矩形 83"/>
          <p:cNvSpPr>
            <a:spLocks noGrp="1"/>
          </p:cNvSpPr>
          <p:nvPr/>
        </p:nvSpPr>
        <p:spPr>
          <a:xfrm>
            <a:off x="10746740" y="4236085"/>
            <a:ext cx="1085850" cy="228600"/>
          </a:xfrm>
          <a:prstGeom prst="rect">
            <a:avLst/>
          </a:prstGeom>
          <a:noFill/>
          <a:ln w="0">
            <a:noFill/>
            <a:prstDash val="solid"/>
          </a:ln>
        </p:spPr>
        <p:txBody>
          <a:bodyPr/>
          <a:p>
            <a:pPr algn="ctr">
              <a:defRPr sz="1500" b="1">
                <a:solidFill>
                  <a:srgbClr val="B45309"/>
                </a:solidFill>
              </a:defRPr>
            </a:pPr>
            <a:r>
              <a:rPr sz="1500" b="1">
                <a:solidFill>
                  <a:srgbClr val="B45309"/>
                </a:solidFill>
              </a:rPr>
              <a:t>Kafka</a:t>
            </a:r>
            <a:endParaRPr sz="1500" b="1">
              <a:solidFill>
                <a:srgbClr val="B45309"/>
              </a:solidFill>
            </a:endParaRPr>
          </a:p>
        </p:txBody>
      </p:sp>
      <p:cxnSp>
        <p:nvCxnSpPr>
          <p:cNvPr id="85" name="肘形连接符 84"/>
          <p:cNvCxnSpPr>
            <a:stCxn id="79" idx="3"/>
            <a:endCxn id="83" idx="1"/>
          </p:cNvCxnSpPr>
          <p:nvPr/>
        </p:nvCxnSpPr>
        <p:spPr>
          <a:xfrm flipV="1">
            <a:off x="9585325" y="4963795"/>
            <a:ext cx="1009015" cy="515620"/>
          </a:xfrm>
          <a:prstGeom prst="bentConnector3">
            <a:avLst>
              <a:gd name="adj1" fmla="val 50031"/>
            </a:avLst>
          </a:prstGeom>
          <a:ln>
            <a:tailEnd type="arrow"/>
          </a:ln>
        </p:spPr>
        <p:style>
          <a:lnRef idx="2">
            <a:schemeClr val="accent1"/>
          </a:lnRef>
          <a:fillRef idx="0">
            <a:srgbClr val="FFFFFF"/>
          </a:fillRef>
          <a:effectRef idx="0">
            <a:srgbClr val="FFFFFF"/>
          </a:effectRef>
          <a:fontRef idx="minor">
            <a:schemeClr val="tx1"/>
          </a:fontRef>
        </p:style>
      </p:cxnSp>
      <p:sp>
        <p:nvSpPr>
          <p:cNvPr id="86" name="圆角矩形 85"/>
          <p:cNvSpPr>
            <a:spLocks noGrp="1"/>
          </p:cNvSpPr>
          <p:nvPr/>
        </p:nvSpPr>
        <p:spPr>
          <a:xfrm>
            <a:off x="10594340" y="5750560"/>
            <a:ext cx="1238250" cy="735330"/>
          </a:xfrm>
          <a:prstGeom prst="roundRect">
            <a:avLst>
              <a:gd name="adj" fmla="val 10909"/>
            </a:avLst>
          </a:prstGeom>
          <a:solidFill>
            <a:srgbClr val="FEF3C7"/>
          </a:solidFill>
          <a:ln w="19050">
            <a:solidFill>
              <a:srgbClr val="F59E0B"/>
            </a:solidFill>
            <a:prstDash val="solid"/>
          </a:ln>
        </p:spPr>
        <p:txBody>
          <a:bodyPr/>
          <a:p>
            <a:pPr algn="ctr"/>
            <a:r>
              <a:rPr lang="en-US" altLang="zh-CN" sz="1200"/>
              <a:t>p13n realtime CJ</a:t>
            </a:r>
            <a:endParaRPr lang="en-US" altLang="zh-CN" sz="1200"/>
          </a:p>
        </p:txBody>
      </p:sp>
      <p:cxnSp>
        <p:nvCxnSpPr>
          <p:cNvPr id="87" name="肘形连接符 86"/>
          <p:cNvCxnSpPr>
            <a:stCxn id="79" idx="3"/>
            <a:endCxn id="86" idx="1"/>
          </p:cNvCxnSpPr>
          <p:nvPr/>
        </p:nvCxnSpPr>
        <p:spPr>
          <a:xfrm>
            <a:off x="9585325" y="5479415"/>
            <a:ext cx="1009015" cy="638810"/>
          </a:xfrm>
          <a:prstGeom prst="bentConnector3">
            <a:avLst>
              <a:gd name="adj1" fmla="val 50031"/>
            </a:avLst>
          </a:prstGeom>
          <a:ln>
            <a:tailEnd type="arrow"/>
          </a:ln>
        </p:spPr>
        <p:style>
          <a:lnRef idx="2">
            <a:schemeClr val="accent1"/>
          </a:lnRef>
          <a:fillRef idx="0">
            <a:srgbClr val="FFFFFF"/>
          </a:fillRef>
          <a:effectRef idx="0">
            <a:srgbClr val="FFFFFF"/>
          </a:effectRef>
          <a:fontRef idx="minor">
            <a:schemeClr val="tx1"/>
          </a:fontRef>
        </p:style>
      </p:cxnSp>
      <p:sp>
        <p:nvSpPr>
          <p:cNvPr id="88" name="矩形 87"/>
          <p:cNvSpPr>
            <a:spLocks noGrp="1"/>
          </p:cNvSpPr>
          <p:nvPr/>
        </p:nvSpPr>
        <p:spPr>
          <a:xfrm>
            <a:off x="9552305" y="4423410"/>
            <a:ext cx="945515" cy="519430"/>
          </a:xfrm>
          <a:prstGeom prst="rect">
            <a:avLst/>
          </a:prstGeom>
          <a:noFill/>
          <a:ln w="0">
            <a:noFill/>
            <a:prstDash val="solid"/>
          </a:ln>
        </p:spPr>
        <p:txBody>
          <a:bodyPr/>
          <a:p>
            <a:pPr algn="ctr">
              <a:defRPr sz="825">
                <a:solidFill>
                  <a:srgbClr val="5B21B6"/>
                </a:solidFill>
              </a:defRPr>
            </a:pPr>
            <a:r>
              <a:rPr lang="en-US" sz="825">
                <a:solidFill>
                  <a:srgbClr val="5B21B6"/>
                </a:solidFill>
              </a:rPr>
              <a:t>pcid,actiontype,actiontimeMs</a:t>
            </a:r>
            <a:endParaRPr lang="en-US" sz="825">
              <a:solidFill>
                <a:srgbClr val="5B21B6"/>
              </a:solidFill>
            </a:endParaRPr>
          </a:p>
        </p:txBody>
      </p:sp>
      <p:sp>
        <p:nvSpPr>
          <p:cNvPr id="89" name="矩形 88"/>
          <p:cNvSpPr>
            <a:spLocks noGrp="1"/>
          </p:cNvSpPr>
          <p:nvPr/>
        </p:nvSpPr>
        <p:spPr>
          <a:xfrm>
            <a:off x="9552305" y="6125210"/>
            <a:ext cx="945515" cy="191135"/>
          </a:xfrm>
          <a:prstGeom prst="rect">
            <a:avLst/>
          </a:prstGeom>
          <a:noFill/>
          <a:ln w="0">
            <a:noFill/>
            <a:prstDash val="solid"/>
          </a:ln>
        </p:spPr>
        <p:txBody>
          <a:bodyPr/>
          <a:p>
            <a:pPr algn="ctr">
              <a:defRPr sz="825">
                <a:solidFill>
                  <a:srgbClr val="5B21B6"/>
                </a:solidFill>
              </a:defRPr>
            </a:pPr>
            <a:r>
              <a:rPr lang="en-US" sz="825">
                <a:solidFill>
                  <a:srgbClr val="5B21B6"/>
                </a:solidFill>
              </a:rPr>
              <a:t>5% sampling</a:t>
            </a:r>
            <a:endParaRPr lang="en-US" sz="825">
              <a:solidFill>
                <a:srgbClr val="5B21B6"/>
              </a:solidFill>
            </a:endParaRPr>
          </a:p>
        </p:txBody>
      </p:sp>
      <p:sp>
        <p:nvSpPr>
          <p:cNvPr id="90" name="矩形 89"/>
          <p:cNvSpPr>
            <a:spLocks noGrp="1"/>
          </p:cNvSpPr>
          <p:nvPr/>
        </p:nvSpPr>
        <p:spPr>
          <a:xfrm flipH="1">
            <a:off x="8359140" y="5328920"/>
            <a:ext cx="434340" cy="443230"/>
          </a:xfrm>
          <a:prstGeom prst="rect">
            <a:avLst/>
          </a:prstGeom>
          <a:noFill/>
          <a:ln w="0">
            <a:noFill/>
            <a:prstDash val="solid"/>
          </a:ln>
        </p:spPr>
        <p:txBody>
          <a:bodyPr/>
          <a:p>
            <a:pPr algn="ctr">
              <a:defRPr sz="1200">
                <a:solidFill>
                  <a:srgbClr val="94A3B8"/>
                </a:solidFill>
              </a:defRPr>
            </a:pPr>
            <a:r>
              <a:rPr sz="1200">
                <a:solidFill>
                  <a:srgbClr val="94A3B8"/>
                </a:solidFill>
              </a:rPr>
              <a:t>→</a:t>
            </a:r>
            <a:endParaRPr sz="1200">
              <a:solidFill>
                <a:srgbClr val="94A3B8"/>
              </a:solidFill>
            </a:endParaRPr>
          </a:p>
        </p:txBody>
      </p:sp>
      <p:sp>
        <p:nvSpPr>
          <p:cNvPr id="91" name="矩形 90"/>
          <p:cNvSpPr/>
          <p:nvPr/>
        </p:nvSpPr>
        <p:spPr>
          <a:xfrm>
            <a:off x="5557520" y="5408930"/>
            <a:ext cx="50419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Read</a:t>
            </a:r>
            <a:endParaRPr lang="en-US" altLang="zh-CN" sz="800">
              <a:solidFill>
                <a:schemeClr val="bg1"/>
              </a:solidFill>
            </a:endParaRPr>
          </a:p>
        </p:txBody>
      </p:sp>
      <p:sp>
        <p:nvSpPr>
          <p:cNvPr id="92" name="矩形 91"/>
          <p:cNvSpPr/>
          <p:nvPr/>
        </p:nvSpPr>
        <p:spPr>
          <a:xfrm>
            <a:off x="6456045" y="5415915"/>
            <a:ext cx="84455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Modify</a:t>
            </a:r>
            <a:endParaRPr lang="en-US" altLang="zh-CN" sz="800">
              <a:solidFill>
                <a:schemeClr val="bg1"/>
              </a:solidFill>
            </a:endParaRPr>
          </a:p>
        </p:txBody>
      </p:sp>
      <p:sp>
        <p:nvSpPr>
          <p:cNvPr id="94" name="矩形 93"/>
          <p:cNvSpPr/>
          <p:nvPr/>
        </p:nvSpPr>
        <p:spPr>
          <a:xfrm>
            <a:off x="7680325" y="5408930"/>
            <a:ext cx="504190" cy="329565"/>
          </a:xfrm>
          <a:prstGeom prst="rect">
            <a:avLst/>
          </a:prstGeom>
          <a:solidFill>
            <a:schemeClr val="tx2">
              <a:lumMod val="50000"/>
              <a:lumOff val="50000"/>
            </a:schemeClr>
          </a:solidFill>
        </p:spPr>
        <p:style>
          <a:lnRef idx="3">
            <a:schemeClr val="accent1"/>
          </a:lnRef>
          <a:fillRef idx="0">
            <a:srgbClr val="FFFFFF"/>
          </a:fillRef>
          <a:effectRef idx="0">
            <a:srgbClr val="FFFFFF"/>
          </a:effectRef>
          <a:fontRef idx="minor">
            <a:schemeClr val="tx1"/>
          </a:fontRef>
        </p:style>
        <p:txBody>
          <a:bodyPr rtlCol="0" anchor="ctr"/>
          <a:p>
            <a:pPr algn="ctr"/>
            <a:r>
              <a:rPr lang="en-US" altLang="zh-CN" sz="800">
                <a:solidFill>
                  <a:schemeClr val="bg1"/>
                </a:solidFill>
              </a:rPr>
              <a:t>Write</a:t>
            </a:r>
            <a:endParaRPr lang="en-US" altLang="zh-CN" sz="800">
              <a:solidFill>
                <a:schemeClr val="bg1"/>
              </a:solidFill>
            </a:endParaRPr>
          </a:p>
        </p:txBody>
      </p:sp>
      <p:cxnSp>
        <p:nvCxnSpPr>
          <p:cNvPr id="95" name="直接箭头连接符 94"/>
          <p:cNvCxnSpPr>
            <a:stCxn id="91" idx="3"/>
            <a:endCxn id="92" idx="1"/>
          </p:cNvCxnSpPr>
          <p:nvPr/>
        </p:nvCxnSpPr>
        <p:spPr>
          <a:xfrm>
            <a:off x="6061710" y="5574030"/>
            <a:ext cx="39433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6" name="直接箭头连接符 95"/>
          <p:cNvCxnSpPr/>
          <p:nvPr/>
        </p:nvCxnSpPr>
        <p:spPr>
          <a:xfrm>
            <a:off x="7285990" y="5567680"/>
            <a:ext cx="39433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7" name="肘形连接符 96"/>
          <p:cNvCxnSpPr>
            <a:stCxn id="94" idx="0"/>
            <a:endCxn id="54" idx="3"/>
          </p:cNvCxnSpPr>
          <p:nvPr/>
        </p:nvCxnSpPr>
        <p:spPr>
          <a:xfrm rot="16200000" flipV="1">
            <a:off x="6771005" y="4247515"/>
            <a:ext cx="1711960" cy="61087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7247890" y="4149090"/>
            <a:ext cx="1751330" cy="706755"/>
          </a:xfrm>
          <a:prstGeom prst="rect">
            <a:avLst/>
          </a:prstGeom>
          <a:noFill/>
        </p:spPr>
        <p:txBody>
          <a:bodyPr wrap="square" rtlCol="0">
            <a:spAutoFit/>
          </a:bodyPr>
          <a:p>
            <a:r>
              <a:rPr lang="en-US" altLang="zh-CN" sz="1000"/>
              <a:t>online_signal</a:t>
            </a:r>
            <a:br>
              <a:rPr lang="en-US" altLang="zh-CN" sz="1000"/>
            </a:br>
            <a:r>
              <a:rPr lang="en-US" altLang="zh-CN" sz="1000"/>
              <a:t>oneline_P13N_signal</a:t>
            </a:r>
            <a:endParaRPr lang="en-US" altLang="zh-CN" sz="1000"/>
          </a:p>
          <a:p>
            <a:r>
              <a:rPr lang="en-US" altLang="zh-CN" sz="1000"/>
              <a:t>Online_query_reco_signal</a:t>
            </a:r>
            <a:br>
              <a:rPr lang="en-US" altLang="zh-CN" sz="1000"/>
            </a:br>
            <a:r>
              <a:rPr lang="en-US" altLang="zh-CN" sz="1000"/>
              <a:t>oneline_seq_signal</a:t>
            </a:r>
            <a:endParaRPr lang="en-US" altLang="zh-CN" sz="1000"/>
          </a:p>
        </p:txBody>
      </p:sp>
      <p:cxnSp>
        <p:nvCxnSpPr>
          <p:cNvPr id="99" name="肘形连接符 98"/>
          <p:cNvCxnSpPr>
            <a:stCxn id="54" idx="1"/>
            <a:endCxn id="91" idx="0"/>
          </p:cNvCxnSpPr>
          <p:nvPr/>
        </p:nvCxnSpPr>
        <p:spPr>
          <a:xfrm rot="10800000" flipV="1">
            <a:off x="5809615" y="3696970"/>
            <a:ext cx="502285" cy="171196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2927985" y="4004945"/>
            <a:ext cx="2145665" cy="1016000"/>
          </a:xfrm>
          <a:prstGeom prst="rect">
            <a:avLst/>
          </a:prstGeom>
          <a:noFill/>
        </p:spPr>
        <p:txBody>
          <a:bodyPr wrap="square" rtlCol="0">
            <a:noAutofit/>
          </a:bodyPr>
          <a:p>
            <a:r>
              <a:rPr lang="en-US" altLang="zh-CN" sz="1000" b="1"/>
              <a:t>Query_Search: </a:t>
            </a:r>
            <a:br>
              <a:rPr lang="en-US" altLang="zh-CN" sz="1000"/>
            </a:br>
            <a:r>
              <a:rPr lang="en-US" altLang="zh-CN" sz="1000"/>
              <a:t>q2emb,q2cat,q2brand</a:t>
            </a:r>
            <a:endParaRPr lang="en-US" altLang="zh-CN" sz="1000"/>
          </a:p>
          <a:p>
            <a:r>
              <a:rPr lang="en-US" altLang="zh-CN" sz="1000" b="1"/>
              <a:t>Product_meta:</a:t>
            </a:r>
            <a:endParaRPr lang="en-US" altLang="zh-CN" sz="1000" b="1"/>
          </a:p>
          <a:p>
            <a:r>
              <a:rPr lang="en-US" altLang="zh-CN" sz="1000"/>
              <a:t>Category,Brand,Price,Rating</a:t>
            </a:r>
            <a:endParaRPr lang="en-US" altLang="zh-CN" sz="1000"/>
          </a:p>
          <a:p>
            <a:r>
              <a:rPr lang="en-US" altLang="zh-CN" sz="1000" b="1"/>
              <a:t>Product_Signal:</a:t>
            </a:r>
            <a:br>
              <a:rPr lang="en-US" altLang="zh-CN" sz="1000" b="1"/>
            </a:br>
            <a:r>
              <a:rPr lang="en-US" altLang="zh-CN" sz="1000"/>
              <a:t>Embedding,NavBosst</a:t>
            </a:r>
            <a:endParaRPr lang="en-US" altLang="zh-CN"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Lambda 架构总览</a:t>
            </a:r>
            <a:endParaRPr sz="900" b="1">
              <a:solidFill>
                <a:srgbClr val="2563EB"/>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双链路特征处理架构</a:t>
            </a:r>
            <a:endParaRPr sz="2700" b="1">
              <a:solidFill>
                <a:srgbClr val="0F172A"/>
              </a:solidFill>
            </a:endParaRPr>
          </a:p>
        </p:txBody>
      </p:sp>
      <p:sp>
        <p:nvSpPr>
          <p:cNvPr id="4" name="圆角矩形 3"/>
          <p:cNvSpPr>
            <a:spLocks noGrp="1"/>
          </p:cNvSpPr>
          <p:nvPr/>
        </p:nvSpPr>
        <p:spPr>
          <a:xfrm>
            <a:off x="685800" y="1428750"/>
            <a:ext cx="3238500" cy="4857750"/>
          </a:xfrm>
          <a:prstGeom prst="roundRect">
            <a:avLst>
              <a:gd name="adj" fmla="val 3529"/>
            </a:avLst>
          </a:prstGeom>
          <a:solidFill>
            <a:srgbClr val="F5F3FF"/>
          </a:solidFill>
          <a:ln w="0">
            <a:noFill/>
            <a:prstDash val="solid"/>
          </a:ln>
        </p:spPr>
      </p:sp>
      <p:sp>
        <p:nvSpPr>
          <p:cNvPr id="5" name="矩形 4"/>
          <p:cNvSpPr>
            <a:spLocks noGrp="1"/>
          </p:cNvSpPr>
          <p:nvPr/>
        </p:nvSpPr>
        <p:spPr>
          <a:xfrm>
            <a:off x="876300" y="1619250"/>
            <a:ext cx="2857500" cy="266700"/>
          </a:xfrm>
          <a:prstGeom prst="rect">
            <a:avLst/>
          </a:prstGeom>
          <a:noFill/>
          <a:ln w="0">
            <a:noFill/>
            <a:prstDash val="solid"/>
          </a:ln>
        </p:spPr>
        <p:txBody>
          <a:bodyPr/>
          <a:lstStyle/>
          <a:p>
            <a:pPr>
              <a:defRPr sz="1350" b="1">
                <a:solidFill>
                  <a:srgbClr val="7C3AED"/>
                </a:solidFill>
              </a:defRPr>
            </a:pPr>
            <a:r>
              <a:rPr sz="1350" b="1">
                <a:solidFill>
                  <a:srgbClr val="7C3AED"/>
                </a:solidFill>
              </a:rPr>
              <a:t>实时链路</a:t>
            </a:r>
            <a:endParaRPr sz="1350" b="1">
              <a:solidFill>
                <a:srgbClr val="7C3AED"/>
              </a:solidFill>
            </a:endParaRPr>
          </a:p>
        </p:txBody>
      </p:sp>
      <p:sp>
        <p:nvSpPr>
          <p:cNvPr id="6" name="圆角矩形 5"/>
          <p:cNvSpPr>
            <a:spLocks noGrp="1"/>
          </p:cNvSpPr>
          <p:nvPr/>
        </p:nvSpPr>
        <p:spPr>
          <a:xfrm>
            <a:off x="876300" y="1962150"/>
            <a:ext cx="2857500" cy="9525"/>
          </a:xfrm>
          <a:prstGeom prst="roundRect">
            <a:avLst>
              <a:gd name="adj" fmla="val 50000"/>
            </a:avLst>
          </a:prstGeom>
          <a:solidFill>
            <a:srgbClr val="E2E8F0"/>
          </a:solidFill>
          <a:ln w="0">
            <a:noFill/>
            <a:prstDash val="solid"/>
          </a:ln>
        </p:spPr>
      </p:sp>
      <p:sp>
        <p:nvSpPr>
          <p:cNvPr id="7" name="矩形 6"/>
          <p:cNvSpPr>
            <a:spLocks noGrp="1"/>
          </p:cNvSpPr>
          <p:nvPr/>
        </p:nvSpPr>
        <p:spPr>
          <a:xfrm>
            <a:off x="8763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Kafka → 实时事件流接入</a:t>
            </a:r>
            <a:endParaRPr sz="1050" b="1">
              <a:solidFill>
                <a:srgbClr val="1E293B"/>
              </a:solidFill>
            </a:endParaRPr>
          </a:p>
        </p:txBody>
      </p:sp>
      <p:sp>
        <p:nvSpPr>
          <p:cNvPr id="8" name="矩形 7"/>
          <p:cNvSpPr>
            <a:spLocks noGrp="1"/>
          </p:cNvSpPr>
          <p:nvPr/>
        </p:nvSpPr>
        <p:spPr>
          <a:xfrm>
            <a:off x="876300" y="23622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Shuttle 数据增强与上下文补齐</a:t>
            </a:r>
            <a:endParaRPr sz="1050" b="1">
              <a:solidFill>
                <a:srgbClr val="1E293B"/>
              </a:solidFill>
            </a:endParaRPr>
          </a:p>
        </p:txBody>
      </p:sp>
      <p:sp>
        <p:nvSpPr>
          <p:cNvPr id="9" name="矩形 8"/>
          <p:cNvSpPr>
            <a:spLocks noGrp="1"/>
          </p:cNvSpPr>
          <p:nvPr/>
        </p:nvSpPr>
        <p:spPr>
          <a:xfrm>
            <a:off x="876300" y="26098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上锁机制：防并发覆盖</a:t>
            </a:r>
            <a:endParaRPr sz="1050" b="1">
              <a:solidFill>
                <a:srgbClr val="1E293B"/>
              </a:solidFill>
            </a:endParaRPr>
          </a:p>
        </p:txBody>
      </p:sp>
      <p:sp>
        <p:nvSpPr>
          <p:cNvPr id="10" name="矩形 9"/>
          <p:cNvSpPr>
            <a:spLocks noGrp="1"/>
          </p:cNvSpPr>
          <p:nvPr/>
        </p:nvSpPr>
        <p:spPr>
          <a:xfrm>
            <a:off x="876300" y="28575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Flink / Spark Streaming 计算</a:t>
            </a:r>
            <a:endParaRPr sz="1050" b="1">
              <a:solidFill>
                <a:srgbClr val="1E293B"/>
              </a:solidFill>
            </a:endParaRPr>
          </a:p>
        </p:txBody>
      </p:sp>
      <p:sp>
        <p:nvSpPr>
          <p:cNvPr id="11" name="矩形 10"/>
          <p:cNvSpPr>
            <a:spLocks noGrp="1"/>
          </p:cNvSpPr>
          <p:nvPr/>
        </p:nvSpPr>
        <p:spPr>
          <a:xfrm>
            <a:off x="876300" y="31051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Redis (7d TTL) + Cassandra (Lava)</a:t>
            </a:r>
            <a:endParaRPr sz="1050" b="1">
              <a:solidFill>
                <a:srgbClr val="1E293B"/>
              </a:solidFill>
            </a:endParaRPr>
          </a:p>
        </p:txBody>
      </p:sp>
      <p:sp>
        <p:nvSpPr>
          <p:cNvPr id="12" name="矩形 11"/>
          <p:cNvSpPr>
            <a:spLocks noGrp="1"/>
          </p:cNvSpPr>
          <p:nvPr/>
        </p:nvSpPr>
        <p:spPr>
          <a:xfrm>
            <a:off x="876300" y="33528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回流 Kafka 供下游消费</a:t>
            </a:r>
            <a:endParaRPr sz="1050" b="1">
              <a:solidFill>
                <a:srgbClr val="1E293B"/>
              </a:solidFill>
            </a:endParaRPr>
          </a:p>
        </p:txBody>
      </p:sp>
      <p:sp>
        <p:nvSpPr>
          <p:cNvPr id="13" name="圆角矩形 12"/>
          <p:cNvSpPr>
            <a:spLocks noGrp="1"/>
          </p:cNvSpPr>
          <p:nvPr/>
        </p:nvSpPr>
        <p:spPr>
          <a:xfrm>
            <a:off x="4191000" y="1428750"/>
            <a:ext cx="3238500" cy="4857750"/>
          </a:xfrm>
          <a:prstGeom prst="roundRect">
            <a:avLst>
              <a:gd name="adj" fmla="val 3529"/>
            </a:avLst>
          </a:prstGeom>
          <a:solidFill>
            <a:srgbClr val="ECFDF5"/>
          </a:solidFill>
          <a:ln w="0">
            <a:noFill/>
            <a:prstDash val="solid"/>
          </a:ln>
        </p:spPr>
      </p:sp>
      <p:sp>
        <p:nvSpPr>
          <p:cNvPr id="14" name="矩形 13"/>
          <p:cNvSpPr>
            <a:spLocks noGrp="1"/>
          </p:cNvSpPr>
          <p:nvPr/>
        </p:nvSpPr>
        <p:spPr>
          <a:xfrm>
            <a:off x="4381500" y="1619250"/>
            <a:ext cx="2857500" cy="266700"/>
          </a:xfrm>
          <a:prstGeom prst="rect">
            <a:avLst/>
          </a:prstGeom>
          <a:noFill/>
          <a:ln w="0">
            <a:noFill/>
            <a:prstDash val="solid"/>
          </a:ln>
        </p:spPr>
        <p:txBody>
          <a:bodyPr/>
          <a:lstStyle/>
          <a:p>
            <a:pPr>
              <a:defRPr sz="1350" b="1">
                <a:solidFill>
                  <a:srgbClr val="059669"/>
                </a:solidFill>
              </a:defRPr>
            </a:pPr>
            <a:r>
              <a:rPr sz="1350" b="1">
                <a:solidFill>
                  <a:srgbClr val="059669"/>
                </a:solidFill>
              </a:rPr>
              <a:t>批量链路</a:t>
            </a:r>
            <a:endParaRPr sz="1350" b="1">
              <a:solidFill>
                <a:srgbClr val="059669"/>
              </a:solidFill>
            </a:endParaRPr>
          </a:p>
        </p:txBody>
      </p:sp>
      <p:sp>
        <p:nvSpPr>
          <p:cNvPr id="15" name="圆角矩形 14"/>
          <p:cNvSpPr>
            <a:spLocks noGrp="1"/>
          </p:cNvSpPr>
          <p:nvPr/>
        </p:nvSpPr>
        <p:spPr>
          <a:xfrm>
            <a:off x="4381500" y="1962150"/>
            <a:ext cx="2857500" cy="9525"/>
          </a:xfrm>
          <a:prstGeom prst="roundRect">
            <a:avLst>
              <a:gd name="adj" fmla="val 50000"/>
            </a:avLst>
          </a:prstGeom>
          <a:solidFill>
            <a:srgbClr val="E2E8F0"/>
          </a:solidFill>
          <a:ln w="0">
            <a:noFill/>
            <a:prstDash val="solid"/>
          </a:ln>
        </p:spPr>
      </p:sp>
      <p:sp>
        <p:nvSpPr>
          <p:cNvPr id="16" name="矩形 15"/>
          <p:cNvSpPr>
            <a:spLocks noGrp="1"/>
          </p:cNvSpPr>
          <p:nvPr/>
        </p:nvSpPr>
        <p:spPr>
          <a:xfrm>
            <a:off x="43815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S3 作为数据湖起点</a:t>
            </a:r>
            <a:endParaRPr sz="1050" b="1">
              <a:solidFill>
                <a:srgbClr val="1E293B"/>
              </a:solidFill>
            </a:endParaRPr>
          </a:p>
        </p:txBody>
      </p:sp>
      <p:sp>
        <p:nvSpPr>
          <p:cNvPr id="17" name="矩形 16"/>
          <p:cNvSpPr>
            <a:spLocks noGrp="1"/>
          </p:cNvSpPr>
          <p:nvPr/>
        </p:nvSpPr>
        <p:spPr>
          <a:xfrm>
            <a:off x="4381500" y="23622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Spark ETL 数据清洗</a:t>
            </a:r>
            <a:endParaRPr sz="1050" b="1">
              <a:solidFill>
                <a:srgbClr val="1E293B"/>
              </a:solidFill>
            </a:endParaRPr>
          </a:p>
        </p:txBody>
      </p:sp>
      <p:sp>
        <p:nvSpPr>
          <p:cNvPr id="18" name="矩形 17"/>
          <p:cNvSpPr>
            <a:spLocks noGrp="1"/>
          </p:cNvSpPr>
          <p:nvPr/>
        </p:nvSpPr>
        <p:spPr>
          <a:xfrm>
            <a:off x="4381500" y="26098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Hive 全量特征计算</a:t>
            </a:r>
            <a:endParaRPr sz="1050" b="1">
              <a:solidFill>
                <a:srgbClr val="1E293B"/>
              </a:solidFill>
            </a:endParaRPr>
          </a:p>
        </p:txBody>
      </p:sp>
      <p:sp>
        <p:nvSpPr>
          <p:cNvPr id="19" name="矩形 18"/>
          <p:cNvSpPr>
            <a:spLocks noGrp="1"/>
          </p:cNvSpPr>
          <p:nvPr/>
        </p:nvSpPr>
        <p:spPr>
          <a:xfrm>
            <a:off x="4381500" y="28575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多维聚合标签 / 用户画像</a:t>
            </a:r>
            <a:endParaRPr sz="1050" b="1">
              <a:solidFill>
                <a:srgbClr val="1E293B"/>
              </a:solidFill>
            </a:endParaRPr>
          </a:p>
        </p:txBody>
      </p:sp>
      <p:sp>
        <p:nvSpPr>
          <p:cNvPr id="20" name="矩形 19"/>
          <p:cNvSpPr>
            <a:spLocks noGrp="1"/>
          </p:cNvSpPr>
          <p:nvPr/>
        </p:nvSpPr>
        <p:spPr>
          <a:xfrm>
            <a:off x="4381500" y="31051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 批量导入 Lava (Cassandra)</a:t>
            </a:r>
            <a:endParaRPr sz="1050" b="1">
              <a:solidFill>
                <a:srgbClr val="1E293B"/>
              </a:solidFill>
            </a:endParaRPr>
          </a:p>
        </p:txBody>
      </p:sp>
      <p:sp>
        <p:nvSpPr>
          <p:cNvPr id="21" name="矩形 20"/>
          <p:cNvSpPr>
            <a:spLocks noGrp="1"/>
          </p:cNvSpPr>
          <p:nvPr/>
        </p:nvSpPr>
        <p:spPr>
          <a:xfrm>
            <a:off x="4381500" y="33528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Airflow / Azkaban 调度编排</a:t>
            </a:r>
            <a:endParaRPr sz="1050" b="1">
              <a:solidFill>
                <a:srgbClr val="1E293B"/>
              </a:solidFill>
            </a:endParaRPr>
          </a:p>
        </p:txBody>
      </p:sp>
      <p:sp>
        <p:nvSpPr>
          <p:cNvPr id="22" name="圆角矩形 21"/>
          <p:cNvSpPr>
            <a:spLocks noGrp="1"/>
          </p:cNvSpPr>
          <p:nvPr/>
        </p:nvSpPr>
        <p:spPr>
          <a:xfrm>
            <a:off x="7696200" y="1428750"/>
            <a:ext cx="3238500" cy="4857750"/>
          </a:xfrm>
          <a:prstGeom prst="roundRect">
            <a:avLst>
              <a:gd name="adj" fmla="val 3529"/>
            </a:avLst>
          </a:prstGeom>
          <a:solidFill>
            <a:srgbClr val="EFF6FF"/>
          </a:solidFill>
          <a:ln w="0">
            <a:noFill/>
            <a:prstDash val="solid"/>
          </a:ln>
        </p:spPr>
      </p:sp>
      <p:sp>
        <p:nvSpPr>
          <p:cNvPr id="23" name="矩形 22"/>
          <p:cNvSpPr>
            <a:spLocks noGrp="1"/>
          </p:cNvSpPr>
          <p:nvPr/>
        </p:nvSpPr>
        <p:spPr>
          <a:xfrm>
            <a:off x="7886700" y="1619250"/>
            <a:ext cx="2857500" cy="266700"/>
          </a:xfrm>
          <a:prstGeom prst="rect">
            <a:avLst/>
          </a:prstGeom>
          <a:noFill/>
          <a:ln w="0">
            <a:noFill/>
            <a:prstDash val="solid"/>
          </a:ln>
        </p:spPr>
        <p:txBody>
          <a:bodyPr/>
          <a:lstStyle/>
          <a:p>
            <a:pPr>
              <a:defRPr sz="1350" b="1">
                <a:solidFill>
                  <a:srgbClr val="2563EB"/>
                </a:solidFill>
              </a:defRPr>
            </a:pPr>
            <a:r>
              <a:rPr sz="1350" b="1">
                <a:solidFill>
                  <a:srgbClr val="2563EB"/>
                </a:solidFill>
              </a:rPr>
              <a:t>Lava 存储体系</a:t>
            </a:r>
            <a:endParaRPr sz="1350" b="1">
              <a:solidFill>
                <a:srgbClr val="2563EB"/>
              </a:solidFill>
            </a:endParaRPr>
          </a:p>
        </p:txBody>
      </p:sp>
      <p:sp>
        <p:nvSpPr>
          <p:cNvPr id="24" name="圆角矩形 23"/>
          <p:cNvSpPr>
            <a:spLocks noGrp="1"/>
          </p:cNvSpPr>
          <p:nvPr/>
        </p:nvSpPr>
        <p:spPr>
          <a:xfrm>
            <a:off x="7886700" y="1962150"/>
            <a:ext cx="2857500" cy="9525"/>
          </a:xfrm>
          <a:prstGeom prst="roundRect">
            <a:avLst>
              <a:gd name="adj" fmla="val 50000"/>
            </a:avLst>
          </a:prstGeom>
          <a:solidFill>
            <a:srgbClr val="E2E8F0"/>
          </a:solidFill>
          <a:ln w="0">
            <a:noFill/>
            <a:prstDash val="solid"/>
          </a:ln>
        </p:spPr>
      </p:sp>
      <p:sp>
        <p:nvSpPr>
          <p:cNvPr id="25" name="矩形 24"/>
          <p:cNvSpPr>
            <a:spLocks noGrp="1"/>
          </p:cNvSpPr>
          <p:nvPr/>
        </p:nvSpPr>
        <p:spPr>
          <a:xfrm>
            <a:off x="7886700" y="21145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Redis：热数据，7天 TTL</a:t>
            </a:r>
            <a:endParaRPr sz="1050" b="1">
              <a:solidFill>
                <a:srgbClr val="1E293B"/>
              </a:solidFill>
            </a:endParaRPr>
          </a:p>
        </p:txBody>
      </p:sp>
      <p:sp>
        <p:nvSpPr>
          <p:cNvPr id="26" name="矩形 25"/>
          <p:cNvSpPr>
            <a:spLocks noGrp="1"/>
          </p:cNvSpPr>
          <p:nvPr/>
        </p:nvSpPr>
        <p:spPr>
          <a:xfrm>
            <a:off x="8039100" y="2362200"/>
            <a:ext cx="2705100" cy="209550"/>
          </a:xfrm>
          <a:prstGeom prst="rect">
            <a:avLst/>
          </a:prstGeom>
          <a:noFill/>
          <a:ln w="0">
            <a:noFill/>
            <a:prstDash val="solid"/>
          </a:ln>
        </p:spPr>
        <p:txBody>
          <a:bodyPr/>
          <a:lstStyle/>
          <a:p>
            <a:pPr>
              <a:defRPr sz="900">
                <a:solidFill>
                  <a:srgbClr val="64748B"/>
                </a:solidFill>
              </a:defRPr>
            </a:pPr>
            <a:r>
              <a:rPr sz="900">
                <a:solidFill>
                  <a:srgbClr val="64748B"/>
                </a:solidFill>
              </a:rPr>
              <a:t>实时特征、计数器、高频查询</a:t>
            </a:r>
            <a:endParaRPr sz="900">
              <a:solidFill>
                <a:srgbClr val="64748B"/>
              </a:solidFill>
            </a:endParaRPr>
          </a:p>
        </p:txBody>
      </p:sp>
      <p:sp>
        <p:nvSpPr>
          <p:cNvPr id="27" name="矩形 26"/>
          <p:cNvSpPr>
            <a:spLocks noGrp="1"/>
          </p:cNvSpPr>
          <p:nvPr/>
        </p:nvSpPr>
        <p:spPr>
          <a:xfrm>
            <a:off x="7886700" y="25717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Cassandra：持久化冷数据</a:t>
            </a:r>
            <a:endParaRPr sz="1050" b="1">
              <a:solidFill>
                <a:srgbClr val="1E293B"/>
              </a:solidFill>
            </a:endParaRPr>
          </a:p>
        </p:txBody>
      </p:sp>
      <p:sp>
        <p:nvSpPr>
          <p:cNvPr id="28" name="矩形 27"/>
          <p:cNvSpPr>
            <a:spLocks noGrp="1"/>
          </p:cNvSpPr>
          <p:nvPr/>
        </p:nvSpPr>
        <p:spPr>
          <a:xfrm>
            <a:off x="8039100" y="2819400"/>
            <a:ext cx="2705100" cy="209550"/>
          </a:xfrm>
          <a:prstGeom prst="rect">
            <a:avLst/>
          </a:prstGeom>
          <a:noFill/>
          <a:ln w="0">
            <a:noFill/>
            <a:prstDash val="solid"/>
          </a:ln>
        </p:spPr>
        <p:txBody>
          <a:bodyPr/>
          <a:lstStyle/>
          <a:p>
            <a:pPr>
              <a:defRPr sz="900">
                <a:solidFill>
                  <a:srgbClr val="64748B"/>
                </a:solidFill>
              </a:defRPr>
            </a:pPr>
            <a:r>
              <a:rPr sz="900">
                <a:solidFill>
                  <a:srgbClr val="64748B"/>
                </a:solidFill>
              </a:rPr>
              <a:t>历史特征、长窗口回溯</a:t>
            </a:r>
            <a:endParaRPr sz="900">
              <a:solidFill>
                <a:srgbClr val="64748B"/>
              </a:solidFill>
            </a:endParaRPr>
          </a:p>
        </p:txBody>
      </p:sp>
      <p:sp>
        <p:nvSpPr>
          <p:cNvPr id="29" name="矩形 28"/>
          <p:cNvSpPr>
            <a:spLocks noGrp="1"/>
          </p:cNvSpPr>
          <p:nvPr/>
        </p:nvSpPr>
        <p:spPr>
          <a:xfrm>
            <a:off x="7886700" y="302895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统一的 Key 映射与读写路由</a:t>
            </a:r>
            <a:endParaRPr sz="1050" b="1">
              <a:solidFill>
                <a:srgbClr val="1E293B"/>
              </a:solidFill>
            </a:endParaRPr>
          </a:p>
        </p:txBody>
      </p:sp>
      <p:sp>
        <p:nvSpPr>
          <p:cNvPr id="30" name="矩形 29"/>
          <p:cNvSpPr>
            <a:spLocks noGrp="1"/>
          </p:cNvSpPr>
          <p:nvPr/>
        </p:nvSpPr>
        <p:spPr>
          <a:xfrm>
            <a:off x="7886700" y="3276600"/>
            <a:ext cx="2857500" cy="209550"/>
          </a:xfrm>
          <a:prstGeom prst="rect">
            <a:avLst/>
          </a:prstGeom>
          <a:noFill/>
          <a:ln w="0">
            <a:noFill/>
            <a:prstDash val="solid"/>
          </a:ln>
        </p:spPr>
        <p:txBody>
          <a:bodyPr/>
          <a:lstStyle/>
          <a:p>
            <a:pPr>
              <a:defRPr sz="1050" b="1">
                <a:solidFill>
                  <a:srgbClr val="1E293B"/>
                </a:solidFill>
              </a:defRPr>
            </a:pPr>
            <a:r>
              <a:rPr sz="1050" b="1">
                <a:solidFill>
                  <a:srgbClr val="1E293B"/>
                </a:solidFill>
              </a:rPr>
              <a:t>离在线特征口径一致性保障</a:t>
            </a:r>
            <a:endParaRPr sz="1050" b="1">
              <a:solidFill>
                <a:srgbClr val="1E293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7C3AED"/>
                </a:solidFill>
              </a:defRPr>
            </a:pPr>
            <a:r>
              <a:rPr sz="900" b="1">
                <a:solidFill>
                  <a:srgbClr val="7C3AED"/>
                </a:solidFill>
              </a:rPr>
              <a:t>实时链路深度解析</a:t>
            </a:r>
            <a:endParaRPr sz="900" b="1">
              <a:solidFill>
                <a:srgbClr val="7C3AED"/>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Streaming 核心处理流程</a:t>
            </a:r>
            <a:endParaRPr sz="2700" b="1">
              <a:solidFill>
                <a:srgbClr val="0F172A"/>
              </a:solidFill>
            </a:endParaRPr>
          </a:p>
        </p:txBody>
      </p:sp>
      <p:sp>
        <p:nvSpPr>
          <p:cNvPr id="4" name="圆角矩形 3"/>
          <p:cNvSpPr>
            <a:spLocks noGrp="1"/>
          </p:cNvSpPr>
          <p:nvPr/>
        </p:nvSpPr>
        <p:spPr>
          <a:xfrm>
            <a:off x="533400" y="1524000"/>
            <a:ext cx="1809750" cy="1143000"/>
          </a:xfrm>
          <a:prstGeom prst="roundRect">
            <a:avLst>
              <a:gd name="adj" fmla="val 10000"/>
            </a:avLst>
          </a:prstGeom>
          <a:solidFill>
            <a:srgbClr val="FEF3C7"/>
          </a:solidFill>
          <a:ln w="19050">
            <a:solidFill>
              <a:srgbClr val="F59E0B"/>
            </a:solidFill>
            <a:prstDash val="solid"/>
          </a:ln>
        </p:spPr>
      </p:sp>
      <p:sp>
        <p:nvSpPr>
          <p:cNvPr id="5" name="矩形 4"/>
          <p:cNvSpPr>
            <a:spLocks noGrp="1"/>
          </p:cNvSpPr>
          <p:nvPr/>
        </p:nvSpPr>
        <p:spPr>
          <a:xfrm>
            <a:off x="6286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Kafka</a:t>
            </a:r>
            <a:endParaRPr sz="1200" b="1">
              <a:solidFill>
                <a:srgbClr val="1E293B"/>
              </a:solidFill>
            </a:endParaRPr>
          </a:p>
          <a:p>
            <a:pPr algn="ctr">
              <a:defRPr sz="1200" b="1">
                <a:solidFill>
                  <a:srgbClr val="1E293B"/>
                </a:solidFill>
              </a:defRPr>
            </a:pPr>
            <a:r>
              <a:rPr sz="1200" b="1">
                <a:solidFill>
                  <a:srgbClr val="1E293B"/>
                </a:solidFill>
              </a:rPr>
              <a:t>事件流</a:t>
            </a:r>
            <a:endParaRPr sz="1200" b="1">
              <a:solidFill>
                <a:srgbClr val="1E293B"/>
              </a:solidFill>
            </a:endParaRPr>
          </a:p>
        </p:txBody>
      </p:sp>
      <p:sp>
        <p:nvSpPr>
          <p:cNvPr id="6" name="矩形 5"/>
          <p:cNvSpPr>
            <a:spLocks noGrp="1"/>
          </p:cNvSpPr>
          <p:nvPr/>
        </p:nvSpPr>
        <p:spPr>
          <a:xfrm>
            <a:off x="6286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原始行为数据</a:t>
            </a:r>
            <a:endParaRPr sz="900">
              <a:solidFill>
                <a:srgbClr val="475569"/>
              </a:solidFill>
            </a:endParaRPr>
          </a:p>
        </p:txBody>
      </p:sp>
      <p:sp>
        <p:nvSpPr>
          <p:cNvPr id="7" name="圆角矩形 6"/>
          <p:cNvSpPr>
            <a:spLocks noGrp="1"/>
          </p:cNvSpPr>
          <p:nvPr/>
        </p:nvSpPr>
        <p:spPr>
          <a:xfrm>
            <a:off x="2571750" y="1524000"/>
            <a:ext cx="1809750" cy="1143000"/>
          </a:xfrm>
          <a:prstGeom prst="roundRect">
            <a:avLst>
              <a:gd name="adj" fmla="val 10000"/>
            </a:avLst>
          </a:prstGeom>
          <a:solidFill>
            <a:srgbClr val="E0E7FF"/>
          </a:solidFill>
          <a:ln w="19050">
            <a:solidFill>
              <a:srgbClr val="6366F1"/>
            </a:solidFill>
            <a:prstDash val="solid"/>
          </a:ln>
        </p:spPr>
      </p:sp>
      <p:sp>
        <p:nvSpPr>
          <p:cNvPr id="8" name="矩形 7"/>
          <p:cNvSpPr>
            <a:spLocks noGrp="1"/>
          </p:cNvSpPr>
          <p:nvPr/>
        </p:nvSpPr>
        <p:spPr>
          <a:xfrm>
            <a:off x="266700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Shuttle</a:t>
            </a:r>
            <a:endParaRPr sz="1200" b="1">
              <a:solidFill>
                <a:srgbClr val="1E293B"/>
              </a:solidFill>
            </a:endParaRPr>
          </a:p>
          <a:p>
            <a:pPr algn="ctr">
              <a:defRPr sz="1200" b="1">
                <a:solidFill>
                  <a:srgbClr val="1E293B"/>
                </a:solidFill>
              </a:defRPr>
            </a:pPr>
            <a:r>
              <a:rPr sz="1200" b="1">
                <a:solidFill>
                  <a:srgbClr val="1E293B"/>
                </a:solidFill>
              </a:rPr>
              <a:t>数据增强</a:t>
            </a:r>
            <a:endParaRPr sz="1200" b="1">
              <a:solidFill>
                <a:srgbClr val="1E293B"/>
              </a:solidFill>
            </a:endParaRPr>
          </a:p>
        </p:txBody>
      </p:sp>
      <p:sp>
        <p:nvSpPr>
          <p:cNvPr id="9" name="矩形 8"/>
          <p:cNvSpPr>
            <a:spLocks noGrp="1"/>
          </p:cNvSpPr>
          <p:nvPr/>
        </p:nvSpPr>
        <p:spPr>
          <a:xfrm>
            <a:off x="266700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上下文补齐</a:t>
            </a:r>
            <a:endParaRPr sz="900">
              <a:solidFill>
                <a:srgbClr val="475569"/>
              </a:solidFill>
            </a:endParaRPr>
          </a:p>
          <a:p>
            <a:pPr algn="ctr">
              <a:defRPr sz="900">
                <a:solidFill>
                  <a:srgbClr val="475569"/>
                </a:solidFill>
              </a:defRPr>
            </a:pPr>
            <a:r>
              <a:rPr sz="900">
                <a:solidFill>
                  <a:srgbClr val="475569"/>
                </a:solidFill>
              </a:rPr>
              <a:t>维度扩充</a:t>
            </a:r>
            <a:endParaRPr sz="900">
              <a:solidFill>
                <a:srgbClr val="475569"/>
              </a:solidFill>
            </a:endParaRPr>
          </a:p>
        </p:txBody>
      </p:sp>
      <p:sp>
        <p:nvSpPr>
          <p:cNvPr id="10" name="圆角矩形 9"/>
          <p:cNvSpPr>
            <a:spLocks noGrp="1"/>
          </p:cNvSpPr>
          <p:nvPr/>
        </p:nvSpPr>
        <p:spPr>
          <a:xfrm>
            <a:off x="4610100" y="1524000"/>
            <a:ext cx="1809750" cy="1143000"/>
          </a:xfrm>
          <a:prstGeom prst="roundRect">
            <a:avLst>
              <a:gd name="adj" fmla="val 10000"/>
            </a:avLst>
          </a:prstGeom>
          <a:solidFill>
            <a:srgbClr val="FCE7F3"/>
          </a:solidFill>
          <a:ln w="19050">
            <a:solidFill>
              <a:srgbClr val="EC4899"/>
            </a:solidFill>
            <a:prstDash val="solid"/>
          </a:ln>
        </p:spPr>
      </p:sp>
      <p:sp>
        <p:nvSpPr>
          <p:cNvPr id="11" name="矩形 10"/>
          <p:cNvSpPr>
            <a:spLocks noGrp="1"/>
          </p:cNvSpPr>
          <p:nvPr/>
        </p:nvSpPr>
        <p:spPr>
          <a:xfrm>
            <a:off x="47053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上锁处理</a:t>
            </a:r>
            <a:endParaRPr sz="1200" b="1">
              <a:solidFill>
                <a:srgbClr val="1E293B"/>
              </a:solidFill>
            </a:endParaRPr>
          </a:p>
          <a:p>
            <a:pPr algn="ctr">
              <a:defRPr sz="1200" b="1">
                <a:solidFill>
                  <a:srgbClr val="1E293B"/>
                </a:solidFill>
              </a:defRPr>
            </a:pPr>
            <a:r>
              <a:rPr sz="1200" b="1">
                <a:solidFill>
                  <a:srgbClr val="1E293B"/>
                </a:solidFill>
              </a:rPr>
              <a:t>(Lock)</a:t>
            </a:r>
            <a:endParaRPr sz="1200" b="1">
              <a:solidFill>
                <a:srgbClr val="1E293B"/>
              </a:solidFill>
            </a:endParaRPr>
          </a:p>
        </p:txBody>
      </p:sp>
      <p:sp>
        <p:nvSpPr>
          <p:cNvPr id="12" name="矩形 11"/>
          <p:cNvSpPr>
            <a:spLocks noGrp="1"/>
          </p:cNvSpPr>
          <p:nvPr/>
        </p:nvSpPr>
        <p:spPr>
          <a:xfrm>
            <a:off x="47053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特征级互斥锁</a:t>
            </a:r>
            <a:endParaRPr sz="900">
              <a:solidFill>
                <a:srgbClr val="475569"/>
              </a:solidFill>
            </a:endParaRPr>
          </a:p>
          <a:p>
            <a:pPr algn="ctr">
              <a:defRPr sz="900">
                <a:solidFill>
                  <a:srgbClr val="475569"/>
                </a:solidFill>
              </a:defRPr>
            </a:pPr>
            <a:r>
              <a:rPr sz="900">
                <a:solidFill>
                  <a:srgbClr val="475569"/>
                </a:solidFill>
              </a:rPr>
              <a:t>防止并发覆盖</a:t>
            </a:r>
            <a:endParaRPr sz="900">
              <a:solidFill>
                <a:srgbClr val="475569"/>
              </a:solidFill>
            </a:endParaRPr>
          </a:p>
        </p:txBody>
      </p:sp>
      <p:sp>
        <p:nvSpPr>
          <p:cNvPr id="13" name="圆角矩形 12"/>
          <p:cNvSpPr>
            <a:spLocks noGrp="1"/>
          </p:cNvSpPr>
          <p:nvPr/>
        </p:nvSpPr>
        <p:spPr>
          <a:xfrm>
            <a:off x="6648450" y="1524000"/>
            <a:ext cx="1809750" cy="1143000"/>
          </a:xfrm>
          <a:prstGeom prst="roundRect">
            <a:avLst>
              <a:gd name="adj" fmla="val 10000"/>
            </a:avLst>
          </a:prstGeom>
          <a:solidFill>
            <a:srgbClr val="F5F3FF"/>
          </a:solidFill>
          <a:ln w="19050">
            <a:solidFill>
              <a:srgbClr val="8B5CF6"/>
            </a:solidFill>
            <a:prstDash val="solid"/>
          </a:ln>
        </p:spPr>
      </p:sp>
      <p:sp>
        <p:nvSpPr>
          <p:cNvPr id="14" name="矩形 13"/>
          <p:cNvSpPr>
            <a:spLocks noGrp="1"/>
          </p:cNvSpPr>
          <p:nvPr/>
        </p:nvSpPr>
        <p:spPr>
          <a:xfrm>
            <a:off x="674370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Flink</a:t>
            </a:r>
            <a:endParaRPr sz="1200" b="1">
              <a:solidFill>
                <a:srgbClr val="1E293B"/>
              </a:solidFill>
            </a:endParaRPr>
          </a:p>
          <a:p>
            <a:pPr algn="ctr">
              <a:defRPr sz="1200" b="1">
                <a:solidFill>
                  <a:srgbClr val="1E293B"/>
                </a:solidFill>
              </a:defRPr>
            </a:pPr>
            <a:r>
              <a:rPr sz="1200" b="1">
                <a:solidFill>
                  <a:srgbClr val="1E293B"/>
                </a:solidFill>
              </a:rPr>
              <a:t>计算</a:t>
            </a:r>
            <a:endParaRPr sz="1200" b="1">
              <a:solidFill>
                <a:srgbClr val="1E293B"/>
              </a:solidFill>
            </a:endParaRPr>
          </a:p>
        </p:txBody>
      </p:sp>
      <p:sp>
        <p:nvSpPr>
          <p:cNvPr id="15" name="矩形 14"/>
          <p:cNvSpPr>
            <a:spLocks noGrp="1"/>
          </p:cNvSpPr>
          <p:nvPr/>
        </p:nvSpPr>
        <p:spPr>
          <a:xfrm>
            <a:off x="674370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窗口聚合</a:t>
            </a:r>
            <a:endParaRPr sz="900">
              <a:solidFill>
                <a:srgbClr val="475569"/>
              </a:solidFill>
            </a:endParaRPr>
          </a:p>
          <a:p>
            <a:pPr algn="ctr">
              <a:defRPr sz="900">
                <a:solidFill>
                  <a:srgbClr val="475569"/>
                </a:solidFill>
              </a:defRPr>
            </a:pPr>
            <a:r>
              <a:rPr sz="900">
                <a:solidFill>
                  <a:srgbClr val="475569"/>
                </a:solidFill>
              </a:rPr>
              <a:t>实时特征</a:t>
            </a:r>
            <a:endParaRPr sz="900">
              <a:solidFill>
                <a:srgbClr val="475569"/>
              </a:solidFill>
            </a:endParaRPr>
          </a:p>
        </p:txBody>
      </p:sp>
      <p:sp>
        <p:nvSpPr>
          <p:cNvPr id="16" name="圆角矩形 15"/>
          <p:cNvSpPr>
            <a:spLocks noGrp="1"/>
          </p:cNvSpPr>
          <p:nvPr/>
        </p:nvSpPr>
        <p:spPr>
          <a:xfrm>
            <a:off x="8686800" y="1524000"/>
            <a:ext cx="1809750" cy="1143000"/>
          </a:xfrm>
          <a:prstGeom prst="roundRect">
            <a:avLst>
              <a:gd name="adj" fmla="val 10000"/>
            </a:avLst>
          </a:prstGeom>
          <a:solidFill>
            <a:srgbClr val="ECFDF5"/>
          </a:solidFill>
          <a:ln w="19050">
            <a:solidFill>
              <a:srgbClr val="10B981"/>
            </a:solidFill>
            <a:prstDash val="solid"/>
          </a:ln>
        </p:spPr>
      </p:sp>
      <p:sp>
        <p:nvSpPr>
          <p:cNvPr id="17" name="矩形 16"/>
          <p:cNvSpPr>
            <a:spLocks noGrp="1"/>
          </p:cNvSpPr>
          <p:nvPr/>
        </p:nvSpPr>
        <p:spPr>
          <a:xfrm>
            <a:off x="8782050" y="1600200"/>
            <a:ext cx="1619250" cy="457200"/>
          </a:xfrm>
          <a:prstGeom prst="rect">
            <a:avLst/>
          </a:prstGeom>
          <a:noFill/>
          <a:ln w="0">
            <a:noFill/>
            <a:prstDash val="solid"/>
          </a:ln>
        </p:spPr>
        <p:txBody>
          <a:bodyPr/>
          <a:lstStyle/>
          <a:p>
            <a:pPr algn="ctr">
              <a:defRPr sz="1200" b="1">
                <a:solidFill>
                  <a:srgbClr val="1E293B"/>
                </a:solidFill>
              </a:defRPr>
            </a:pPr>
            <a:r>
              <a:rPr sz="1200" b="1">
                <a:solidFill>
                  <a:srgbClr val="1E293B"/>
                </a:solidFill>
              </a:rPr>
              <a:t>双出口</a:t>
            </a:r>
            <a:endParaRPr sz="1200" b="1">
              <a:solidFill>
                <a:srgbClr val="1E293B"/>
              </a:solidFill>
            </a:endParaRPr>
          </a:p>
          <a:p>
            <a:pPr algn="ctr">
              <a:defRPr sz="1200" b="1">
                <a:solidFill>
                  <a:srgbClr val="1E293B"/>
                </a:solidFill>
              </a:defRPr>
            </a:pPr>
            <a:r>
              <a:rPr sz="1200" b="1">
                <a:solidFill>
                  <a:srgbClr val="1E293B"/>
                </a:solidFill>
              </a:rPr>
              <a:t>Sink</a:t>
            </a:r>
            <a:endParaRPr sz="1200" b="1">
              <a:solidFill>
                <a:srgbClr val="1E293B"/>
              </a:solidFill>
            </a:endParaRPr>
          </a:p>
        </p:txBody>
      </p:sp>
      <p:sp>
        <p:nvSpPr>
          <p:cNvPr id="18" name="矩形 17"/>
          <p:cNvSpPr>
            <a:spLocks noGrp="1"/>
          </p:cNvSpPr>
          <p:nvPr/>
        </p:nvSpPr>
        <p:spPr>
          <a:xfrm>
            <a:off x="8782050" y="2076450"/>
            <a:ext cx="1619250" cy="476250"/>
          </a:xfrm>
          <a:prstGeom prst="rect">
            <a:avLst/>
          </a:prstGeom>
          <a:noFill/>
          <a:ln w="0">
            <a:noFill/>
            <a:prstDash val="solid"/>
          </a:ln>
        </p:spPr>
        <p:txBody>
          <a:bodyPr/>
          <a:lstStyle/>
          <a:p>
            <a:pPr algn="ctr">
              <a:defRPr sz="900">
                <a:solidFill>
                  <a:srgbClr val="475569"/>
                </a:solidFill>
              </a:defRPr>
            </a:pPr>
            <a:r>
              <a:rPr sz="900">
                <a:solidFill>
                  <a:srgbClr val="475569"/>
                </a:solidFill>
              </a:rPr>
              <a:t>→ Lava</a:t>
            </a:r>
            <a:endParaRPr sz="900">
              <a:solidFill>
                <a:srgbClr val="475569"/>
              </a:solidFill>
            </a:endParaRPr>
          </a:p>
          <a:p>
            <a:pPr algn="ctr">
              <a:defRPr sz="900">
                <a:solidFill>
                  <a:srgbClr val="475569"/>
                </a:solidFill>
              </a:defRPr>
            </a:pPr>
            <a:r>
              <a:rPr sz="900">
                <a:solidFill>
                  <a:srgbClr val="475569"/>
                </a:solidFill>
              </a:rPr>
              <a:t>→ Kafka</a:t>
            </a:r>
            <a:endParaRPr sz="900">
              <a:solidFill>
                <a:srgbClr val="475569"/>
              </a:solidFill>
            </a:endParaRPr>
          </a:p>
        </p:txBody>
      </p:sp>
      <p:sp>
        <p:nvSpPr>
          <p:cNvPr id="19" name="矩形 18"/>
          <p:cNvSpPr>
            <a:spLocks noGrp="1"/>
          </p:cNvSpPr>
          <p:nvPr/>
        </p:nvSpPr>
        <p:spPr>
          <a:xfrm>
            <a:off x="234315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0" name="矩形 19"/>
          <p:cNvSpPr>
            <a:spLocks noGrp="1"/>
          </p:cNvSpPr>
          <p:nvPr/>
        </p:nvSpPr>
        <p:spPr>
          <a:xfrm>
            <a:off x="438150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1" name="矩形 20"/>
          <p:cNvSpPr>
            <a:spLocks noGrp="1"/>
          </p:cNvSpPr>
          <p:nvPr/>
        </p:nvSpPr>
        <p:spPr>
          <a:xfrm>
            <a:off x="641985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2" name="矩形 21"/>
          <p:cNvSpPr>
            <a:spLocks noGrp="1"/>
          </p:cNvSpPr>
          <p:nvPr/>
        </p:nvSpPr>
        <p:spPr>
          <a:xfrm>
            <a:off x="8458200" y="1905000"/>
            <a:ext cx="228600" cy="228600"/>
          </a:xfrm>
          <a:prstGeom prst="rect">
            <a:avLst/>
          </a:prstGeom>
          <a:noFill/>
          <a:ln w="0">
            <a:noFill/>
            <a:prstDash val="solid"/>
          </a:ln>
        </p:spPr>
        <p:txBody>
          <a:bodyPr/>
          <a:lstStyle/>
          <a:p>
            <a:pPr algn="ctr">
              <a:defRPr sz="1350">
                <a:solidFill>
                  <a:srgbClr val="94A3B8"/>
                </a:solidFill>
              </a:defRPr>
            </a:pPr>
            <a:r>
              <a:rPr sz="1350">
                <a:solidFill>
                  <a:srgbClr val="94A3B8"/>
                </a:solidFill>
              </a:rPr>
              <a:t>→</a:t>
            </a:r>
            <a:endParaRPr sz="1350">
              <a:solidFill>
                <a:srgbClr val="94A3B8"/>
              </a:solidFill>
            </a:endParaRPr>
          </a:p>
        </p:txBody>
      </p:sp>
      <p:sp>
        <p:nvSpPr>
          <p:cNvPr id="23" name="圆角矩形 22"/>
          <p:cNvSpPr>
            <a:spLocks noGrp="1"/>
          </p:cNvSpPr>
          <p:nvPr/>
        </p:nvSpPr>
        <p:spPr>
          <a:xfrm>
            <a:off x="685800" y="3238500"/>
            <a:ext cx="5181600" cy="914400"/>
          </a:xfrm>
          <a:prstGeom prst="roundRect">
            <a:avLst>
              <a:gd name="adj" fmla="val 12500"/>
            </a:avLst>
          </a:prstGeom>
          <a:solidFill>
            <a:srgbClr val="FFFFFF"/>
          </a:solidFill>
          <a:ln w="19050">
            <a:solidFill>
              <a:srgbClr val="E2E8F0"/>
            </a:solidFill>
            <a:prstDash val="solid"/>
          </a:ln>
        </p:spPr>
      </p:sp>
      <p:sp>
        <p:nvSpPr>
          <p:cNvPr id="24" name="矩形 23"/>
          <p:cNvSpPr>
            <a:spLocks noGrp="1"/>
          </p:cNvSpPr>
          <p:nvPr/>
        </p:nvSpPr>
        <p:spPr>
          <a:xfrm>
            <a:off x="876300" y="33528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① Kafka 接入</a:t>
            </a:r>
            <a:endParaRPr sz="1125" b="1">
              <a:solidFill>
                <a:srgbClr val="0F172A"/>
              </a:solidFill>
            </a:endParaRPr>
          </a:p>
        </p:txBody>
      </p:sp>
      <p:sp>
        <p:nvSpPr>
          <p:cNvPr id="25" name="矩形 24"/>
          <p:cNvSpPr>
            <a:spLocks noGrp="1"/>
          </p:cNvSpPr>
          <p:nvPr/>
        </p:nvSpPr>
        <p:spPr>
          <a:xfrm>
            <a:off x="876300" y="36385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埋点和业务事件流统一接入，作为实时链路的数据总线</a:t>
            </a:r>
            <a:endParaRPr sz="975">
              <a:solidFill>
                <a:srgbClr val="475569"/>
              </a:solidFill>
            </a:endParaRPr>
          </a:p>
        </p:txBody>
      </p:sp>
      <p:sp>
        <p:nvSpPr>
          <p:cNvPr id="26" name="圆角矩形 25"/>
          <p:cNvSpPr>
            <a:spLocks noGrp="1"/>
          </p:cNvSpPr>
          <p:nvPr/>
        </p:nvSpPr>
        <p:spPr>
          <a:xfrm>
            <a:off x="6134100" y="3238500"/>
            <a:ext cx="5181600" cy="914400"/>
          </a:xfrm>
          <a:prstGeom prst="roundRect">
            <a:avLst>
              <a:gd name="adj" fmla="val 12500"/>
            </a:avLst>
          </a:prstGeom>
          <a:solidFill>
            <a:srgbClr val="FFFFFF"/>
          </a:solidFill>
          <a:ln w="19050">
            <a:solidFill>
              <a:srgbClr val="E2E8F0"/>
            </a:solidFill>
            <a:prstDash val="solid"/>
          </a:ln>
        </p:spPr>
      </p:sp>
      <p:sp>
        <p:nvSpPr>
          <p:cNvPr id="27" name="矩形 26"/>
          <p:cNvSpPr>
            <a:spLocks noGrp="1"/>
          </p:cNvSpPr>
          <p:nvPr/>
        </p:nvSpPr>
        <p:spPr>
          <a:xfrm>
            <a:off x="6324600" y="33528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② Shuttle 增强</a:t>
            </a:r>
            <a:endParaRPr sz="1125" b="1">
              <a:solidFill>
                <a:srgbClr val="0F172A"/>
              </a:solidFill>
            </a:endParaRPr>
          </a:p>
        </p:txBody>
      </p:sp>
      <p:sp>
        <p:nvSpPr>
          <p:cNvPr id="28" name="矩形 27"/>
          <p:cNvSpPr>
            <a:spLocks noGrp="1"/>
          </p:cNvSpPr>
          <p:nvPr/>
        </p:nvSpPr>
        <p:spPr>
          <a:xfrm>
            <a:off x="6324600" y="36385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原始数据经过 Shuttle 层进行上下文补齐和维度字段增强，丰富弱特征</a:t>
            </a:r>
            <a:endParaRPr sz="975">
              <a:solidFill>
                <a:srgbClr val="475569"/>
              </a:solidFill>
            </a:endParaRPr>
          </a:p>
        </p:txBody>
      </p:sp>
      <p:sp>
        <p:nvSpPr>
          <p:cNvPr id="29" name="圆角矩形 28"/>
          <p:cNvSpPr>
            <a:spLocks noGrp="1"/>
          </p:cNvSpPr>
          <p:nvPr/>
        </p:nvSpPr>
        <p:spPr>
          <a:xfrm>
            <a:off x="685800" y="4286250"/>
            <a:ext cx="5181600" cy="914400"/>
          </a:xfrm>
          <a:prstGeom prst="roundRect">
            <a:avLst>
              <a:gd name="adj" fmla="val 12500"/>
            </a:avLst>
          </a:prstGeom>
          <a:solidFill>
            <a:srgbClr val="FFFFFF"/>
          </a:solidFill>
          <a:ln w="19050">
            <a:solidFill>
              <a:srgbClr val="E2E8F0"/>
            </a:solidFill>
            <a:prstDash val="solid"/>
          </a:ln>
        </p:spPr>
      </p:sp>
      <p:sp>
        <p:nvSpPr>
          <p:cNvPr id="30" name="矩形 29"/>
          <p:cNvSpPr>
            <a:spLocks noGrp="1"/>
          </p:cNvSpPr>
          <p:nvPr/>
        </p:nvSpPr>
        <p:spPr>
          <a:xfrm>
            <a:off x="876300" y="440055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③ 上锁机制</a:t>
            </a:r>
            <a:endParaRPr sz="1125" b="1">
              <a:solidFill>
                <a:srgbClr val="0F172A"/>
              </a:solidFill>
            </a:endParaRPr>
          </a:p>
        </p:txBody>
      </p:sp>
      <p:sp>
        <p:nvSpPr>
          <p:cNvPr id="31" name="矩形 30"/>
          <p:cNvSpPr>
            <a:spLocks noGrp="1"/>
          </p:cNvSpPr>
          <p:nvPr/>
        </p:nvSpPr>
        <p:spPr>
          <a:xfrm>
            <a:off x="876300" y="468630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处理同一特征时加互斥锁，防止并发写覆盖；保证特征更新的原子性和一致性</a:t>
            </a:r>
            <a:endParaRPr sz="975">
              <a:solidFill>
                <a:srgbClr val="475569"/>
              </a:solidFill>
            </a:endParaRPr>
          </a:p>
        </p:txBody>
      </p:sp>
      <p:sp>
        <p:nvSpPr>
          <p:cNvPr id="32" name="圆角矩形 31"/>
          <p:cNvSpPr>
            <a:spLocks noGrp="1"/>
          </p:cNvSpPr>
          <p:nvPr/>
        </p:nvSpPr>
        <p:spPr>
          <a:xfrm>
            <a:off x="6134100" y="4286250"/>
            <a:ext cx="5181600" cy="914400"/>
          </a:xfrm>
          <a:prstGeom prst="roundRect">
            <a:avLst>
              <a:gd name="adj" fmla="val 12500"/>
            </a:avLst>
          </a:prstGeom>
          <a:solidFill>
            <a:srgbClr val="FFFFFF"/>
          </a:solidFill>
          <a:ln w="19050">
            <a:solidFill>
              <a:srgbClr val="E2E8F0"/>
            </a:solidFill>
            <a:prstDash val="solid"/>
          </a:ln>
        </p:spPr>
      </p:sp>
      <p:sp>
        <p:nvSpPr>
          <p:cNvPr id="33" name="矩形 32"/>
          <p:cNvSpPr>
            <a:spLocks noGrp="1"/>
          </p:cNvSpPr>
          <p:nvPr/>
        </p:nvSpPr>
        <p:spPr>
          <a:xfrm>
            <a:off x="6324600" y="440055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④ Flink 计算</a:t>
            </a:r>
            <a:endParaRPr sz="1125" b="1">
              <a:solidFill>
                <a:srgbClr val="0F172A"/>
              </a:solidFill>
            </a:endParaRPr>
          </a:p>
        </p:txBody>
      </p:sp>
      <p:sp>
        <p:nvSpPr>
          <p:cNvPr id="34" name="矩形 33"/>
          <p:cNvSpPr>
            <a:spLocks noGrp="1"/>
          </p:cNvSpPr>
          <p:nvPr/>
        </p:nvSpPr>
        <p:spPr>
          <a:xfrm>
            <a:off x="6324600" y="468630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滑动窗口、计数器和复杂事件处理，产出实时特征</a:t>
            </a:r>
            <a:endParaRPr sz="975">
              <a:solidFill>
                <a:srgbClr val="475569"/>
              </a:solidFill>
            </a:endParaRPr>
          </a:p>
        </p:txBody>
      </p:sp>
      <p:sp>
        <p:nvSpPr>
          <p:cNvPr id="35" name="圆角矩形 34"/>
          <p:cNvSpPr>
            <a:spLocks noGrp="1"/>
          </p:cNvSpPr>
          <p:nvPr/>
        </p:nvSpPr>
        <p:spPr>
          <a:xfrm>
            <a:off x="685800" y="5334000"/>
            <a:ext cx="5181600" cy="914400"/>
          </a:xfrm>
          <a:prstGeom prst="roundRect">
            <a:avLst>
              <a:gd name="adj" fmla="val 12500"/>
            </a:avLst>
          </a:prstGeom>
          <a:solidFill>
            <a:srgbClr val="FFFFFF"/>
          </a:solidFill>
          <a:ln w="19050">
            <a:solidFill>
              <a:srgbClr val="E2E8F0"/>
            </a:solidFill>
            <a:prstDash val="solid"/>
          </a:ln>
        </p:spPr>
      </p:sp>
      <p:sp>
        <p:nvSpPr>
          <p:cNvPr id="36" name="矩形 35"/>
          <p:cNvSpPr>
            <a:spLocks noGrp="1"/>
          </p:cNvSpPr>
          <p:nvPr/>
        </p:nvSpPr>
        <p:spPr>
          <a:xfrm>
            <a:off x="876300" y="5448300"/>
            <a:ext cx="4762500" cy="228600"/>
          </a:xfrm>
          <a:prstGeom prst="rect">
            <a:avLst/>
          </a:prstGeom>
          <a:noFill/>
          <a:ln w="0">
            <a:noFill/>
            <a:prstDash val="solid"/>
          </a:ln>
        </p:spPr>
        <p:txBody>
          <a:bodyPr/>
          <a:lstStyle/>
          <a:p>
            <a:pPr>
              <a:defRPr sz="1125" b="1">
                <a:solidFill>
                  <a:srgbClr val="0F172A"/>
                </a:solidFill>
              </a:defRPr>
            </a:pPr>
            <a:r>
              <a:rPr sz="1125" b="1">
                <a:solidFill>
                  <a:srgbClr val="0F172A"/>
                </a:solidFill>
              </a:rPr>
              <a:t>⑤ 双出口 Sink</a:t>
            </a:r>
            <a:endParaRPr sz="1125" b="1">
              <a:solidFill>
                <a:srgbClr val="0F172A"/>
              </a:solidFill>
            </a:endParaRPr>
          </a:p>
        </p:txBody>
      </p:sp>
      <p:sp>
        <p:nvSpPr>
          <p:cNvPr id="37" name="矩形 36"/>
          <p:cNvSpPr>
            <a:spLocks noGrp="1"/>
          </p:cNvSpPr>
          <p:nvPr/>
        </p:nvSpPr>
        <p:spPr>
          <a:xfrm>
            <a:off x="876300" y="5734050"/>
            <a:ext cx="4762500" cy="381000"/>
          </a:xfrm>
          <a:prstGeom prst="rect">
            <a:avLst/>
          </a:prstGeom>
          <a:noFill/>
          <a:ln w="0">
            <a:noFill/>
            <a:prstDash val="solid"/>
          </a:ln>
        </p:spPr>
        <p:txBody>
          <a:bodyPr/>
          <a:lstStyle/>
          <a:p>
            <a:pPr>
              <a:defRPr sz="975">
                <a:solidFill>
                  <a:srgbClr val="475569"/>
                </a:solidFill>
              </a:defRPr>
            </a:pPr>
            <a:r>
              <a:rPr sz="975">
                <a:solidFill>
                  <a:srgbClr val="475569"/>
                </a:solidFill>
              </a:rPr>
              <a:t>特征写回 Lava（Redis + Cassandra），同时结果回流 Kafka 供其他系统订阅</a:t>
            </a:r>
            <a:endParaRPr sz="975">
              <a:solidFill>
                <a:srgbClr val="47556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数据接入层</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sz="2700" b="1">
                <a:solidFill>
                  <a:srgbClr val="0F172A"/>
                </a:solidFill>
              </a:rPr>
              <a:t>数据源与采集</a:t>
            </a:r>
            <a:endParaRPr sz="2700" b="1">
              <a:solidFill>
                <a:srgbClr val="0F172A"/>
              </a:solidFill>
            </a:endParaRPr>
          </a:p>
        </p:txBody>
      </p:sp>
      <p:sp>
        <p:nvSpPr>
          <p:cNvPr id="4" name="圆角矩形 3"/>
          <p:cNvSpPr>
            <a:spLocks noGrp="1"/>
          </p:cNvSpPr>
          <p:nvPr/>
        </p:nvSpPr>
        <p:spPr>
          <a:xfrm>
            <a:off x="685800" y="1143000"/>
            <a:ext cx="762000" cy="28575"/>
          </a:xfrm>
          <a:prstGeom prst="roundRect">
            <a:avLst>
              <a:gd name="adj" fmla="val 50000"/>
            </a:avLst>
          </a:prstGeom>
          <a:solidFill>
            <a:srgbClr val="3B82F6"/>
          </a:solidFill>
          <a:ln w="0">
            <a:noFill/>
            <a:prstDash val="solid"/>
          </a:ln>
        </p:spPr>
      </p:sp>
      <p:sp>
        <p:nvSpPr>
          <p:cNvPr id="5" name="圆角矩形 4"/>
          <p:cNvSpPr>
            <a:spLocks noGrp="1"/>
          </p:cNvSpPr>
          <p:nvPr/>
        </p:nvSpPr>
        <p:spPr>
          <a:xfrm>
            <a:off x="685800" y="1524000"/>
            <a:ext cx="5181600" cy="2476500"/>
          </a:xfrm>
          <a:prstGeom prst="roundRect">
            <a:avLst>
              <a:gd name="adj" fmla="val 4615"/>
            </a:avLst>
          </a:prstGeom>
          <a:solidFill>
            <a:srgbClr val="F5F3FF"/>
          </a:solidFill>
          <a:ln w="0">
            <a:noFill/>
            <a:prstDash val="solid"/>
          </a:ln>
        </p:spPr>
      </p:sp>
      <p:sp>
        <p:nvSpPr>
          <p:cNvPr id="6" name="矩形 5"/>
          <p:cNvSpPr>
            <a:spLocks noGrp="1"/>
          </p:cNvSpPr>
          <p:nvPr/>
        </p:nvSpPr>
        <p:spPr>
          <a:xfrm>
            <a:off x="876300" y="1638300"/>
            <a:ext cx="1905000" cy="228600"/>
          </a:xfrm>
          <a:prstGeom prst="rect">
            <a:avLst/>
          </a:prstGeom>
          <a:noFill/>
          <a:ln w="0">
            <a:noFill/>
            <a:prstDash val="solid"/>
          </a:ln>
        </p:spPr>
        <p:txBody>
          <a:bodyPr/>
          <a:lstStyle/>
          <a:p>
            <a:pPr>
              <a:defRPr sz="1200" b="1">
                <a:solidFill>
                  <a:srgbClr val="7C3AED"/>
                </a:solidFill>
              </a:defRPr>
            </a:pPr>
            <a:r>
              <a:rPr sz="1200" b="1">
                <a:solidFill>
                  <a:srgbClr val="7C3AED"/>
                </a:solidFill>
              </a:rPr>
              <a:t>实时数据源 → Kafka</a:t>
            </a:r>
            <a:endParaRPr sz="1200" b="1">
              <a:solidFill>
                <a:srgbClr val="7C3AED"/>
              </a:solidFill>
            </a:endParaRPr>
          </a:p>
        </p:txBody>
      </p:sp>
      <p:sp>
        <p:nvSpPr>
          <p:cNvPr id="7" name="矩形 6"/>
          <p:cNvSpPr>
            <a:spLocks noGrp="1"/>
          </p:cNvSpPr>
          <p:nvPr/>
        </p:nvSpPr>
        <p:spPr>
          <a:xfrm>
            <a:off x="876300" y="1981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页面浏览日志</a:t>
            </a:r>
            <a:endParaRPr sz="1050" b="1">
              <a:solidFill>
                <a:srgbClr val="0F172A"/>
              </a:solidFill>
            </a:endParaRPr>
          </a:p>
        </p:txBody>
      </p:sp>
      <p:sp>
        <p:nvSpPr>
          <p:cNvPr id="8" name="矩形 7"/>
          <p:cNvSpPr>
            <a:spLocks noGrp="1"/>
          </p:cNvSpPr>
          <p:nvPr/>
        </p:nvSpPr>
        <p:spPr>
          <a:xfrm>
            <a:off x="1028700" y="2228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用户 PV/UV、浏览深度、停留时间；通过前端 SDK 实时上报 → Kafka</a:t>
            </a:r>
            <a:endParaRPr sz="900">
              <a:solidFill>
                <a:srgbClr val="475569"/>
              </a:solidFill>
            </a:endParaRPr>
          </a:p>
        </p:txBody>
      </p:sp>
      <p:sp>
        <p:nvSpPr>
          <p:cNvPr id="9" name="矩形 8"/>
          <p:cNvSpPr>
            <a:spLocks noGrp="1"/>
          </p:cNvSpPr>
          <p:nvPr/>
        </p:nvSpPr>
        <p:spPr>
          <a:xfrm>
            <a:off x="876300" y="2743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点击行为日志</a:t>
            </a:r>
            <a:endParaRPr sz="1050" b="1">
              <a:solidFill>
                <a:srgbClr val="0F172A"/>
              </a:solidFill>
            </a:endParaRPr>
          </a:p>
        </p:txBody>
      </p:sp>
      <p:sp>
        <p:nvSpPr>
          <p:cNvPr id="10" name="矩形 9"/>
          <p:cNvSpPr>
            <a:spLocks noGrp="1"/>
          </p:cNvSpPr>
          <p:nvPr/>
        </p:nvSpPr>
        <p:spPr>
          <a:xfrm>
            <a:off x="1028700" y="2990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点击位置、频次、转化路径；实时事件流 → Kafka</a:t>
            </a:r>
            <a:endParaRPr sz="900">
              <a:solidFill>
                <a:srgbClr val="475569"/>
              </a:solidFill>
            </a:endParaRPr>
          </a:p>
        </p:txBody>
      </p:sp>
      <p:sp>
        <p:nvSpPr>
          <p:cNvPr id="11" name="矩形 10"/>
          <p:cNvSpPr>
            <a:spLocks noGrp="1"/>
          </p:cNvSpPr>
          <p:nvPr/>
        </p:nvSpPr>
        <p:spPr>
          <a:xfrm>
            <a:off x="876300" y="3505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业务数据库 Binlog</a:t>
            </a:r>
            <a:endParaRPr sz="1050" b="1">
              <a:solidFill>
                <a:srgbClr val="0F172A"/>
              </a:solidFill>
            </a:endParaRPr>
          </a:p>
        </p:txBody>
      </p:sp>
      <p:sp>
        <p:nvSpPr>
          <p:cNvPr id="12" name="矩形 11"/>
          <p:cNvSpPr>
            <a:spLocks noGrp="1"/>
          </p:cNvSpPr>
          <p:nvPr/>
        </p:nvSpPr>
        <p:spPr>
          <a:xfrm>
            <a:off x="1028700" y="3752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订单、交易变动；CDC 实时捕捉 → Kafka</a:t>
            </a:r>
            <a:endParaRPr sz="900">
              <a:solidFill>
                <a:srgbClr val="475569"/>
              </a:solidFill>
            </a:endParaRPr>
          </a:p>
        </p:txBody>
      </p:sp>
      <p:sp>
        <p:nvSpPr>
          <p:cNvPr id="13" name="圆角矩形 12"/>
          <p:cNvSpPr>
            <a:spLocks noGrp="1"/>
          </p:cNvSpPr>
          <p:nvPr/>
        </p:nvSpPr>
        <p:spPr>
          <a:xfrm>
            <a:off x="6324600" y="1524000"/>
            <a:ext cx="5181600" cy="2476500"/>
          </a:xfrm>
          <a:prstGeom prst="roundRect">
            <a:avLst>
              <a:gd name="adj" fmla="val 4615"/>
            </a:avLst>
          </a:prstGeom>
          <a:solidFill>
            <a:srgbClr val="ECFDF5"/>
          </a:solidFill>
          <a:ln w="0">
            <a:noFill/>
            <a:prstDash val="solid"/>
          </a:ln>
        </p:spPr>
      </p:sp>
      <p:sp>
        <p:nvSpPr>
          <p:cNvPr id="14" name="矩形 13"/>
          <p:cNvSpPr>
            <a:spLocks noGrp="1"/>
          </p:cNvSpPr>
          <p:nvPr/>
        </p:nvSpPr>
        <p:spPr>
          <a:xfrm>
            <a:off x="6515100" y="1638300"/>
            <a:ext cx="2857500" cy="228600"/>
          </a:xfrm>
          <a:prstGeom prst="rect">
            <a:avLst/>
          </a:prstGeom>
          <a:noFill/>
          <a:ln w="0">
            <a:noFill/>
            <a:prstDash val="solid"/>
          </a:ln>
        </p:spPr>
        <p:txBody>
          <a:bodyPr/>
          <a:lstStyle/>
          <a:p>
            <a:pPr>
              <a:defRPr sz="1200" b="1">
                <a:solidFill>
                  <a:srgbClr val="059669"/>
                </a:solidFill>
              </a:defRPr>
            </a:pPr>
            <a:r>
              <a:rPr sz="1200" b="1">
                <a:solidFill>
                  <a:srgbClr val="059669"/>
                </a:solidFill>
              </a:rPr>
              <a:t>批量数据源 → S3</a:t>
            </a:r>
            <a:endParaRPr sz="1200" b="1">
              <a:solidFill>
                <a:srgbClr val="059669"/>
              </a:solidFill>
            </a:endParaRPr>
          </a:p>
        </p:txBody>
      </p:sp>
      <p:sp>
        <p:nvSpPr>
          <p:cNvPr id="15" name="矩形 14"/>
          <p:cNvSpPr>
            <a:spLocks noGrp="1"/>
          </p:cNvSpPr>
          <p:nvPr/>
        </p:nvSpPr>
        <p:spPr>
          <a:xfrm>
            <a:off x="6515100" y="1981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S3 数据湖</a:t>
            </a:r>
            <a:endParaRPr sz="1050" b="1">
              <a:solidFill>
                <a:srgbClr val="0F172A"/>
              </a:solidFill>
            </a:endParaRPr>
          </a:p>
        </p:txBody>
      </p:sp>
      <p:sp>
        <p:nvSpPr>
          <p:cNvPr id="16" name="矩形 15"/>
          <p:cNvSpPr>
            <a:spLocks noGrp="1"/>
          </p:cNvSpPr>
          <p:nvPr/>
        </p:nvSpPr>
        <p:spPr>
          <a:xfrm>
            <a:off x="6667500" y="2228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离线全量日志、业务历史数据、上游数仓导出的宽表</a:t>
            </a:r>
            <a:endParaRPr sz="900">
              <a:solidFill>
                <a:srgbClr val="475569"/>
              </a:solidFill>
            </a:endParaRPr>
          </a:p>
        </p:txBody>
      </p:sp>
      <p:sp>
        <p:nvSpPr>
          <p:cNvPr id="17" name="矩形 16"/>
          <p:cNvSpPr>
            <a:spLocks noGrp="1"/>
          </p:cNvSpPr>
          <p:nvPr/>
        </p:nvSpPr>
        <p:spPr>
          <a:xfrm>
            <a:off x="6515100" y="2743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历史行为数据</a:t>
            </a:r>
            <a:endParaRPr sz="1050" b="1">
              <a:solidFill>
                <a:srgbClr val="0F172A"/>
              </a:solidFill>
            </a:endParaRPr>
          </a:p>
        </p:txBody>
      </p:sp>
      <p:sp>
        <p:nvSpPr>
          <p:cNvPr id="18" name="矩形 17"/>
          <p:cNvSpPr>
            <a:spLocks noGrp="1"/>
          </p:cNvSpPr>
          <p:nvPr/>
        </p:nvSpPr>
        <p:spPr>
          <a:xfrm>
            <a:off x="6667500" y="2990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超过 7 天的用户行为数据从 S3 加载进入批量管道</a:t>
            </a:r>
            <a:endParaRPr sz="900">
              <a:solidFill>
                <a:srgbClr val="475569"/>
              </a:solidFill>
            </a:endParaRPr>
          </a:p>
        </p:txBody>
      </p:sp>
      <p:sp>
        <p:nvSpPr>
          <p:cNvPr id="19" name="矩形 18"/>
          <p:cNvSpPr>
            <a:spLocks noGrp="1"/>
          </p:cNvSpPr>
          <p:nvPr/>
        </p:nvSpPr>
        <p:spPr>
          <a:xfrm>
            <a:off x="6515100" y="3505200"/>
            <a:ext cx="4800600" cy="209550"/>
          </a:xfrm>
          <a:prstGeom prst="rect">
            <a:avLst/>
          </a:prstGeom>
          <a:noFill/>
          <a:ln w="0">
            <a:noFill/>
            <a:prstDash val="solid"/>
          </a:ln>
        </p:spPr>
        <p:txBody>
          <a:bodyPr/>
          <a:lstStyle/>
          <a:p>
            <a:pPr>
              <a:defRPr sz="1050" b="1">
                <a:solidFill>
                  <a:srgbClr val="0F172A"/>
                </a:solidFill>
              </a:defRPr>
            </a:pPr>
            <a:r>
              <a:rPr sz="1050" b="1">
                <a:solidFill>
                  <a:srgbClr val="0F172A"/>
                </a:solidFill>
              </a:rPr>
              <a:t>· 离线标签数据</a:t>
            </a:r>
            <a:endParaRPr sz="1050" b="1">
              <a:solidFill>
                <a:srgbClr val="0F172A"/>
              </a:solidFill>
            </a:endParaRPr>
          </a:p>
        </p:txBody>
      </p:sp>
      <p:sp>
        <p:nvSpPr>
          <p:cNvPr id="20" name="矩形 19"/>
          <p:cNvSpPr>
            <a:spLocks noGrp="1"/>
          </p:cNvSpPr>
          <p:nvPr/>
        </p:nvSpPr>
        <p:spPr>
          <a:xfrm>
            <a:off x="6667500" y="3752850"/>
            <a:ext cx="4648200" cy="381000"/>
          </a:xfrm>
          <a:prstGeom prst="rect">
            <a:avLst/>
          </a:prstGeom>
          <a:noFill/>
          <a:ln w="0">
            <a:noFill/>
            <a:prstDash val="solid"/>
          </a:ln>
        </p:spPr>
        <p:txBody>
          <a:bodyPr/>
          <a:lstStyle/>
          <a:p>
            <a:pPr>
              <a:defRPr sz="900">
                <a:solidFill>
                  <a:srgbClr val="475569"/>
                </a:solidFill>
              </a:defRPr>
            </a:pPr>
            <a:r>
              <a:rPr sz="900">
                <a:solidFill>
                  <a:srgbClr val="475569"/>
                </a:solidFill>
              </a:rPr>
              <a:t>用户画像、长期聚合指标等天级更新特征</a:t>
            </a:r>
            <a:endParaRPr sz="900">
              <a:solidFill>
                <a:srgbClr val="475569"/>
              </a:solidFill>
            </a:endParaRPr>
          </a:p>
        </p:txBody>
      </p:sp>
      <p:sp>
        <p:nvSpPr>
          <p:cNvPr id="21" name="矩形 20"/>
          <p:cNvSpPr>
            <a:spLocks noGrp="1"/>
          </p:cNvSpPr>
          <p:nvPr/>
        </p:nvSpPr>
        <p:spPr>
          <a:xfrm>
            <a:off x="685800" y="4381500"/>
            <a:ext cx="7620000" cy="228600"/>
          </a:xfrm>
          <a:prstGeom prst="rect">
            <a:avLst/>
          </a:prstGeom>
          <a:noFill/>
          <a:ln w="0">
            <a:noFill/>
            <a:prstDash val="solid"/>
          </a:ln>
        </p:spPr>
        <p:txBody>
          <a:bodyPr/>
          <a:lstStyle/>
          <a:p>
            <a:pPr>
              <a:defRPr sz="1050">
                <a:solidFill>
                  <a:srgbClr val="475569"/>
                </a:solidFill>
              </a:defRPr>
            </a:pPr>
            <a:r>
              <a:rPr sz="1050">
                <a:solidFill>
                  <a:srgbClr val="475569"/>
                </a:solidFill>
              </a:rPr>
              <a:t>关键区别：实时数据起点为 Kafka，批量数据起点为 S3。两条链路数据在计算完成后统一汇入 Lava 存储。</a:t>
            </a:r>
            <a:endParaRPr sz="1050">
              <a:solidFill>
                <a:srgbClr val="47556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核心存储设计</a:t>
            </a:r>
            <a:endParaRPr sz="900" b="1">
              <a:solidFill>
                <a:srgbClr val="2563EB"/>
              </a:solidFill>
            </a:endParaRPr>
          </a:p>
        </p:txBody>
      </p:sp>
      <p:sp>
        <p:nvSpPr>
          <p:cNvPr id="3" name="矩形 2"/>
          <p:cNvSpPr>
            <a:spLocks noGrp="1"/>
          </p:cNvSpPr>
          <p:nvPr/>
        </p:nvSpPr>
        <p:spPr>
          <a:xfrm>
            <a:off x="685800" y="647700"/>
            <a:ext cx="5715000" cy="457200"/>
          </a:xfrm>
          <a:prstGeom prst="rect">
            <a:avLst/>
          </a:prstGeom>
          <a:noFill/>
          <a:ln w="0">
            <a:noFill/>
            <a:prstDash val="solid"/>
          </a:ln>
        </p:spPr>
        <p:txBody>
          <a:bodyPr/>
          <a:lstStyle/>
          <a:p>
            <a:pPr>
              <a:defRPr sz="2700" b="1">
                <a:solidFill>
                  <a:srgbClr val="0F172A"/>
                </a:solidFill>
              </a:defRPr>
            </a:pPr>
            <a:r>
              <a:rPr sz="2700" b="1">
                <a:solidFill>
                  <a:srgbClr val="0F172A"/>
                </a:solidFill>
              </a:rPr>
              <a:t>Lava：Redis + Cassandra</a:t>
            </a:r>
            <a:endParaRPr sz="2700" b="1">
              <a:solidFill>
                <a:srgbClr val="0F172A"/>
              </a:solidFill>
            </a:endParaRPr>
          </a:p>
        </p:txBody>
      </p:sp>
      <p:sp>
        <p:nvSpPr>
          <p:cNvPr id="4" name="圆角矩形 3"/>
          <p:cNvSpPr>
            <a:spLocks noGrp="1"/>
          </p:cNvSpPr>
          <p:nvPr/>
        </p:nvSpPr>
        <p:spPr>
          <a:xfrm>
            <a:off x="685800" y="1428750"/>
            <a:ext cx="4953000" cy="4572000"/>
          </a:xfrm>
          <a:prstGeom prst="roundRect">
            <a:avLst>
              <a:gd name="adj" fmla="val 2500"/>
            </a:avLst>
          </a:prstGeom>
          <a:solidFill>
            <a:srgbClr val="FFF7ED"/>
          </a:solidFill>
          <a:ln w="19050">
            <a:solidFill>
              <a:srgbClr val="F97316"/>
            </a:solidFill>
            <a:prstDash val="solid"/>
          </a:ln>
        </p:spPr>
      </p:sp>
      <p:sp>
        <p:nvSpPr>
          <p:cNvPr id="5" name="矩形 4"/>
          <p:cNvSpPr>
            <a:spLocks noGrp="1"/>
          </p:cNvSpPr>
          <p:nvPr/>
        </p:nvSpPr>
        <p:spPr>
          <a:xfrm>
            <a:off x="952500" y="1619250"/>
            <a:ext cx="4381500" cy="285750"/>
          </a:xfrm>
          <a:prstGeom prst="rect">
            <a:avLst/>
          </a:prstGeom>
          <a:noFill/>
          <a:ln w="0">
            <a:noFill/>
            <a:prstDash val="solid"/>
          </a:ln>
        </p:spPr>
        <p:txBody>
          <a:bodyPr/>
          <a:lstStyle/>
          <a:p>
            <a:pPr>
              <a:defRPr sz="1500" b="1">
                <a:solidFill>
                  <a:srgbClr val="C2410C"/>
                </a:solidFill>
              </a:defRPr>
            </a:pPr>
            <a:r>
              <a:rPr sz="1500" b="1">
                <a:solidFill>
                  <a:srgbClr val="C2410C"/>
                </a:solidFill>
              </a:rPr>
              <a:t>🔥 Redis — 热数据层</a:t>
            </a:r>
            <a:endParaRPr sz="1500" b="1">
              <a:solidFill>
                <a:srgbClr val="C2410C"/>
              </a:solidFill>
            </a:endParaRPr>
          </a:p>
        </p:txBody>
      </p:sp>
      <p:sp>
        <p:nvSpPr>
          <p:cNvPr id="6" name="圆角矩形 5"/>
          <p:cNvSpPr>
            <a:spLocks noGrp="1"/>
          </p:cNvSpPr>
          <p:nvPr/>
        </p:nvSpPr>
        <p:spPr>
          <a:xfrm>
            <a:off x="952500" y="2000250"/>
            <a:ext cx="4419600" cy="9525"/>
          </a:xfrm>
          <a:prstGeom prst="roundRect">
            <a:avLst>
              <a:gd name="adj" fmla="val 50000"/>
            </a:avLst>
          </a:prstGeom>
          <a:solidFill>
            <a:srgbClr val="FED7AA"/>
          </a:solidFill>
          <a:ln w="0">
            <a:noFill/>
            <a:prstDash val="solid"/>
          </a:ln>
        </p:spPr>
      </p:sp>
      <p:sp>
        <p:nvSpPr>
          <p:cNvPr id="7" name="椭圆 6"/>
          <p:cNvSpPr>
            <a:spLocks noGrp="1"/>
          </p:cNvSpPr>
          <p:nvPr/>
        </p:nvSpPr>
        <p:spPr>
          <a:xfrm>
            <a:off x="1009650" y="2228850"/>
            <a:ext cx="76200" cy="76200"/>
          </a:xfrm>
          <a:prstGeom prst="ellipse">
            <a:avLst/>
          </a:prstGeom>
          <a:solidFill>
            <a:srgbClr val="F97316"/>
          </a:solidFill>
          <a:ln w="0">
            <a:noFill/>
            <a:prstDash val="solid"/>
          </a:ln>
        </p:spPr>
      </p:sp>
      <p:sp>
        <p:nvSpPr>
          <p:cNvPr id="8" name="矩形 7"/>
          <p:cNvSpPr>
            <a:spLocks noGrp="1"/>
          </p:cNvSpPr>
          <p:nvPr/>
        </p:nvSpPr>
        <p:spPr>
          <a:xfrm>
            <a:off x="1200150" y="21145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数据范围：最近 7 天的实时特征、计数器、用户会话</a:t>
            </a:r>
            <a:endParaRPr sz="975">
              <a:solidFill>
                <a:srgbClr val="334155"/>
              </a:solidFill>
            </a:endParaRPr>
          </a:p>
        </p:txBody>
      </p:sp>
      <p:sp>
        <p:nvSpPr>
          <p:cNvPr id="9" name="椭圆 8"/>
          <p:cNvSpPr>
            <a:spLocks noGrp="1"/>
          </p:cNvSpPr>
          <p:nvPr/>
        </p:nvSpPr>
        <p:spPr>
          <a:xfrm>
            <a:off x="1009650" y="2647950"/>
            <a:ext cx="76200" cy="76200"/>
          </a:xfrm>
          <a:prstGeom prst="ellipse">
            <a:avLst/>
          </a:prstGeom>
          <a:solidFill>
            <a:srgbClr val="F97316"/>
          </a:solidFill>
          <a:ln w="0">
            <a:noFill/>
            <a:prstDash val="solid"/>
          </a:ln>
        </p:spPr>
      </p:sp>
      <p:sp>
        <p:nvSpPr>
          <p:cNvPr id="10" name="矩形 9"/>
          <p:cNvSpPr>
            <a:spLocks noGrp="1"/>
          </p:cNvSpPr>
          <p:nvPr/>
        </p:nvSpPr>
        <p:spPr>
          <a:xfrm>
            <a:off x="1200150" y="25336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TTL 策略：7 天自动过期，到期 key 自动淘汰</a:t>
            </a:r>
            <a:endParaRPr sz="975">
              <a:solidFill>
                <a:srgbClr val="334155"/>
              </a:solidFill>
            </a:endParaRPr>
          </a:p>
        </p:txBody>
      </p:sp>
      <p:sp>
        <p:nvSpPr>
          <p:cNvPr id="11" name="椭圆 10"/>
          <p:cNvSpPr>
            <a:spLocks noGrp="1"/>
          </p:cNvSpPr>
          <p:nvPr/>
        </p:nvSpPr>
        <p:spPr>
          <a:xfrm>
            <a:off x="1009650" y="3067050"/>
            <a:ext cx="76200" cy="76200"/>
          </a:xfrm>
          <a:prstGeom prst="ellipse">
            <a:avLst/>
          </a:prstGeom>
          <a:solidFill>
            <a:srgbClr val="F97316"/>
          </a:solidFill>
          <a:ln w="0">
            <a:noFill/>
            <a:prstDash val="solid"/>
          </a:ln>
        </p:spPr>
      </p:sp>
      <p:sp>
        <p:nvSpPr>
          <p:cNvPr id="12" name="矩形 11"/>
          <p:cNvSpPr>
            <a:spLocks noGrp="1"/>
          </p:cNvSpPr>
          <p:nvPr/>
        </p:nvSpPr>
        <p:spPr>
          <a:xfrm>
            <a:off x="1200150" y="29527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读写性能：毫秒级，支撑在线推荐和风控</a:t>
            </a:r>
            <a:endParaRPr sz="975">
              <a:solidFill>
                <a:srgbClr val="334155"/>
              </a:solidFill>
            </a:endParaRPr>
          </a:p>
        </p:txBody>
      </p:sp>
      <p:sp>
        <p:nvSpPr>
          <p:cNvPr id="13" name="椭圆 12"/>
          <p:cNvSpPr>
            <a:spLocks noGrp="1"/>
          </p:cNvSpPr>
          <p:nvPr/>
        </p:nvSpPr>
        <p:spPr>
          <a:xfrm>
            <a:off x="1009650" y="3486150"/>
            <a:ext cx="76200" cy="76200"/>
          </a:xfrm>
          <a:prstGeom prst="ellipse">
            <a:avLst/>
          </a:prstGeom>
          <a:solidFill>
            <a:srgbClr val="F97316"/>
          </a:solidFill>
          <a:ln w="0">
            <a:noFill/>
            <a:prstDash val="solid"/>
          </a:ln>
        </p:spPr>
      </p:sp>
      <p:sp>
        <p:nvSpPr>
          <p:cNvPr id="14" name="矩形 13"/>
          <p:cNvSpPr>
            <a:spLocks noGrp="1"/>
          </p:cNvSpPr>
          <p:nvPr/>
        </p:nvSpPr>
        <p:spPr>
          <a:xfrm>
            <a:off x="1200150" y="33718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数据结构：Hash / Sorted Set 存储聚合特征</a:t>
            </a:r>
            <a:endParaRPr sz="975">
              <a:solidFill>
                <a:srgbClr val="334155"/>
              </a:solidFill>
            </a:endParaRPr>
          </a:p>
        </p:txBody>
      </p:sp>
      <p:sp>
        <p:nvSpPr>
          <p:cNvPr id="15" name="椭圆 14"/>
          <p:cNvSpPr>
            <a:spLocks noGrp="1"/>
          </p:cNvSpPr>
          <p:nvPr/>
        </p:nvSpPr>
        <p:spPr>
          <a:xfrm>
            <a:off x="1009650" y="3905250"/>
            <a:ext cx="76200" cy="76200"/>
          </a:xfrm>
          <a:prstGeom prst="ellipse">
            <a:avLst/>
          </a:prstGeom>
          <a:solidFill>
            <a:srgbClr val="F97316"/>
          </a:solidFill>
          <a:ln w="0">
            <a:noFill/>
            <a:prstDash val="solid"/>
          </a:ln>
        </p:spPr>
      </p:sp>
      <p:sp>
        <p:nvSpPr>
          <p:cNvPr id="16" name="矩形 15"/>
          <p:cNvSpPr>
            <a:spLocks noGrp="1"/>
          </p:cNvSpPr>
          <p:nvPr/>
        </p:nvSpPr>
        <p:spPr>
          <a:xfrm>
            <a:off x="1200150" y="37909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容量规划：内存受限，控制单 key 大小</a:t>
            </a:r>
            <a:endParaRPr sz="975">
              <a:solidFill>
                <a:srgbClr val="334155"/>
              </a:solidFill>
            </a:endParaRPr>
          </a:p>
        </p:txBody>
      </p:sp>
      <p:sp>
        <p:nvSpPr>
          <p:cNvPr id="17" name="椭圆 16"/>
          <p:cNvSpPr>
            <a:spLocks noGrp="1"/>
          </p:cNvSpPr>
          <p:nvPr/>
        </p:nvSpPr>
        <p:spPr>
          <a:xfrm>
            <a:off x="1009650" y="4324350"/>
            <a:ext cx="76200" cy="76200"/>
          </a:xfrm>
          <a:prstGeom prst="ellipse">
            <a:avLst/>
          </a:prstGeom>
          <a:solidFill>
            <a:srgbClr val="F97316"/>
          </a:solidFill>
          <a:ln w="0">
            <a:noFill/>
            <a:prstDash val="solid"/>
          </a:ln>
        </p:spPr>
      </p:sp>
      <p:sp>
        <p:nvSpPr>
          <p:cNvPr id="18" name="矩形 17"/>
          <p:cNvSpPr>
            <a:spLocks noGrp="1"/>
          </p:cNvSpPr>
          <p:nvPr/>
        </p:nvSpPr>
        <p:spPr>
          <a:xfrm>
            <a:off x="1200150" y="4210050"/>
            <a:ext cx="4191000" cy="342900"/>
          </a:xfrm>
          <a:prstGeom prst="rect">
            <a:avLst/>
          </a:prstGeom>
          <a:noFill/>
          <a:ln w="0">
            <a:noFill/>
            <a:prstDash val="solid"/>
          </a:ln>
        </p:spPr>
        <p:txBody>
          <a:bodyPr/>
          <a:lstStyle/>
          <a:p>
            <a:pPr>
              <a:defRPr sz="975">
                <a:solidFill>
                  <a:srgbClr val="334155"/>
                </a:solidFill>
              </a:defRPr>
            </a:pPr>
            <a:r>
              <a:rPr sz="975">
                <a:solidFill>
                  <a:srgbClr val="334155"/>
                </a:solidFill>
              </a:rPr>
              <a:t>故障场景：缓存击穿 / 雪崩由 Cassandra 兜底</a:t>
            </a:r>
            <a:endParaRPr sz="975">
              <a:solidFill>
                <a:srgbClr val="334155"/>
              </a:solidFill>
            </a:endParaRPr>
          </a:p>
        </p:txBody>
      </p:sp>
      <p:sp>
        <p:nvSpPr>
          <p:cNvPr id="19" name="圆角矩形 18"/>
          <p:cNvSpPr>
            <a:spLocks noGrp="1"/>
          </p:cNvSpPr>
          <p:nvPr/>
        </p:nvSpPr>
        <p:spPr>
          <a:xfrm>
            <a:off x="6096000" y="1428750"/>
            <a:ext cx="5410200" cy="4572000"/>
          </a:xfrm>
          <a:prstGeom prst="roundRect">
            <a:avLst>
              <a:gd name="adj" fmla="val 2500"/>
            </a:avLst>
          </a:prstGeom>
          <a:solidFill>
            <a:srgbClr val="F0FDF4"/>
          </a:solidFill>
          <a:ln w="19050">
            <a:solidFill>
              <a:srgbClr val="22C55E"/>
            </a:solidFill>
            <a:prstDash val="solid"/>
          </a:ln>
        </p:spPr>
      </p:sp>
      <p:sp>
        <p:nvSpPr>
          <p:cNvPr id="20" name="矩形 19"/>
          <p:cNvSpPr>
            <a:spLocks noGrp="1"/>
          </p:cNvSpPr>
          <p:nvPr/>
        </p:nvSpPr>
        <p:spPr>
          <a:xfrm>
            <a:off x="6362700" y="1619250"/>
            <a:ext cx="4762500" cy="285750"/>
          </a:xfrm>
          <a:prstGeom prst="rect">
            <a:avLst/>
          </a:prstGeom>
          <a:noFill/>
          <a:ln w="0">
            <a:noFill/>
            <a:prstDash val="solid"/>
          </a:ln>
        </p:spPr>
        <p:txBody>
          <a:bodyPr/>
          <a:lstStyle/>
          <a:p>
            <a:pPr>
              <a:defRPr sz="1500" b="1">
                <a:solidFill>
                  <a:srgbClr val="15803D"/>
                </a:solidFill>
              </a:defRPr>
            </a:pPr>
            <a:r>
              <a:rPr sz="1500" b="1">
                <a:solidFill>
                  <a:srgbClr val="15803D"/>
                </a:solidFill>
              </a:rPr>
              <a:t>❄️ Cassandra — 冷数据持久化层</a:t>
            </a:r>
            <a:endParaRPr sz="1500" b="1">
              <a:solidFill>
                <a:srgbClr val="15803D"/>
              </a:solidFill>
            </a:endParaRPr>
          </a:p>
        </p:txBody>
      </p:sp>
      <p:sp>
        <p:nvSpPr>
          <p:cNvPr id="21" name="圆角矩形 20"/>
          <p:cNvSpPr>
            <a:spLocks noGrp="1"/>
          </p:cNvSpPr>
          <p:nvPr/>
        </p:nvSpPr>
        <p:spPr>
          <a:xfrm>
            <a:off x="6362700" y="2000250"/>
            <a:ext cx="4876800" cy="9525"/>
          </a:xfrm>
          <a:prstGeom prst="roundRect">
            <a:avLst>
              <a:gd name="adj" fmla="val 50000"/>
            </a:avLst>
          </a:prstGeom>
          <a:solidFill>
            <a:srgbClr val="BBF7D0"/>
          </a:solidFill>
          <a:ln w="0">
            <a:noFill/>
            <a:prstDash val="solid"/>
          </a:ln>
        </p:spPr>
      </p:sp>
      <p:sp>
        <p:nvSpPr>
          <p:cNvPr id="22" name="椭圆 21"/>
          <p:cNvSpPr>
            <a:spLocks noGrp="1"/>
          </p:cNvSpPr>
          <p:nvPr/>
        </p:nvSpPr>
        <p:spPr>
          <a:xfrm>
            <a:off x="6438900" y="2228850"/>
            <a:ext cx="76200" cy="76200"/>
          </a:xfrm>
          <a:prstGeom prst="ellipse">
            <a:avLst/>
          </a:prstGeom>
          <a:solidFill>
            <a:srgbClr val="22C55E"/>
          </a:solidFill>
          <a:ln w="0">
            <a:noFill/>
            <a:prstDash val="solid"/>
          </a:ln>
        </p:spPr>
      </p:sp>
      <p:sp>
        <p:nvSpPr>
          <p:cNvPr id="23" name="矩形 22"/>
          <p:cNvSpPr>
            <a:spLocks noGrp="1"/>
          </p:cNvSpPr>
          <p:nvPr/>
        </p:nvSpPr>
        <p:spPr>
          <a:xfrm>
            <a:off x="6629400" y="21145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定位：Redis 的完整补充和持久化层</a:t>
            </a:r>
            <a:endParaRPr sz="975">
              <a:solidFill>
                <a:srgbClr val="334155"/>
              </a:solidFill>
            </a:endParaRPr>
          </a:p>
        </p:txBody>
      </p:sp>
      <p:sp>
        <p:nvSpPr>
          <p:cNvPr id="24" name="椭圆 23"/>
          <p:cNvSpPr>
            <a:spLocks noGrp="1"/>
          </p:cNvSpPr>
          <p:nvPr/>
        </p:nvSpPr>
        <p:spPr>
          <a:xfrm>
            <a:off x="6438900" y="2647950"/>
            <a:ext cx="76200" cy="76200"/>
          </a:xfrm>
          <a:prstGeom prst="ellipse">
            <a:avLst/>
          </a:prstGeom>
          <a:solidFill>
            <a:srgbClr val="22C55E"/>
          </a:solidFill>
          <a:ln w="0">
            <a:noFill/>
            <a:prstDash val="solid"/>
          </a:ln>
        </p:spPr>
      </p:sp>
      <p:sp>
        <p:nvSpPr>
          <p:cNvPr id="25" name="矩形 24"/>
          <p:cNvSpPr>
            <a:spLocks noGrp="1"/>
          </p:cNvSpPr>
          <p:nvPr/>
        </p:nvSpPr>
        <p:spPr>
          <a:xfrm>
            <a:off x="6629400" y="25336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数据范围：全部特征历史，无 TTL 限制</a:t>
            </a:r>
            <a:endParaRPr sz="975">
              <a:solidFill>
                <a:srgbClr val="334155"/>
              </a:solidFill>
            </a:endParaRPr>
          </a:p>
        </p:txBody>
      </p:sp>
      <p:sp>
        <p:nvSpPr>
          <p:cNvPr id="26" name="椭圆 25"/>
          <p:cNvSpPr>
            <a:spLocks noGrp="1"/>
          </p:cNvSpPr>
          <p:nvPr/>
        </p:nvSpPr>
        <p:spPr>
          <a:xfrm>
            <a:off x="6438900" y="3067050"/>
            <a:ext cx="76200" cy="76200"/>
          </a:xfrm>
          <a:prstGeom prst="ellipse">
            <a:avLst/>
          </a:prstGeom>
          <a:solidFill>
            <a:srgbClr val="22C55E"/>
          </a:solidFill>
          <a:ln w="0">
            <a:noFill/>
            <a:prstDash val="solid"/>
          </a:ln>
        </p:spPr>
      </p:sp>
      <p:sp>
        <p:nvSpPr>
          <p:cNvPr id="27" name="矩形 26"/>
          <p:cNvSpPr>
            <a:spLocks noGrp="1"/>
          </p:cNvSpPr>
          <p:nvPr/>
        </p:nvSpPr>
        <p:spPr>
          <a:xfrm>
            <a:off x="6629400" y="29527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读写性能：亚秒级，支撑长窗口回溯查询</a:t>
            </a:r>
            <a:endParaRPr sz="975">
              <a:solidFill>
                <a:srgbClr val="334155"/>
              </a:solidFill>
            </a:endParaRPr>
          </a:p>
        </p:txBody>
      </p:sp>
      <p:sp>
        <p:nvSpPr>
          <p:cNvPr id="28" name="椭圆 27"/>
          <p:cNvSpPr>
            <a:spLocks noGrp="1"/>
          </p:cNvSpPr>
          <p:nvPr/>
        </p:nvSpPr>
        <p:spPr>
          <a:xfrm>
            <a:off x="6438900" y="3486150"/>
            <a:ext cx="76200" cy="76200"/>
          </a:xfrm>
          <a:prstGeom prst="ellipse">
            <a:avLst/>
          </a:prstGeom>
          <a:solidFill>
            <a:srgbClr val="22C55E"/>
          </a:solidFill>
          <a:ln w="0">
            <a:noFill/>
            <a:prstDash val="solid"/>
          </a:ln>
        </p:spPr>
      </p:sp>
      <p:sp>
        <p:nvSpPr>
          <p:cNvPr id="29" name="矩形 28"/>
          <p:cNvSpPr>
            <a:spLocks noGrp="1"/>
          </p:cNvSpPr>
          <p:nvPr/>
        </p:nvSpPr>
        <p:spPr>
          <a:xfrm>
            <a:off x="6629400" y="33718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优势：水平扩展、无单点、多区域复制</a:t>
            </a:r>
            <a:endParaRPr sz="975">
              <a:solidFill>
                <a:srgbClr val="334155"/>
              </a:solidFill>
            </a:endParaRPr>
          </a:p>
        </p:txBody>
      </p:sp>
      <p:sp>
        <p:nvSpPr>
          <p:cNvPr id="30" name="椭圆 29"/>
          <p:cNvSpPr>
            <a:spLocks noGrp="1"/>
          </p:cNvSpPr>
          <p:nvPr/>
        </p:nvSpPr>
        <p:spPr>
          <a:xfrm>
            <a:off x="6438900" y="3905250"/>
            <a:ext cx="76200" cy="76200"/>
          </a:xfrm>
          <a:prstGeom prst="ellipse">
            <a:avLst/>
          </a:prstGeom>
          <a:solidFill>
            <a:srgbClr val="22C55E"/>
          </a:solidFill>
          <a:ln w="0">
            <a:noFill/>
            <a:prstDash val="solid"/>
          </a:ln>
        </p:spPr>
      </p:sp>
      <p:sp>
        <p:nvSpPr>
          <p:cNvPr id="31" name="矩形 30"/>
          <p:cNvSpPr>
            <a:spLocks noGrp="1"/>
          </p:cNvSpPr>
          <p:nvPr/>
        </p:nvSpPr>
        <p:spPr>
          <a:xfrm>
            <a:off x="6629400" y="37909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Write Path：实时写入 Cassandra，异步回刷</a:t>
            </a:r>
            <a:endParaRPr sz="975">
              <a:solidFill>
                <a:srgbClr val="334155"/>
              </a:solidFill>
            </a:endParaRPr>
          </a:p>
        </p:txBody>
      </p:sp>
      <p:sp>
        <p:nvSpPr>
          <p:cNvPr id="32" name="椭圆 31"/>
          <p:cNvSpPr>
            <a:spLocks noGrp="1"/>
          </p:cNvSpPr>
          <p:nvPr/>
        </p:nvSpPr>
        <p:spPr>
          <a:xfrm>
            <a:off x="6438900" y="4324350"/>
            <a:ext cx="76200" cy="76200"/>
          </a:xfrm>
          <a:prstGeom prst="ellipse">
            <a:avLst/>
          </a:prstGeom>
          <a:solidFill>
            <a:srgbClr val="22C55E"/>
          </a:solidFill>
          <a:ln w="0">
            <a:noFill/>
            <a:prstDash val="solid"/>
          </a:ln>
        </p:spPr>
      </p:sp>
      <p:sp>
        <p:nvSpPr>
          <p:cNvPr id="33" name="矩形 32"/>
          <p:cNvSpPr>
            <a:spLocks noGrp="1"/>
          </p:cNvSpPr>
          <p:nvPr/>
        </p:nvSpPr>
        <p:spPr>
          <a:xfrm>
            <a:off x="6629400" y="4210050"/>
            <a:ext cx="4610100" cy="342900"/>
          </a:xfrm>
          <a:prstGeom prst="rect">
            <a:avLst/>
          </a:prstGeom>
          <a:noFill/>
          <a:ln w="0">
            <a:noFill/>
            <a:prstDash val="solid"/>
          </a:ln>
        </p:spPr>
        <p:txBody>
          <a:bodyPr/>
          <a:lstStyle/>
          <a:p>
            <a:pPr>
              <a:defRPr sz="975">
                <a:solidFill>
                  <a:srgbClr val="334155"/>
                </a:solidFill>
              </a:defRPr>
            </a:pPr>
            <a:r>
              <a:rPr sz="975">
                <a:solidFill>
                  <a:srgbClr val="334155"/>
                </a:solidFill>
              </a:rPr>
              <a:t>离在线统一：批量管道也导入 Cassandra</a:t>
            </a:r>
            <a:endParaRPr sz="975">
              <a:solidFill>
                <a:srgbClr val="33415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7C3AED"/>
                </a:solidFill>
              </a:defRPr>
            </a:pPr>
            <a:r>
              <a:rPr sz="900" b="1">
                <a:solidFill>
                  <a:srgbClr val="7C3AED"/>
                </a:solidFill>
              </a:rPr>
              <a:t>核心机制解析</a:t>
            </a:r>
            <a:endParaRPr sz="900" b="1">
              <a:solidFill>
                <a:srgbClr val="7C3AED"/>
              </a:solidFill>
            </a:endParaRPr>
          </a:p>
        </p:txBody>
      </p:sp>
      <p:sp>
        <p:nvSpPr>
          <p:cNvPr id="3" name="矩形 2"/>
          <p:cNvSpPr>
            <a:spLocks noGrp="1"/>
          </p:cNvSpPr>
          <p:nvPr/>
        </p:nvSpPr>
        <p:spPr>
          <a:xfrm>
            <a:off x="685800" y="647700"/>
            <a:ext cx="7620000" cy="457200"/>
          </a:xfrm>
          <a:prstGeom prst="rect">
            <a:avLst/>
          </a:prstGeom>
          <a:noFill/>
          <a:ln w="0">
            <a:noFill/>
            <a:prstDash val="solid"/>
          </a:ln>
        </p:spPr>
        <p:txBody>
          <a:bodyPr/>
          <a:lstStyle/>
          <a:p>
            <a:pPr>
              <a:defRPr sz="2700" b="1">
                <a:solidFill>
                  <a:srgbClr val="0F172A"/>
                </a:solidFill>
              </a:defRPr>
            </a:pPr>
            <a:r>
              <a:rPr sz="2700" b="1">
                <a:solidFill>
                  <a:srgbClr val="0F172A"/>
                </a:solidFill>
              </a:rPr>
              <a:t>Shuttle 数据增强与上锁机制</a:t>
            </a:r>
            <a:endParaRPr sz="2700" b="1">
              <a:solidFill>
                <a:srgbClr val="0F172A"/>
              </a:solidFill>
            </a:endParaRPr>
          </a:p>
        </p:txBody>
      </p:sp>
      <p:sp>
        <p:nvSpPr>
          <p:cNvPr id="4" name="圆角矩形 3"/>
          <p:cNvSpPr>
            <a:spLocks noGrp="1"/>
          </p:cNvSpPr>
          <p:nvPr/>
        </p:nvSpPr>
        <p:spPr>
          <a:xfrm>
            <a:off x="685800" y="1428750"/>
            <a:ext cx="4953000" cy="2286000"/>
          </a:xfrm>
          <a:prstGeom prst="roundRect">
            <a:avLst>
              <a:gd name="adj" fmla="val 5000"/>
            </a:avLst>
          </a:prstGeom>
          <a:solidFill>
            <a:srgbClr val="EEF2FF"/>
          </a:solidFill>
          <a:ln w="19050">
            <a:solidFill>
              <a:srgbClr val="818CF8"/>
            </a:solidFill>
            <a:prstDash val="solid"/>
          </a:ln>
        </p:spPr>
      </p:sp>
      <p:sp>
        <p:nvSpPr>
          <p:cNvPr id="5" name="矩形 4"/>
          <p:cNvSpPr>
            <a:spLocks noGrp="1"/>
          </p:cNvSpPr>
          <p:nvPr/>
        </p:nvSpPr>
        <p:spPr>
          <a:xfrm>
            <a:off x="952500" y="1619250"/>
            <a:ext cx="4381500" cy="266700"/>
          </a:xfrm>
          <a:prstGeom prst="rect">
            <a:avLst/>
          </a:prstGeom>
          <a:noFill/>
          <a:ln w="0">
            <a:noFill/>
            <a:prstDash val="solid"/>
          </a:ln>
        </p:spPr>
        <p:txBody>
          <a:bodyPr/>
          <a:lstStyle/>
          <a:p>
            <a:pPr>
              <a:defRPr sz="1500" b="1">
                <a:solidFill>
                  <a:srgbClr val="4338CA"/>
                </a:solidFill>
              </a:defRPr>
            </a:pPr>
            <a:r>
              <a:rPr sz="1500" b="1">
                <a:solidFill>
                  <a:srgbClr val="4338CA"/>
                </a:solidFill>
              </a:rPr>
              <a:t>Shuttle 数据增强层</a:t>
            </a:r>
            <a:endParaRPr sz="1500" b="1">
              <a:solidFill>
                <a:srgbClr val="4338CA"/>
              </a:solidFill>
            </a:endParaRPr>
          </a:p>
        </p:txBody>
      </p:sp>
      <p:sp>
        <p:nvSpPr>
          <p:cNvPr id="6" name="圆角矩形 5"/>
          <p:cNvSpPr>
            <a:spLocks noGrp="1"/>
          </p:cNvSpPr>
          <p:nvPr/>
        </p:nvSpPr>
        <p:spPr>
          <a:xfrm>
            <a:off x="952500" y="1962150"/>
            <a:ext cx="4419600" cy="9525"/>
          </a:xfrm>
          <a:prstGeom prst="roundRect">
            <a:avLst>
              <a:gd name="adj" fmla="val 50000"/>
            </a:avLst>
          </a:prstGeom>
          <a:solidFill>
            <a:srgbClr val="C7D2FE"/>
          </a:solidFill>
          <a:ln w="0">
            <a:noFill/>
            <a:prstDash val="solid"/>
          </a:ln>
        </p:spPr>
      </p:sp>
      <p:sp>
        <p:nvSpPr>
          <p:cNvPr id="7" name="椭圆 6"/>
          <p:cNvSpPr>
            <a:spLocks noGrp="1"/>
          </p:cNvSpPr>
          <p:nvPr/>
        </p:nvSpPr>
        <p:spPr>
          <a:xfrm>
            <a:off x="1009650" y="2219325"/>
            <a:ext cx="76200" cy="76200"/>
          </a:xfrm>
          <a:prstGeom prst="ellipse">
            <a:avLst/>
          </a:prstGeom>
          <a:solidFill>
            <a:srgbClr val="818CF8"/>
          </a:solidFill>
          <a:ln w="0">
            <a:noFill/>
            <a:prstDash val="solid"/>
          </a:ln>
        </p:spPr>
      </p:sp>
      <p:sp>
        <p:nvSpPr>
          <p:cNvPr id="8" name="矩形 7"/>
          <p:cNvSpPr>
            <a:spLocks noGrp="1"/>
          </p:cNvSpPr>
          <p:nvPr/>
        </p:nvSpPr>
        <p:spPr>
          <a:xfrm>
            <a:off x="1200150" y="2114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接收 Kafka 原始事件，进行上下文补齐</a:t>
            </a:r>
            <a:endParaRPr sz="975">
              <a:solidFill>
                <a:srgbClr val="334155"/>
              </a:solidFill>
            </a:endParaRPr>
          </a:p>
        </p:txBody>
      </p:sp>
      <p:sp>
        <p:nvSpPr>
          <p:cNvPr id="9" name="椭圆 8"/>
          <p:cNvSpPr>
            <a:spLocks noGrp="1"/>
          </p:cNvSpPr>
          <p:nvPr/>
        </p:nvSpPr>
        <p:spPr>
          <a:xfrm>
            <a:off x="1009650" y="2600325"/>
            <a:ext cx="76200" cy="76200"/>
          </a:xfrm>
          <a:prstGeom prst="ellipse">
            <a:avLst/>
          </a:prstGeom>
          <a:solidFill>
            <a:srgbClr val="818CF8"/>
          </a:solidFill>
          <a:ln w="0">
            <a:noFill/>
            <a:prstDash val="solid"/>
          </a:ln>
        </p:spPr>
      </p:sp>
      <p:sp>
        <p:nvSpPr>
          <p:cNvPr id="10" name="矩形 9"/>
          <p:cNvSpPr>
            <a:spLocks noGrp="1"/>
          </p:cNvSpPr>
          <p:nvPr/>
        </p:nvSpPr>
        <p:spPr>
          <a:xfrm>
            <a:off x="1200150" y="2495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维度扩充：用户画像、地理信息、设备画像等</a:t>
            </a:r>
            <a:endParaRPr sz="975">
              <a:solidFill>
                <a:srgbClr val="334155"/>
              </a:solidFill>
            </a:endParaRPr>
          </a:p>
        </p:txBody>
      </p:sp>
      <p:sp>
        <p:nvSpPr>
          <p:cNvPr id="11" name="椭圆 10"/>
          <p:cNvSpPr>
            <a:spLocks noGrp="1"/>
          </p:cNvSpPr>
          <p:nvPr/>
        </p:nvSpPr>
        <p:spPr>
          <a:xfrm>
            <a:off x="1009650" y="2981325"/>
            <a:ext cx="76200" cy="76200"/>
          </a:xfrm>
          <a:prstGeom prst="ellipse">
            <a:avLst/>
          </a:prstGeom>
          <a:solidFill>
            <a:srgbClr val="818CF8"/>
          </a:solidFill>
          <a:ln w="0">
            <a:noFill/>
            <a:prstDash val="solid"/>
          </a:ln>
        </p:spPr>
      </p:sp>
      <p:sp>
        <p:nvSpPr>
          <p:cNvPr id="12" name="矩形 11"/>
          <p:cNvSpPr>
            <a:spLocks noGrp="1"/>
          </p:cNvSpPr>
          <p:nvPr/>
        </p:nvSpPr>
        <p:spPr>
          <a:xfrm>
            <a:off x="1200150" y="2876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数据清洗：去重、归一化、异常过滤</a:t>
            </a:r>
            <a:endParaRPr sz="975">
              <a:solidFill>
                <a:srgbClr val="334155"/>
              </a:solidFill>
            </a:endParaRPr>
          </a:p>
        </p:txBody>
      </p:sp>
      <p:sp>
        <p:nvSpPr>
          <p:cNvPr id="13" name="椭圆 12"/>
          <p:cNvSpPr>
            <a:spLocks noGrp="1"/>
          </p:cNvSpPr>
          <p:nvPr/>
        </p:nvSpPr>
        <p:spPr>
          <a:xfrm>
            <a:off x="1009650" y="3362325"/>
            <a:ext cx="76200" cy="76200"/>
          </a:xfrm>
          <a:prstGeom prst="ellipse">
            <a:avLst/>
          </a:prstGeom>
          <a:solidFill>
            <a:srgbClr val="818CF8"/>
          </a:solidFill>
          <a:ln w="0">
            <a:noFill/>
            <a:prstDash val="solid"/>
          </a:ln>
        </p:spPr>
      </p:sp>
      <p:sp>
        <p:nvSpPr>
          <p:cNvPr id="14" name="矩形 13"/>
          <p:cNvSpPr>
            <a:spLocks noGrp="1"/>
          </p:cNvSpPr>
          <p:nvPr/>
        </p:nvSpPr>
        <p:spPr>
          <a:xfrm>
            <a:off x="1200150" y="3257550"/>
            <a:ext cx="4191000" cy="304800"/>
          </a:xfrm>
          <a:prstGeom prst="rect">
            <a:avLst/>
          </a:prstGeom>
          <a:noFill/>
          <a:ln w="0">
            <a:noFill/>
            <a:prstDash val="solid"/>
          </a:ln>
        </p:spPr>
        <p:txBody>
          <a:bodyPr/>
          <a:lstStyle/>
          <a:p>
            <a:pPr>
              <a:defRPr sz="975">
                <a:solidFill>
                  <a:srgbClr val="334155"/>
                </a:solidFill>
              </a:defRPr>
            </a:pPr>
            <a:r>
              <a:rPr sz="975">
                <a:solidFill>
                  <a:srgbClr val="334155"/>
                </a:solidFill>
              </a:rPr>
              <a:t>增强后的数据交给下游 Flink 或 Lock 模块</a:t>
            </a:r>
            <a:endParaRPr sz="975">
              <a:solidFill>
                <a:srgbClr val="334155"/>
              </a:solidFill>
            </a:endParaRPr>
          </a:p>
        </p:txBody>
      </p:sp>
      <p:sp>
        <p:nvSpPr>
          <p:cNvPr id="15" name="圆角矩形 14"/>
          <p:cNvSpPr>
            <a:spLocks noGrp="1"/>
          </p:cNvSpPr>
          <p:nvPr/>
        </p:nvSpPr>
        <p:spPr>
          <a:xfrm>
            <a:off x="6096000" y="1428750"/>
            <a:ext cx="5410200" cy="2286000"/>
          </a:xfrm>
          <a:prstGeom prst="roundRect">
            <a:avLst>
              <a:gd name="adj" fmla="val 5000"/>
            </a:avLst>
          </a:prstGeom>
          <a:solidFill>
            <a:srgbClr val="FDF2F8"/>
          </a:solidFill>
          <a:ln w="19050">
            <a:solidFill>
              <a:srgbClr val="F472B6"/>
            </a:solidFill>
            <a:prstDash val="solid"/>
          </a:ln>
        </p:spPr>
      </p:sp>
      <p:sp>
        <p:nvSpPr>
          <p:cNvPr id="16" name="矩形 15"/>
          <p:cNvSpPr>
            <a:spLocks noGrp="1"/>
          </p:cNvSpPr>
          <p:nvPr/>
        </p:nvSpPr>
        <p:spPr>
          <a:xfrm>
            <a:off x="6362700" y="1619250"/>
            <a:ext cx="4762500" cy="266700"/>
          </a:xfrm>
          <a:prstGeom prst="rect">
            <a:avLst/>
          </a:prstGeom>
          <a:noFill/>
          <a:ln w="0">
            <a:noFill/>
            <a:prstDash val="solid"/>
          </a:ln>
        </p:spPr>
        <p:txBody>
          <a:bodyPr/>
          <a:lstStyle/>
          <a:p>
            <a:pPr>
              <a:defRPr sz="1500" b="1">
                <a:solidFill>
                  <a:srgbClr val="BE185D"/>
                </a:solidFill>
              </a:defRPr>
            </a:pPr>
            <a:r>
              <a:rPr sz="1500" b="1">
                <a:solidFill>
                  <a:srgbClr val="BE185D"/>
                </a:solidFill>
              </a:rPr>
              <a:t>上锁处理机制</a:t>
            </a:r>
            <a:endParaRPr sz="1500" b="1">
              <a:solidFill>
                <a:srgbClr val="BE185D"/>
              </a:solidFill>
            </a:endParaRPr>
          </a:p>
        </p:txBody>
      </p:sp>
      <p:sp>
        <p:nvSpPr>
          <p:cNvPr id="17" name="圆角矩形 16"/>
          <p:cNvSpPr>
            <a:spLocks noGrp="1"/>
          </p:cNvSpPr>
          <p:nvPr/>
        </p:nvSpPr>
        <p:spPr>
          <a:xfrm>
            <a:off x="6362700" y="1962150"/>
            <a:ext cx="4876800" cy="9525"/>
          </a:xfrm>
          <a:prstGeom prst="roundRect">
            <a:avLst>
              <a:gd name="adj" fmla="val 50000"/>
            </a:avLst>
          </a:prstGeom>
          <a:solidFill>
            <a:srgbClr val="FBCFE8"/>
          </a:solidFill>
          <a:ln w="0">
            <a:noFill/>
            <a:prstDash val="solid"/>
          </a:ln>
        </p:spPr>
      </p:sp>
      <p:sp>
        <p:nvSpPr>
          <p:cNvPr id="18" name="椭圆 17"/>
          <p:cNvSpPr>
            <a:spLocks noGrp="1"/>
          </p:cNvSpPr>
          <p:nvPr/>
        </p:nvSpPr>
        <p:spPr>
          <a:xfrm>
            <a:off x="6438900" y="2219325"/>
            <a:ext cx="76200" cy="76200"/>
          </a:xfrm>
          <a:prstGeom prst="ellipse">
            <a:avLst/>
          </a:prstGeom>
          <a:solidFill>
            <a:srgbClr val="F472B6"/>
          </a:solidFill>
          <a:ln w="0">
            <a:noFill/>
            <a:prstDash val="solid"/>
          </a:ln>
        </p:spPr>
      </p:sp>
      <p:sp>
        <p:nvSpPr>
          <p:cNvPr id="19" name="矩形 18"/>
          <p:cNvSpPr>
            <a:spLocks noGrp="1"/>
          </p:cNvSpPr>
          <p:nvPr/>
        </p:nvSpPr>
        <p:spPr>
          <a:xfrm>
            <a:off x="6629400" y="2114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目的：防止同一用户/特征的并发写覆盖</a:t>
            </a:r>
            <a:endParaRPr sz="975">
              <a:solidFill>
                <a:srgbClr val="334155"/>
              </a:solidFill>
            </a:endParaRPr>
          </a:p>
        </p:txBody>
      </p:sp>
      <p:sp>
        <p:nvSpPr>
          <p:cNvPr id="20" name="椭圆 19"/>
          <p:cNvSpPr>
            <a:spLocks noGrp="1"/>
          </p:cNvSpPr>
          <p:nvPr/>
        </p:nvSpPr>
        <p:spPr>
          <a:xfrm>
            <a:off x="6438900" y="2600325"/>
            <a:ext cx="76200" cy="76200"/>
          </a:xfrm>
          <a:prstGeom prst="ellipse">
            <a:avLst/>
          </a:prstGeom>
          <a:solidFill>
            <a:srgbClr val="F472B6"/>
          </a:solidFill>
          <a:ln w="0">
            <a:noFill/>
            <a:prstDash val="solid"/>
          </a:ln>
        </p:spPr>
      </p:sp>
      <p:sp>
        <p:nvSpPr>
          <p:cNvPr id="21" name="矩形 20"/>
          <p:cNvSpPr>
            <a:spLocks noGrp="1"/>
          </p:cNvSpPr>
          <p:nvPr/>
        </p:nvSpPr>
        <p:spPr>
          <a:xfrm>
            <a:off x="6629400" y="2495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锁粒度：特征级（用户维度的单个特征）</a:t>
            </a:r>
            <a:endParaRPr sz="975">
              <a:solidFill>
                <a:srgbClr val="334155"/>
              </a:solidFill>
            </a:endParaRPr>
          </a:p>
        </p:txBody>
      </p:sp>
      <p:sp>
        <p:nvSpPr>
          <p:cNvPr id="22" name="椭圆 21"/>
          <p:cNvSpPr>
            <a:spLocks noGrp="1"/>
          </p:cNvSpPr>
          <p:nvPr/>
        </p:nvSpPr>
        <p:spPr>
          <a:xfrm>
            <a:off x="6438900" y="2981325"/>
            <a:ext cx="76200" cy="76200"/>
          </a:xfrm>
          <a:prstGeom prst="ellipse">
            <a:avLst/>
          </a:prstGeom>
          <a:solidFill>
            <a:srgbClr val="F472B6"/>
          </a:solidFill>
          <a:ln w="0">
            <a:noFill/>
            <a:prstDash val="solid"/>
          </a:ln>
        </p:spPr>
      </p:sp>
      <p:sp>
        <p:nvSpPr>
          <p:cNvPr id="23" name="矩形 22"/>
          <p:cNvSpPr>
            <a:spLocks noGrp="1"/>
          </p:cNvSpPr>
          <p:nvPr/>
        </p:nvSpPr>
        <p:spPr>
          <a:xfrm>
            <a:off x="6629400" y="2876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方案：Redis 分布式锁 + 超时兜底</a:t>
            </a:r>
            <a:endParaRPr sz="975">
              <a:solidFill>
                <a:srgbClr val="334155"/>
              </a:solidFill>
            </a:endParaRPr>
          </a:p>
        </p:txBody>
      </p:sp>
      <p:sp>
        <p:nvSpPr>
          <p:cNvPr id="24" name="椭圆 23"/>
          <p:cNvSpPr>
            <a:spLocks noGrp="1"/>
          </p:cNvSpPr>
          <p:nvPr/>
        </p:nvSpPr>
        <p:spPr>
          <a:xfrm>
            <a:off x="6438900" y="3362325"/>
            <a:ext cx="76200" cy="76200"/>
          </a:xfrm>
          <a:prstGeom prst="ellipse">
            <a:avLst/>
          </a:prstGeom>
          <a:solidFill>
            <a:srgbClr val="F472B6"/>
          </a:solidFill>
          <a:ln w="0">
            <a:noFill/>
            <a:prstDash val="solid"/>
          </a:ln>
        </p:spPr>
      </p:sp>
      <p:sp>
        <p:nvSpPr>
          <p:cNvPr id="25" name="矩形 24"/>
          <p:cNvSpPr>
            <a:spLocks noGrp="1"/>
          </p:cNvSpPr>
          <p:nvPr/>
        </p:nvSpPr>
        <p:spPr>
          <a:xfrm>
            <a:off x="6629400" y="3257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流程：Shuttle → 尝试获取锁 → 获取成功 → Flink 计算 → 写 Lava → 释放锁</a:t>
            </a:r>
            <a:endParaRPr sz="975">
              <a:solidFill>
                <a:srgbClr val="334155"/>
              </a:solidFill>
            </a:endParaRPr>
          </a:p>
        </p:txBody>
      </p:sp>
      <p:sp>
        <p:nvSpPr>
          <p:cNvPr id="26" name="椭圆 25"/>
          <p:cNvSpPr>
            <a:spLocks noGrp="1"/>
          </p:cNvSpPr>
          <p:nvPr/>
        </p:nvSpPr>
        <p:spPr>
          <a:xfrm>
            <a:off x="6438900" y="3743325"/>
            <a:ext cx="76200" cy="76200"/>
          </a:xfrm>
          <a:prstGeom prst="ellipse">
            <a:avLst/>
          </a:prstGeom>
          <a:solidFill>
            <a:srgbClr val="F472B6"/>
          </a:solidFill>
          <a:ln w="0">
            <a:noFill/>
            <a:prstDash val="solid"/>
          </a:ln>
        </p:spPr>
      </p:sp>
      <p:sp>
        <p:nvSpPr>
          <p:cNvPr id="27" name="矩形 26"/>
          <p:cNvSpPr>
            <a:spLocks noGrp="1"/>
          </p:cNvSpPr>
          <p:nvPr/>
        </p:nvSpPr>
        <p:spPr>
          <a:xfrm>
            <a:off x="6629400" y="3638550"/>
            <a:ext cx="4610100" cy="304800"/>
          </a:xfrm>
          <a:prstGeom prst="rect">
            <a:avLst/>
          </a:prstGeom>
          <a:noFill/>
          <a:ln w="0">
            <a:noFill/>
            <a:prstDash val="solid"/>
          </a:ln>
        </p:spPr>
        <p:txBody>
          <a:bodyPr/>
          <a:lstStyle/>
          <a:p>
            <a:pPr>
              <a:defRPr sz="975">
                <a:solidFill>
                  <a:srgbClr val="334155"/>
                </a:solidFill>
              </a:defRPr>
            </a:pPr>
            <a:r>
              <a:rPr sz="975">
                <a:solidFill>
                  <a:srgbClr val="334155"/>
                </a:solidFill>
              </a:rPr>
              <a:t>获取失败 → 暂时缓存，稍后重试</a:t>
            </a:r>
            <a:endParaRPr sz="975">
              <a:solidFill>
                <a:srgbClr val="334155"/>
              </a:solidFill>
            </a:endParaRPr>
          </a:p>
        </p:txBody>
      </p:sp>
      <p:sp>
        <p:nvSpPr>
          <p:cNvPr id="28" name="圆角矩形 27"/>
          <p:cNvSpPr>
            <a:spLocks noGrp="1"/>
          </p:cNvSpPr>
          <p:nvPr/>
        </p:nvSpPr>
        <p:spPr>
          <a:xfrm>
            <a:off x="685800" y="4000500"/>
            <a:ext cx="10820400" cy="1143000"/>
          </a:xfrm>
          <a:prstGeom prst="roundRect">
            <a:avLst>
              <a:gd name="adj" fmla="val 10000"/>
            </a:avLst>
          </a:prstGeom>
          <a:solidFill>
            <a:srgbClr val="F0FDF4"/>
          </a:solidFill>
          <a:ln w="19050">
            <a:solidFill>
              <a:srgbClr val="34D399"/>
            </a:solidFill>
            <a:prstDash val="solid"/>
          </a:ln>
        </p:spPr>
      </p:sp>
      <p:sp>
        <p:nvSpPr>
          <p:cNvPr id="29" name="矩形 28"/>
          <p:cNvSpPr>
            <a:spLocks noGrp="1"/>
          </p:cNvSpPr>
          <p:nvPr/>
        </p:nvSpPr>
        <p:spPr>
          <a:xfrm>
            <a:off x="952500" y="4152900"/>
            <a:ext cx="3810000" cy="266700"/>
          </a:xfrm>
          <a:prstGeom prst="rect">
            <a:avLst/>
          </a:prstGeom>
          <a:noFill/>
          <a:ln w="0">
            <a:noFill/>
            <a:prstDash val="solid"/>
          </a:ln>
        </p:spPr>
        <p:txBody>
          <a:bodyPr/>
          <a:lstStyle/>
          <a:p>
            <a:pPr>
              <a:defRPr sz="1500" b="1">
                <a:solidFill>
                  <a:srgbClr val="059669"/>
                </a:solidFill>
              </a:defRPr>
            </a:pPr>
            <a:r>
              <a:rPr sz="1500" b="1">
                <a:solidFill>
                  <a:srgbClr val="059669"/>
                </a:solidFill>
              </a:rPr>
              <a:t>双出口架构</a:t>
            </a:r>
            <a:endParaRPr sz="1500" b="1">
              <a:solidFill>
                <a:srgbClr val="059669"/>
              </a:solidFill>
            </a:endParaRPr>
          </a:p>
        </p:txBody>
      </p:sp>
      <p:sp>
        <p:nvSpPr>
          <p:cNvPr id="30" name="圆角矩形 29"/>
          <p:cNvSpPr>
            <a:spLocks noGrp="1"/>
          </p:cNvSpPr>
          <p:nvPr/>
        </p:nvSpPr>
        <p:spPr>
          <a:xfrm>
            <a:off x="952500" y="4457700"/>
            <a:ext cx="10287000" cy="9525"/>
          </a:xfrm>
          <a:prstGeom prst="roundRect">
            <a:avLst>
              <a:gd name="adj" fmla="val 50000"/>
            </a:avLst>
          </a:prstGeom>
          <a:solidFill>
            <a:srgbClr val="BBF7D0"/>
          </a:solidFill>
          <a:ln w="0">
            <a:noFill/>
            <a:prstDash val="solid"/>
          </a:ln>
        </p:spPr>
      </p:sp>
      <p:sp>
        <p:nvSpPr>
          <p:cNvPr id="31" name="椭圆 30"/>
          <p:cNvSpPr>
            <a:spLocks noGrp="1"/>
          </p:cNvSpPr>
          <p:nvPr/>
        </p:nvSpPr>
        <p:spPr>
          <a:xfrm>
            <a:off x="1009650" y="4629150"/>
            <a:ext cx="76200" cy="76200"/>
          </a:xfrm>
          <a:prstGeom prst="ellipse">
            <a:avLst/>
          </a:prstGeom>
          <a:solidFill>
            <a:srgbClr val="059669"/>
          </a:solidFill>
          <a:ln w="0">
            <a:noFill/>
            <a:prstDash val="solid"/>
          </a:ln>
        </p:spPr>
      </p:sp>
      <p:sp>
        <p:nvSpPr>
          <p:cNvPr id="32" name="矩形 31"/>
          <p:cNvSpPr>
            <a:spLocks noGrp="1"/>
          </p:cNvSpPr>
          <p:nvPr/>
        </p:nvSpPr>
        <p:spPr>
          <a:xfrm>
            <a:off x="1200150" y="4552950"/>
            <a:ext cx="4762500" cy="457200"/>
          </a:xfrm>
          <a:prstGeom prst="rect">
            <a:avLst/>
          </a:prstGeom>
          <a:noFill/>
          <a:ln w="0">
            <a:noFill/>
            <a:prstDash val="solid"/>
          </a:ln>
        </p:spPr>
        <p:txBody>
          <a:bodyPr/>
          <a:lstStyle/>
          <a:p>
            <a:pPr>
              <a:defRPr sz="1050">
                <a:solidFill>
                  <a:srgbClr val="334155"/>
                </a:solidFill>
              </a:defRPr>
            </a:pPr>
            <a:r>
              <a:rPr sz="1050">
                <a:solidFill>
                  <a:srgbClr val="334155"/>
                </a:solidFill>
              </a:rPr>
              <a:t>数据流出口1 → Lava (Redis + Cassandra)：特征存储与线上 Serve</a:t>
            </a:r>
            <a:endParaRPr sz="1050">
              <a:solidFill>
                <a:srgbClr val="334155"/>
              </a:solidFill>
            </a:endParaRPr>
          </a:p>
        </p:txBody>
      </p:sp>
      <p:sp>
        <p:nvSpPr>
          <p:cNvPr id="33" name="椭圆 32"/>
          <p:cNvSpPr>
            <a:spLocks noGrp="1"/>
          </p:cNvSpPr>
          <p:nvPr/>
        </p:nvSpPr>
        <p:spPr>
          <a:xfrm>
            <a:off x="1009650" y="4914900"/>
            <a:ext cx="76200" cy="76200"/>
          </a:xfrm>
          <a:prstGeom prst="ellipse">
            <a:avLst/>
          </a:prstGeom>
          <a:solidFill>
            <a:srgbClr val="059669"/>
          </a:solidFill>
          <a:ln w="0">
            <a:noFill/>
            <a:prstDash val="solid"/>
          </a:ln>
        </p:spPr>
      </p:sp>
      <p:sp>
        <p:nvSpPr>
          <p:cNvPr id="34" name="矩形 33"/>
          <p:cNvSpPr>
            <a:spLocks noGrp="1"/>
          </p:cNvSpPr>
          <p:nvPr/>
        </p:nvSpPr>
        <p:spPr>
          <a:xfrm>
            <a:off x="1200150" y="4838700"/>
            <a:ext cx="4762500" cy="457200"/>
          </a:xfrm>
          <a:prstGeom prst="rect">
            <a:avLst/>
          </a:prstGeom>
          <a:noFill/>
          <a:ln w="0">
            <a:noFill/>
            <a:prstDash val="solid"/>
          </a:ln>
        </p:spPr>
        <p:txBody>
          <a:bodyPr/>
          <a:lstStyle/>
          <a:p>
            <a:pPr>
              <a:defRPr sz="1050">
                <a:solidFill>
                  <a:srgbClr val="334155"/>
                </a:solidFill>
              </a:defRPr>
            </a:pPr>
            <a:r>
              <a:rPr sz="1050">
                <a:solidFill>
                  <a:srgbClr val="334155"/>
                </a:solidFill>
              </a:rPr>
              <a:t>数据流出口2 → Kafka：处理结果回流消息队列，供其他实时消费者订阅</a:t>
            </a:r>
            <a:endParaRPr sz="1050">
              <a:solidFill>
                <a:srgbClr val="33415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sz="2700" b="1">
                <a:solidFill>
                  <a:srgbClr val="0F172A"/>
                </a:solidFill>
              </a:rPr>
              <a:t>架构特点与优势</a:t>
            </a:r>
            <a:endParaRPr sz="2700" b="1">
              <a:solidFill>
                <a:srgbClr val="0F172A"/>
              </a:solidFill>
            </a:endParaRPr>
          </a:p>
        </p:txBody>
      </p:sp>
      <p:sp>
        <p:nvSpPr>
          <p:cNvPr id="4" name="圆角矩形 3"/>
          <p:cNvSpPr>
            <a:spLocks noGrp="1"/>
          </p:cNvSpPr>
          <p:nvPr/>
        </p:nvSpPr>
        <p:spPr>
          <a:xfrm>
            <a:off x="685800" y="1428750"/>
            <a:ext cx="10820400" cy="838200"/>
          </a:xfrm>
          <a:prstGeom prst="roundRect">
            <a:avLst>
              <a:gd name="adj" fmla="val 13636"/>
            </a:avLst>
          </a:prstGeom>
          <a:solidFill>
            <a:srgbClr val="FFFFFF"/>
          </a:solidFill>
          <a:ln w="19050">
            <a:solidFill>
              <a:srgbClr val="E2E8F0"/>
            </a:solidFill>
            <a:prstDash val="solid"/>
          </a:ln>
        </p:spPr>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① Lambda 架构</a:t>
            </a:r>
            <a:endParaRPr sz="15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实时链路 (Kafka → Shuttle → Lock → Flink → Lava) 与批量链路 (S3 → Spark → Hive → Lava) 并存，兼顾时效与准确性。</a:t>
            </a:r>
            <a:endParaRPr sz="1050">
              <a:solidFill>
                <a:srgbClr val="475569"/>
              </a:solidFill>
            </a:endParaRPr>
          </a:p>
        </p:txBody>
      </p:sp>
      <p:sp>
        <p:nvSpPr>
          <p:cNvPr id="7" name="圆角矩形 6"/>
          <p:cNvSpPr>
            <a:spLocks noGrp="1"/>
          </p:cNvSpPr>
          <p:nvPr/>
        </p:nvSpPr>
        <p:spPr>
          <a:xfrm>
            <a:off x="685800" y="2381250"/>
            <a:ext cx="10820400" cy="838200"/>
          </a:xfrm>
          <a:prstGeom prst="roundRect">
            <a:avLst>
              <a:gd name="adj" fmla="val 13636"/>
            </a:avLst>
          </a:prstGeom>
          <a:solidFill>
            <a:srgbClr val="FFFFFF"/>
          </a:solidFill>
          <a:ln w="19050">
            <a:solidFill>
              <a:srgbClr val="E2E8F0"/>
            </a:solidFill>
            <a:prstDash val="solid"/>
          </a:ln>
        </p:spPr>
      </p:sp>
      <p:sp>
        <p:nvSpPr>
          <p:cNvPr id="8" name="矩形 7"/>
          <p:cNvSpPr>
            <a:spLocks noGrp="1"/>
          </p:cNvSpPr>
          <p:nvPr/>
        </p:nvSpPr>
        <p:spPr>
          <a:xfrm>
            <a:off x="952500" y="25146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② Lava 分层存储</a:t>
            </a:r>
            <a:endParaRPr sz="1500" b="1">
              <a:solidFill>
                <a:srgbClr val="0F172A"/>
              </a:solidFill>
            </a:endParaRPr>
          </a:p>
        </p:txBody>
      </p:sp>
      <p:sp>
        <p:nvSpPr>
          <p:cNvPr id="9" name="矩形 8"/>
          <p:cNvSpPr>
            <a:spLocks noGrp="1"/>
          </p:cNvSpPr>
          <p:nvPr/>
        </p:nvSpPr>
        <p:spPr>
          <a:xfrm>
            <a:off x="952500" y="28194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Redis (7d TTL) 扛热数据 + Cassandra 冷持久化，hot/warm 分离，兼顾性能与成本。</a:t>
            </a:r>
            <a:endParaRPr sz="1050">
              <a:solidFill>
                <a:srgbClr val="475569"/>
              </a:solidFill>
            </a:endParaRPr>
          </a:p>
        </p:txBody>
      </p:sp>
      <p:sp>
        <p:nvSpPr>
          <p:cNvPr id="10" name="圆角矩形 9"/>
          <p:cNvSpPr>
            <a:spLocks noGrp="1"/>
          </p:cNvSpPr>
          <p:nvPr/>
        </p:nvSpPr>
        <p:spPr>
          <a:xfrm>
            <a:off x="685800" y="3333750"/>
            <a:ext cx="10820400" cy="838200"/>
          </a:xfrm>
          <a:prstGeom prst="roundRect">
            <a:avLst>
              <a:gd name="adj" fmla="val 13636"/>
            </a:avLst>
          </a:prstGeom>
          <a:solidFill>
            <a:srgbClr val="FFFFFF"/>
          </a:solidFill>
          <a:ln w="19050">
            <a:solidFill>
              <a:srgbClr val="E2E8F0"/>
            </a:solidFill>
            <a:prstDash val="solid"/>
          </a:ln>
        </p:spPr>
      </p:sp>
      <p:sp>
        <p:nvSpPr>
          <p:cNvPr id="11" name="矩形 10"/>
          <p:cNvSpPr>
            <a:spLocks noGrp="1"/>
          </p:cNvSpPr>
          <p:nvPr/>
        </p:nvSpPr>
        <p:spPr>
          <a:xfrm>
            <a:off x="952500" y="3467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③ Shuttle 增强 + 上锁机制</a:t>
            </a:r>
            <a:endParaRPr sz="1500" b="1">
              <a:solidFill>
                <a:srgbClr val="0F172A"/>
              </a:solidFill>
            </a:endParaRPr>
          </a:p>
        </p:txBody>
      </p:sp>
      <p:sp>
        <p:nvSpPr>
          <p:cNvPr id="12" name="矩形 11"/>
          <p:cNvSpPr>
            <a:spLocks noGrp="1"/>
          </p:cNvSpPr>
          <p:nvPr/>
        </p:nvSpPr>
        <p:spPr>
          <a:xfrm>
            <a:off x="952500" y="3771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数据进入 Flink 前做上下文补齐；特征级分布式锁防止并发写覆盖，保障一致性。</a:t>
            </a:r>
            <a:endParaRPr sz="1050">
              <a:solidFill>
                <a:srgbClr val="475569"/>
              </a:solidFill>
            </a:endParaRPr>
          </a:p>
        </p:txBody>
      </p:sp>
      <p:sp>
        <p:nvSpPr>
          <p:cNvPr id="13" name="圆角矩形 12"/>
          <p:cNvSpPr>
            <a:spLocks noGrp="1"/>
          </p:cNvSpPr>
          <p:nvPr/>
        </p:nvSpPr>
        <p:spPr>
          <a:xfrm>
            <a:off x="685800" y="4286250"/>
            <a:ext cx="10820400" cy="838200"/>
          </a:xfrm>
          <a:prstGeom prst="roundRect">
            <a:avLst>
              <a:gd name="adj" fmla="val 13636"/>
            </a:avLst>
          </a:prstGeom>
          <a:solidFill>
            <a:srgbClr val="FFFFFF"/>
          </a:solidFill>
          <a:ln w="19050">
            <a:solidFill>
              <a:srgbClr val="E2E8F0"/>
            </a:solidFill>
            <a:prstDash val="solid"/>
          </a:ln>
        </p:spPr>
      </p:sp>
      <p:sp>
        <p:nvSpPr>
          <p:cNvPr id="14" name="矩形 13"/>
          <p:cNvSpPr>
            <a:spLocks noGrp="1"/>
          </p:cNvSpPr>
          <p:nvPr/>
        </p:nvSpPr>
        <p:spPr>
          <a:xfrm>
            <a:off x="952500" y="44196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④ 双出口 Sink</a:t>
            </a:r>
            <a:endParaRPr sz="1500" b="1">
              <a:solidFill>
                <a:srgbClr val="0F172A"/>
              </a:solidFill>
            </a:endParaRPr>
          </a:p>
        </p:txBody>
      </p:sp>
      <p:sp>
        <p:nvSpPr>
          <p:cNvPr id="15" name="矩形 14"/>
          <p:cNvSpPr>
            <a:spLocks noGrp="1"/>
          </p:cNvSpPr>
          <p:nvPr/>
        </p:nvSpPr>
        <p:spPr>
          <a:xfrm>
            <a:off x="952500" y="47244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计算结果同时写入 Lava（在线 Serving）和回流 Kafka（其他实时订阅者），一鱼两吃。</a:t>
            </a:r>
            <a:endParaRPr sz="1050">
              <a:solidFill>
                <a:srgbClr val="475569"/>
              </a:solidFill>
            </a:endParaRPr>
          </a:p>
        </p:txBody>
      </p:sp>
      <p:sp>
        <p:nvSpPr>
          <p:cNvPr id="16" name="圆角矩形 15"/>
          <p:cNvSpPr>
            <a:spLocks noGrp="1"/>
          </p:cNvSpPr>
          <p:nvPr/>
        </p:nvSpPr>
        <p:spPr>
          <a:xfrm>
            <a:off x="685800" y="5238750"/>
            <a:ext cx="10820400" cy="838200"/>
          </a:xfrm>
          <a:prstGeom prst="roundRect">
            <a:avLst>
              <a:gd name="adj" fmla="val 13636"/>
            </a:avLst>
          </a:prstGeom>
          <a:solidFill>
            <a:srgbClr val="FFFFFF"/>
          </a:solidFill>
          <a:ln w="19050">
            <a:solidFill>
              <a:srgbClr val="E2E8F0"/>
            </a:solidFill>
            <a:prstDash val="solid"/>
          </a:ln>
        </p:spPr>
      </p:sp>
      <p:sp>
        <p:nvSpPr>
          <p:cNvPr id="17" name="矩形 16"/>
          <p:cNvSpPr>
            <a:spLocks noGrp="1"/>
          </p:cNvSpPr>
          <p:nvPr/>
        </p:nvSpPr>
        <p:spPr>
          <a:xfrm>
            <a:off x="952500" y="5372100"/>
            <a:ext cx="10287000" cy="266700"/>
          </a:xfrm>
          <a:prstGeom prst="rect">
            <a:avLst/>
          </a:prstGeom>
          <a:noFill/>
          <a:ln w="0">
            <a:noFill/>
            <a:prstDash val="solid"/>
          </a:ln>
        </p:spPr>
        <p:txBody>
          <a:bodyPr/>
          <a:lstStyle/>
          <a:p>
            <a:pPr>
              <a:defRPr sz="1500" b="1">
                <a:solidFill>
                  <a:srgbClr val="0F172A"/>
                </a:solidFill>
              </a:defRPr>
            </a:pPr>
            <a:r>
              <a:rPr sz="1500" b="1">
                <a:solidFill>
                  <a:srgbClr val="0F172A"/>
                </a:solidFill>
              </a:rPr>
              <a:t>⑤ 离在线统一</a:t>
            </a:r>
            <a:endParaRPr sz="1500" b="1">
              <a:solidFill>
                <a:srgbClr val="0F172A"/>
              </a:solidFill>
            </a:endParaRPr>
          </a:p>
        </p:txBody>
      </p:sp>
      <p:sp>
        <p:nvSpPr>
          <p:cNvPr id="18" name="矩形 17"/>
          <p:cNvSpPr>
            <a:spLocks noGrp="1"/>
          </p:cNvSpPr>
          <p:nvPr/>
        </p:nvSpPr>
        <p:spPr>
          <a:xfrm>
            <a:off x="952500" y="5676900"/>
            <a:ext cx="10287000" cy="285750"/>
          </a:xfrm>
          <a:prstGeom prst="rect">
            <a:avLst/>
          </a:prstGeom>
          <a:noFill/>
          <a:ln w="0">
            <a:noFill/>
            <a:prstDash val="solid"/>
          </a:ln>
        </p:spPr>
        <p:txBody>
          <a:bodyPr/>
          <a:lstStyle/>
          <a:p>
            <a:pPr>
              <a:defRPr sz="1050">
                <a:solidFill>
                  <a:srgbClr val="475569"/>
                </a:solidFill>
              </a:defRPr>
            </a:pPr>
            <a:r>
              <a:rPr sz="1050">
                <a:solidFill>
                  <a:srgbClr val="475569"/>
                </a:solidFill>
              </a:rPr>
              <a:t>批量管道和实时管道最终汇聚到同一 Cassandra 集群，保证离线与实时特征口径一致。</a:t>
            </a:r>
            <a:endParaRPr sz="1050">
              <a:solidFill>
                <a:srgbClr val="47556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lang="zh-CN" sz="2700" b="1">
                <a:solidFill>
                  <a:srgbClr val="0F172A"/>
                </a:solidFill>
              </a:rPr>
              <a:t>架构的</a:t>
            </a:r>
            <a:r>
              <a:rPr lang="zh-CN" sz="2700" b="1">
                <a:solidFill>
                  <a:srgbClr val="0F172A"/>
                </a:solidFill>
              </a:rPr>
              <a:t>问题</a:t>
            </a:r>
            <a:endParaRPr lang="zh-CN" sz="2700" b="1">
              <a:solidFill>
                <a:srgbClr val="0F172A"/>
              </a:solidFill>
            </a:endParaRPr>
          </a:p>
        </p:txBody>
      </p:sp>
      <p:sp>
        <p:nvSpPr>
          <p:cNvPr id="4" name="圆角矩形 3"/>
          <p:cNvSpPr>
            <a:spLocks noGrp="1"/>
          </p:cNvSpPr>
          <p:nvPr/>
        </p:nvSpPr>
        <p:spPr>
          <a:xfrm>
            <a:off x="685800" y="1428750"/>
            <a:ext cx="10820400" cy="2389505"/>
          </a:xfrm>
          <a:prstGeom prst="roundRect">
            <a:avLst>
              <a:gd name="adj" fmla="val 13636"/>
            </a:avLst>
          </a:prstGeom>
          <a:solidFill>
            <a:srgbClr val="FFFFFF"/>
          </a:solidFill>
          <a:ln w="19050">
            <a:solidFill>
              <a:srgbClr val="E2E8F0"/>
            </a:solidFill>
            <a:prstDash val="solid"/>
          </a:ln>
        </p:spPr>
        <p:txBody>
          <a:bodyPr/>
          <a:p/>
        </p:txBody>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sz="1800" b="1">
                <a:solidFill>
                  <a:srgbClr val="0F172A"/>
                </a:solidFill>
              </a:rPr>
              <a:t> </a:t>
            </a:r>
            <a:r>
              <a:rPr lang="en-US" sz="1800" b="1">
                <a:solidFill>
                  <a:srgbClr val="0F172A"/>
                </a:solidFill>
              </a:rPr>
              <a:t>Data Inconsistency in Lava</a:t>
            </a:r>
            <a:endParaRPr lang="en-US" sz="18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sz="1800" b="1">
                <a:ln/>
                <a:solidFill>
                  <a:schemeClr val="accent1"/>
                </a:solidFill>
                <a:effectLst>
                  <a:outerShdw blurRad="38100" dist="25400" dir="5400000" algn="ctr" rotWithShape="0">
                    <a:srgbClr val="6E747A">
                      <a:alpha val="43000"/>
                      <a:alpha val="43000"/>
                    </a:srgbClr>
                  </a:outerShdw>
                </a:effectLst>
                <a:sym typeface="+mn-ea"/>
              </a:rPr>
              <a:t>①</a:t>
            </a:r>
            <a:r>
              <a:rPr lang="en-US" sz="1800" b="1">
                <a:ln/>
                <a:solidFill>
                  <a:schemeClr val="accent1"/>
                </a:solidFill>
                <a:effectLst>
                  <a:outerShdw blurRad="38100" dist="25400" dir="5400000" algn="ctr" rotWithShape="0">
                    <a:srgbClr val="6E747A">
                      <a:alpha val="43000"/>
                      <a:alpha val="43000"/>
                    </a:srgbClr>
                  </a:outerShdw>
                </a:effectLst>
                <a:sym typeface="+mn-ea"/>
              </a:rPr>
              <a:t> </a:t>
            </a:r>
            <a:r>
              <a:rPr lang="en-US" sz="1800">
                <a:ln/>
                <a:solidFill>
                  <a:schemeClr val="accent1"/>
                </a:solidFill>
                <a:effectLst>
                  <a:outerShdw blurRad="38100" dist="25400" dir="5400000" algn="ctr" rotWithShape="0">
                    <a:srgbClr val="6E747A">
                      <a:alpha val="43000"/>
                      <a:alpha val="43000"/>
                    </a:srgbClr>
                  </a:outerShdw>
                </a:effectLst>
              </a:rPr>
              <a:t>Cassandra–Redis dual-write lacks atomicity, causing data desynchronization between hot and cold tiers.</a:t>
            </a:r>
            <a:endParaRPr lang="en-US" sz="1800">
              <a:ln/>
              <a:solidFill>
                <a:schemeClr val="accent1"/>
              </a:solidFill>
              <a:effectLst>
                <a:outerShdw blurRad="38100" dist="25400" dir="5400000" algn="ctr" rotWithShape="0">
                  <a:srgbClr val="6E747A">
                    <a:alpha val="43000"/>
                    <a:alpha val="43000"/>
                  </a:srgbClr>
                </a:outerShdw>
              </a:effectLst>
            </a:endParaRPr>
          </a:p>
        </p:txBody>
      </p:sp>
      <p:sp>
        <p:nvSpPr>
          <p:cNvPr id="19" name="矩形 18"/>
          <p:cNvSpPr>
            <a:spLocks noGrp="1"/>
          </p:cNvSpPr>
          <p:nvPr/>
        </p:nvSpPr>
        <p:spPr>
          <a:xfrm>
            <a:off x="1271270" y="2348865"/>
            <a:ext cx="10287000" cy="28575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400">
                <a:solidFill>
                  <a:schemeClr val="accent1"/>
                </a:solidFill>
                <a:effectLst/>
              </a:rPr>
              <a:t>Update Failures: an item successfully persisted in Cassandra may silently fail to update in Redis, breaking hot/cold consistency.</a:t>
            </a:r>
            <a:endParaRPr lang="en-US" sz="1400">
              <a:solidFill>
                <a:schemeClr val="accent1"/>
              </a:solidFill>
              <a:effectLst/>
            </a:endParaRPr>
          </a:p>
        </p:txBody>
      </p:sp>
      <p:sp>
        <p:nvSpPr>
          <p:cNvPr id="20" name="矩形 19"/>
          <p:cNvSpPr>
            <a:spLocks noGrp="1"/>
          </p:cNvSpPr>
          <p:nvPr/>
        </p:nvSpPr>
        <p:spPr>
          <a:xfrm>
            <a:off x="983615" y="2819400"/>
            <a:ext cx="10287000" cy="285750"/>
          </a:xfrm>
          <a:prstGeom prst="rect">
            <a:avLst/>
          </a:prstGeom>
          <a:noFill/>
          <a:ln w="0">
            <a:noFill/>
            <a:prstDash val="solid"/>
          </a:ln>
        </p:spPr>
        <p:txBody>
          <a:bodyPr/>
          <a:p>
            <a:pPr>
              <a:defRPr sz="1050">
                <a:solidFill>
                  <a:srgbClr val="475569"/>
                </a:solidFill>
              </a:defRPr>
            </a:pPr>
            <a:r>
              <a:rPr sz="1800" b="1">
                <a:solidFill>
                  <a:srgbClr val="0F172A"/>
                </a:solidFill>
                <a:sym typeface="+mn-ea"/>
              </a:rPr>
              <a:t>② </a:t>
            </a:r>
            <a:r>
              <a:rPr lang="en-US" sz="1800" b="1">
                <a:solidFill>
                  <a:srgbClr val="0F172A"/>
                </a:solidFill>
                <a:sym typeface="+mn-ea"/>
              </a:rPr>
              <a:t>Out-of-Order Persistence: event ordering is not guaranteed during persistence.</a:t>
            </a:r>
            <a:endParaRPr lang="en-US" sz="1800" b="1">
              <a:solidFill>
                <a:srgbClr val="0F172A"/>
              </a:solidFill>
              <a:effectLst>
                <a:outerShdw blurRad="38100" dist="25400" dir="5400000" algn="ctr" rotWithShape="0">
                  <a:srgbClr val="6E747A">
                    <a:alpha val="43000"/>
                    <a:alpha val="43000"/>
                  </a:srgbClr>
                </a:outerShdw>
              </a:effectLst>
              <a:sym typeface="+mn-ea"/>
            </a:endParaRPr>
          </a:p>
        </p:txBody>
      </p:sp>
      <p:sp>
        <p:nvSpPr>
          <p:cNvPr id="21" name="矩形 20"/>
          <p:cNvSpPr>
            <a:spLocks noGrp="1"/>
          </p:cNvSpPr>
          <p:nvPr/>
        </p:nvSpPr>
        <p:spPr>
          <a:xfrm>
            <a:off x="1398270" y="3385185"/>
            <a:ext cx="9580880" cy="19050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400">
                <a:solidFill>
                  <a:schemeClr val="accent1"/>
                </a:solidFill>
                <a:effectLst/>
              </a:rPr>
              <a:t>Race Conditions: delayed older events can overwrite newer events for the same key, producing stale features.</a:t>
            </a:r>
            <a:endParaRPr lang="en-US" sz="1400">
              <a:solidFill>
                <a:schemeClr val="accent1"/>
              </a:solidFill>
              <a:effectLst/>
            </a:endParaRPr>
          </a:p>
        </p:txBody>
      </p:sp>
      <p:sp>
        <p:nvSpPr>
          <p:cNvPr id="22" name="圆角矩形 21"/>
          <p:cNvSpPr>
            <a:spLocks noGrp="1"/>
          </p:cNvSpPr>
          <p:nvPr/>
        </p:nvSpPr>
        <p:spPr>
          <a:xfrm>
            <a:off x="685800" y="4004945"/>
            <a:ext cx="10820400" cy="2389505"/>
          </a:xfrm>
          <a:prstGeom prst="roundRect">
            <a:avLst>
              <a:gd name="adj" fmla="val 13636"/>
            </a:avLst>
          </a:prstGeom>
          <a:solidFill>
            <a:srgbClr val="FFFFFF"/>
          </a:solidFill>
          <a:ln w="19050">
            <a:solidFill>
              <a:srgbClr val="E2E8F0"/>
            </a:solidFill>
            <a:prstDash val="solid"/>
          </a:ln>
        </p:spPr>
        <p:txBody>
          <a:bodyPr/>
          <a:p/>
        </p:txBody>
      </p:sp>
      <p:sp>
        <p:nvSpPr>
          <p:cNvPr id="23" name="矩形 22"/>
          <p:cNvSpPr>
            <a:spLocks noGrp="1"/>
          </p:cNvSpPr>
          <p:nvPr/>
        </p:nvSpPr>
        <p:spPr>
          <a:xfrm>
            <a:off x="839470" y="4142105"/>
            <a:ext cx="10287000" cy="266700"/>
          </a:xfrm>
          <a:prstGeom prst="rect">
            <a:avLst/>
          </a:prstGeom>
          <a:noFill/>
          <a:ln w="0">
            <a:noFill/>
            <a:prstDash val="solid"/>
          </a:ln>
        </p:spPr>
        <p:txBody>
          <a:bodyPr/>
          <a:p>
            <a:pPr>
              <a:defRPr sz="1500" b="1">
                <a:solidFill>
                  <a:srgbClr val="0F172A"/>
                </a:solidFill>
              </a:defRPr>
            </a:pPr>
            <a:r>
              <a:rPr lang="en-US" sz="1800" b="1">
                <a:solidFill>
                  <a:srgbClr val="0F172A"/>
                </a:solidFill>
              </a:rPr>
              <a:t>Data Black-Box &amp; Operational Issues</a:t>
            </a:r>
            <a:endParaRPr lang="en-US" sz="1800" b="1">
              <a:solidFill>
                <a:srgbClr val="0F172A"/>
              </a:solidFill>
            </a:endParaRPr>
          </a:p>
        </p:txBody>
      </p:sp>
      <p:sp>
        <p:nvSpPr>
          <p:cNvPr id="24" name="矩形 23"/>
          <p:cNvSpPr>
            <a:spLocks noGrp="1"/>
          </p:cNvSpPr>
          <p:nvPr/>
        </p:nvSpPr>
        <p:spPr>
          <a:xfrm>
            <a:off x="1056005" y="4712970"/>
            <a:ext cx="10287000" cy="1506855"/>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Zero Real-Time Visibility: impossible to determine exactly which feature values are being served to customers at any moment.</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No Analytical Capability: data stored in Lava cannot be audited, reviewed, or queried via standard OLAP tools.</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Limited Extensibility: no backfill capability, blocking the launch of new customer-facing online features.</a:t>
            </a: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设计总结</a:t>
            </a:r>
            <a:endParaRPr sz="900" b="1">
              <a:solidFill>
                <a:srgbClr val="2563EB"/>
              </a:solidFill>
            </a:endParaRPr>
          </a:p>
        </p:txBody>
      </p:sp>
      <p:sp>
        <p:nvSpPr>
          <p:cNvPr id="3" name="矩形 2"/>
          <p:cNvSpPr>
            <a:spLocks noGrp="1"/>
          </p:cNvSpPr>
          <p:nvPr/>
        </p:nvSpPr>
        <p:spPr>
          <a:xfrm>
            <a:off x="685800" y="647700"/>
            <a:ext cx="4762500" cy="457200"/>
          </a:xfrm>
          <a:prstGeom prst="rect">
            <a:avLst/>
          </a:prstGeom>
          <a:noFill/>
          <a:ln w="0">
            <a:noFill/>
            <a:prstDash val="solid"/>
          </a:ln>
        </p:spPr>
        <p:txBody>
          <a:bodyPr/>
          <a:lstStyle/>
          <a:p>
            <a:pPr>
              <a:defRPr sz="2700" b="1">
                <a:solidFill>
                  <a:srgbClr val="0F172A"/>
                </a:solidFill>
              </a:defRPr>
            </a:pPr>
            <a:r>
              <a:rPr lang="zh-CN" sz="2700" b="1">
                <a:solidFill>
                  <a:srgbClr val="0F172A"/>
                </a:solidFill>
              </a:rPr>
              <a:t>架构的</a:t>
            </a:r>
            <a:r>
              <a:rPr lang="zh-CN" sz="2700" b="1">
                <a:solidFill>
                  <a:srgbClr val="0F172A"/>
                </a:solidFill>
              </a:rPr>
              <a:t>问题</a:t>
            </a:r>
            <a:endParaRPr lang="zh-CN" sz="2700" b="1">
              <a:solidFill>
                <a:srgbClr val="0F172A"/>
              </a:solidFill>
            </a:endParaRPr>
          </a:p>
        </p:txBody>
      </p:sp>
      <p:sp>
        <p:nvSpPr>
          <p:cNvPr id="4" name="圆角矩形 3"/>
          <p:cNvSpPr>
            <a:spLocks noGrp="1"/>
          </p:cNvSpPr>
          <p:nvPr/>
        </p:nvSpPr>
        <p:spPr>
          <a:xfrm>
            <a:off x="685800" y="1428750"/>
            <a:ext cx="10820400" cy="3281045"/>
          </a:xfrm>
          <a:prstGeom prst="roundRect">
            <a:avLst>
              <a:gd name="adj" fmla="val 13636"/>
            </a:avLst>
          </a:prstGeom>
          <a:solidFill>
            <a:srgbClr val="FFFFFF"/>
          </a:solidFill>
          <a:ln w="19050">
            <a:solidFill>
              <a:srgbClr val="E2E8F0"/>
            </a:solidFill>
            <a:prstDash val="solid"/>
          </a:ln>
        </p:spPr>
        <p:txBody>
          <a:bodyPr/>
          <a:p/>
        </p:txBody>
      </p:sp>
      <p:sp>
        <p:nvSpPr>
          <p:cNvPr id="5" name="矩形 4"/>
          <p:cNvSpPr>
            <a:spLocks noGrp="1"/>
          </p:cNvSpPr>
          <p:nvPr/>
        </p:nvSpPr>
        <p:spPr>
          <a:xfrm>
            <a:off x="952500" y="1562100"/>
            <a:ext cx="10287000" cy="266700"/>
          </a:xfrm>
          <a:prstGeom prst="rect">
            <a:avLst/>
          </a:prstGeom>
          <a:noFill/>
          <a:ln w="0">
            <a:noFill/>
            <a:prstDash val="solid"/>
          </a:ln>
        </p:spPr>
        <p:txBody>
          <a:bodyPr/>
          <a:lstStyle/>
          <a:p>
            <a:pPr>
              <a:defRPr sz="1500" b="1">
                <a:solidFill>
                  <a:srgbClr val="0F172A"/>
                </a:solidFill>
              </a:defRPr>
            </a:pPr>
            <a:r>
              <a:rPr lang="en-US" sz="1800" b="1">
                <a:solidFill>
                  <a:srgbClr val="0F172A"/>
                </a:solidFill>
              </a:rPr>
              <a:t>No Compaction on Online Cassandra Volume</a:t>
            </a:r>
            <a:endParaRPr lang="zh-CN" sz="1800" b="1">
              <a:solidFill>
                <a:srgbClr val="0F172A"/>
              </a:solidFill>
            </a:endParaRPr>
          </a:p>
        </p:txBody>
      </p:sp>
      <p:sp>
        <p:nvSpPr>
          <p:cNvPr id="6" name="矩形 5"/>
          <p:cNvSpPr>
            <a:spLocks noGrp="1"/>
          </p:cNvSpPr>
          <p:nvPr/>
        </p:nvSpPr>
        <p:spPr>
          <a:xfrm>
            <a:off x="952500" y="1866900"/>
            <a:ext cx="10287000" cy="285750"/>
          </a:xfrm>
          <a:prstGeom prst="rect">
            <a:avLst/>
          </a:prstGeom>
          <a:noFill/>
          <a:ln w="0">
            <a:noFill/>
            <a:prstDash val="solid"/>
          </a:ln>
        </p:spPr>
        <p:txBody>
          <a:bodyPr/>
          <a:lstStyle/>
          <a:p>
            <a:pPr>
              <a:defRPr sz="1050">
                <a:solidFill>
                  <a:srgbClr val="475569"/>
                </a:solidFill>
              </a:defRPr>
            </a:pPr>
            <a:r>
              <a:rPr lang="en-US" sz="1800" b="1">
                <a:solidFill>
                  <a:schemeClr val="accent1"/>
                </a:solidFill>
                <a:effectLst>
                  <a:outerShdw blurRad="38100" dist="25400" dir="5400000" algn="ctr" rotWithShape="0">
                    <a:srgbClr val="6E747A">
                      <a:alpha val="43000"/>
                      <a:alpha val="43000"/>
                    </a:srgbClr>
                  </a:outerShdw>
                </a:effectLst>
                <a:sym typeface="+mn-ea"/>
              </a:rPr>
              <a:t>e.g., 30 TB six months ago → 40 TB today, with no way to compact</a:t>
            </a:r>
            <a:endParaRPr lang="en-US" sz="1800">
              <a:solidFill>
                <a:schemeClr val="accent1"/>
              </a:solidFill>
              <a:effectLst>
                <a:outerShdw blurRad="38100" dist="25400" dir="5400000" algn="ctr" rotWithShape="0">
                  <a:srgbClr val="6E747A">
                    <a:alpha val="43000"/>
                    <a:alpha val="43000"/>
                  </a:srgbClr>
                </a:outerShdw>
              </a:effectLst>
            </a:endParaRPr>
          </a:p>
        </p:txBody>
      </p:sp>
      <p:sp>
        <p:nvSpPr>
          <p:cNvPr id="8" name="矩形 7"/>
          <p:cNvSpPr>
            <a:spLocks noGrp="1"/>
          </p:cNvSpPr>
          <p:nvPr/>
        </p:nvSpPr>
        <p:spPr>
          <a:xfrm>
            <a:off x="1127760" y="2348865"/>
            <a:ext cx="10287000" cy="266700"/>
          </a:xfrm>
          <a:prstGeom prst="rect">
            <a:avLst/>
          </a:prstGeom>
          <a:noFill/>
          <a:ln w="0">
            <a:noFill/>
            <a:prstDash val="solid"/>
          </a:ln>
        </p:spPr>
        <p:txBody>
          <a:bodyPr/>
          <a:p>
            <a:pPr>
              <a:defRPr sz="1500" b="1">
                <a:solidFill>
                  <a:srgbClr val="0F172A"/>
                </a:solidFill>
              </a:defRPr>
            </a:pPr>
            <a:r>
              <a:rPr lang="en-US" sz="1800" b="1">
                <a:solidFill>
                  <a:srgbClr val="0F172A"/>
                </a:solidFill>
              </a:rPr>
              <a:t>Additional Issues</a:t>
            </a:r>
            <a:endParaRPr lang="zh-CN" sz="1800" b="1">
              <a:solidFill>
                <a:srgbClr val="0F172A"/>
              </a:solidFill>
            </a:endParaRPr>
          </a:p>
        </p:txBody>
      </p:sp>
      <p:sp>
        <p:nvSpPr>
          <p:cNvPr id="9" name="矩形 8"/>
          <p:cNvSpPr>
            <a:spLocks noGrp="1"/>
          </p:cNvSpPr>
          <p:nvPr/>
        </p:nvSpPr>
        <p:spPr>
          <a:xfrm>
            <a:off x="1055370" y="2780665"/>
            <a:ext cx="10287000" cy="2042795"/>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sym typeface="+mn-ea"/>
              </a:rPr>
              <a:t>Unmonitored SLA: no tracking or alerting on per-record update latency.</a:t>
            </a:r>
            <a:endParaRPr lang="en-US" sz="1800">
              <a:solidFill>
                <a:schemeClr val="accent1"/>
              </a:solidFill>
              <a:effectLst>
                <a:outerShdw blurRad="38100" dist="25400" dir="5400000" algn="ctr" rotWithShape="0">
                  <a:srgbClr val="6E747A">
                    <a:alpha val="43000"/>
                    <a:alpha val="43000"/>
                  </a:srgbClr>
                </a:outerShdw>
              </a:effectLst>
              <a:sym typeface="+mn-ea"/>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No Dynamic Scaling: Cassandra requires heavy over-provisioning to handle peak traffic spikes.</a:t>
            </a:r>
            <a:endParaRPr lang="en-US" sz="1800">
              <a:solidFill>
                <a:schemeClr val="accent1"/>
              </a:solidFill>
              <a:effectLst>
                <a:outerShdw blurRad="38100" dist="25400" dir="5400000" algn="ctr" rotWithShape="0">
                  <a:srgbClr val="6E747A">
                    <a:alpha val="43000"/>
                    <a:alpha val="43000"/>
                  </a:srgbClr>
                </a:outerShdw>
              </a:effectLst>
            </a:endParaRPr>
          </a:p>
          <a:p>
            <a:pPr marL="285750" indent="-285750">
              <a:buFont typeface="Arial" panose="020B0604020202090204" pitchFamily="34" charset="0"/>
              <a:buChar char="•"/>
              <a:defRPr sz="1050">
                <a:solidFill>
                  <a:srgbClr val="475569"/>
                </a:solidFill>
              </a:defRPr>
            </a:pPr>
            <a:r>
              <a:rPr lang="en-US" sz="1800">
                <a:solidFill>
                  <a:schemeClr val="accent1"/>
                </a:solidFill>
                <a:effectLst>
                  <a:outerShdw blurRad="38100" dist="25400" dir="5400000" algn="ctr" rotWithShape="0">
                    <a:srgbClr val="6E747A">
                      <a:alpha val="43000"/>
                      <a:alpha val="43000"/>
                    </a:srgbClr>
                  </a:outerShdw>
                </a:effectLst>
              </a:rPr>
              <a:t>inefficent processing: real-time data updates operate o an inefficent” one thread per record” archi.</a:t>
            </a: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矩形 1"/>
          <p:cNvSpPr>
            <a:spLocks noGrp="1"/>
          </p:cNvSpPr>
          <p:nvPr/>
        </p:nvSpPr>
        <p:spPr>
          <a:xfrm>
            <a:off x="685800" y="381000"/>
            <a:ext cx="1905000" cy="190500"/>
          </a:xfrm>
          <a:prstGeom prst="rect">
            <a:avLst/>
          </a:prstGeom>
          <a:noFill/>
          <a:ln w="0">
            <a:noFill/>
            <a:prstDash val="solid"/>
          </a:ln>
        </p:spPr>
        <p:txBody>
          <a:bodyPr/>
          <a:lstStyle/>
          <a:p>
            <a:pPr>
              <a:defRPr sz="900" b="1">
                <a:solidFill>
                  <a:srgbClr val="2563EB"/>
                </a:solidFill>
              </a:defRPr>
            </a:pPr>
            <a:r>
              <a:rPr sz="900" b="1">
                <a:solidFill>
                  <a:srgbClr val="2563EB"/>
                </a:solidFill>
              </a:rPr>
              <a:t>新架构方案：Kappa 架构替代 Lambda</a:t>
            </a:r>
            <a:endParaRPr sz="900" b="1">
              <a:solidFill>
                <a:srgbClr val="2563EB"/>
              </a:solidFill>
            </a:endParaRPr>
          </a:p>
        </p:txBody>
      </p:sp>
      <p:sp>
        <p:nvSpPr>
          <p:cNvPr id="3" name="矩形 2"/>
          <p:cNvSpPr>
            <a:spLocks noGrp="1"/>
          </p:cNvSpPr>
          <p:nvPr/>
        </p:nvSpPr>
        <p:spPr>
          <a:xfrm>
            <a:off x="685800" y="647700"/>
            <a:ext cx="8244205" cy="457200"/>
          </a:xfrm>
          <a:prstGeom prst="rect">
            <a:avLst/>
          </a:prstGeom>
          <a:noFill/>
          <a:ln w="0">
            <a:noFill/>
            <a:prstDash val="solid"/>
          </a:ln>
        </p:spPr>
        <p:txBody>
          <a:bodyPr/>
          <a:lstStyle/>
          <a:p>
            <a:pPr>
              <a:defRPr sz="2700" b="1">
                <a:solidFill>
                  <a:srgbClr val="0F172A"/>
                </a:solidFill>
              </a:defRPr>
            </a:pPr>
            <a:r>
              <a:rPr lang="en-US" altLang="zh-CN">
                <a:sym typeface="+mn-ea"/>
              </a:rPr>
              <a:t>1. Data Consistency &amp; Visibility</a:t>
            </a:r>
            <a:endParaRPr lang="zh-CN" altLang="en-US"/>
          </a:p>
          <a:p>
            <a:pPr>
              <a:defRPr sz="2700" b="1">
                <a:solidFill>
                  <a:srgbClr val="0F172A"/>
                </a:solidFill>
              </a:defRPr>
            </a:pPr>
            <a:endParaRPr lang="zh-CN" sz="2700" b="1">
              <a:solidFill>
                <a:srgbClr val="0F172A"/>
              </a:solidFill>
            </a:endParaRPr>
          </a:p>
        </p:txBody>
      </p:sp>
      <p:sp>
        <p:nvSpPr>
          <p:cNvPr id="4" name="圆角矩形 3"/>
          <p:cNvSpPr>
            <a:spLocks noGrp="1"/>
          </p:cNvSpPr>
          <p:nvPr/>
        </p:nvSpPr>
        <p:spPr>
          <a:xfrm>
            <a:off x="479425" y="1557020"/>
            <a:ext cx="10820400" cy="4701540"/>
          </a:xfrm>
          <a:prstGeom prst="roundRect">
            <a:avLst>
              <a:gd name="adj" fmla="val 13636"/>
            </a:avLst>
          </a:prstGeom>
          <a:solidFill>
            <a:srgbClr val="FFFFFF"/>
          </a:solidFill>
          <a:ln w="19050">
            <a:solidFill>
              <a:srgbClr val="E2E8F0"/>
            </a:solidFill>
            <a:prstDash val="solid"/>
          </a:ln>
        </p:spPr>
        <p:txBody>
          <a:bodyPr/>
          <a:p/>
        </p:txBody>
      </p:sp>
      <p:sp>
        <p:nvSpPr>
          <p:cNvPr id="5" name="矩形 4"/>
          <p:cNvSpPr>
            <a:spLocks noGrp="1"/>
          </p:cNvSpPr>
          <p:nvPr/>
        </p:nvSpPr>
        <p:spPr>
          <a:xfrm>
            <a:off x="1127760" y="1844675"/>
            <a:ext cx="10287000" cy="266700"/>
          </a:xfrm>
          <a:prstGeom prst="rect">
            <a:avLst/>
          </a:prstGeom>
          <a:noFill/>
          <a:ln w="0">
            <a:noFill/>
            <a:prstDash val="solid"/>
          </a:ln>
        </p:spPr>
        <p:txBody>
          <a:bodyPr/>
          <a:lstStyle/>
          <a:p>
            <a:pPr>
              <a:defRPr sz="1500" b="1">
                <a:solidFill>
                  <a:srgbClr val="0F172A"/>
                </a:solidFill>
              </a:defRPr>
            </a:pPr>
            <a:r>
              <a:rPr lang="en-US" altLang="zh-CN" sz="1800" b="1">
                <a:solidFill>
                  <a:srgbClr val="0F172A"/>
                </a:solidFill>
              </a:rPr>
              <a:t> Guaranteed Data Consistency: </a:t>
            </a:r>
            <a:r>
              <a:rPr lang="en-US" altLang="zh-CN" sz="1800" b="0">
                <a:solidFill>
                  <a:srgbClr val="0F172A"/>
                </a:solidFill>
              </a:rPr>
              <a:t>Sequential timestamp-ordered updates eliminate dual-write desynchronization.</a:t>
            </a:r>
            <a:endParaRPr lang="en-US" altLang="zh-CN" sz="1800" b="0">
              <a:solidFill>
                <a:srgbClr val="0F172A"/>
              </a:solidFill>
            </a:endParaRPr>
          </a:p>
          <a:p>
            <a:pPr>
              <a:defRPr sz="1500" b="1">
                <a:solidFill>
                  <a:srgbClr val="0F172A"/>
                </a:solidFill>
              </a:defRPr>
            </a:pPr>
            <a:r>
              <a:rPr lang="en-US" altLang="zh-CN" sz="1800" b="1">
                <a:solidFill>
                  <a:srgbClr val="0F172A"/>
                </a:solidFill>
              </a:rPr>
              <a:t>• Full Data Visibility &amp; Extensibility: </a:t>
            </a:r>
            <a:r>
              <a:rPr lang="en-US" altLang="zh-CN" sz="1800" b="0">
                <a:solidFill>
                  <a:srgbClr val="0F172A"/>
                </a:solidFill>
              </a:rPr>
              <a:t>Materialized views enable real-time auditability and seamless backfill for new features.</a:t>
            </a:r>
            <a:endParaRPr lang="en-US" altLang="zh-CN" sz="1800" b="0">
              <a:solidFill>
                <a:srgbClr val="0F172A"/>
              </a:solidFill>
            </a:endParaRPr>
          </a:p>
          <a:p>
            <a:pPr>
              <a:defRPr sz="1500" b="1">
                <a:solidFill>
                  <a:srgbClr val="0F172A"/>
                </a:solidFill>
              </a:defRPr>
            </a:pPr>
            <a:r>
              <a:rPr lang="en-US" altLang="zh-CN" sz="1800" b="1">
                <a:solidFill>
                  <a:srgbClr val="0F172A"/>
                </a:solidFill>
              </a:rPr>
              <a:t>• Optimized Storage &amp; Cost Reductions: </a:t>
            </a:r>
            <a:r>
              <a:rPr lang="en-US" altLang="zh-CN" sz="1800" b="0">
                <a:solidFill>
                  <a:srgbClr val="0F172A"/>
                </a:solidFill>
              </a:rPr>
              <a:t>Offline compaction in Data Lake reduces online storage footprint and cost.</a:t>
            </a:r>
            <a:endParaRPr lang="en-US" altLang="zh-CN" sz="1800" b="0">
              <a:solidFill>
                <a:srgbClr val="0F172A"/>
              </a:solidFill>
            </a:endParaRPr>
          </a:p>
          <a:p>
            <a:pPr>
              <a:defRPr sz="1500" b="1">
                <a:solidFill>
                  <a:srgbClr val="0F172A"/>
                </a:solidFill>
              </a:defRPr>
            </a:pPr>
            <a:r>
              <a:rPr lang="en-US" altLang="zh-CN" sz="1800" b="1">
                <a:solidFill>
                  <a:srgbClr val="0F172A"/>
                </a:solidFill>
              </a:rPr>
              <a:t>• Strict SLA Enforcement: </a:t>
            </a:r>
            <a:r>
              <a:rPr lang="en-US" altLang="zh-CN" sz="1800" b="0">
                <a:solidFill>
                  <a:srgbClr val="0F172A"/>
                </a:solidFill>
              </a:rPr>
              <a:t>Layered SLA: stream &lt; 1s, batch &lt; 10 min as guaranteed fallback.</a:t>
            </a:r>
            <a:endParaRPr lang="en-US" altLang="zh-CN" sz="1800" b="0">
              <a:solidFill>
                <a:srgbClr val="0F172A"/>
              </a:solidFill>
            </a:endParaRPr>
          </a:p>
          <a:p>
            <a:pPr>
              <a:defRPr sz="1500" b="1">
                <a:solidFill>
                  <a:srgbClr val="0F172A"/>
                </a:solidFill>
              </a:defRPr>
            </a:pPr>
            <a:r>
              <a:rPr lang="en-US" altLang="zh-CN" sz="1800" b="1">
                <a:solidFill>
                  <a:srgbClr val="0F172A"/>
                </a:solidFill>
              </a:rPr>
              <a:t>• Elastic Infrastructure:</a:t>
            </a:r>
            <a:r>
              <a:rPr lang="en-US" altLang="zh-CN" sz="1800" b="0">
                <a:solidFill>
                  <a:srgbClr val="0F172A"/>
                </a:solidFill>
              </a:rPr>
              <a:t> Decoupled compute and storage enables elastic scale-out/in of the NRT Proton store.</a:t>
            </a:r>
            <a:endParaRPr lang="en-US" altLang="zh-CN" sz="1800" b="0">
              <a:solidFill>
                <a:srgbClr val="0F172A"/>
              </a:solidFill>
            </a:endParaRPr>
          </a:p>
          <a:p>
            <a:pPr>
              <a:defRPr sz="1500" b="1">
                <a:solidFill>
                  <a:srgbClr val="0F172A"/>
                </a:solidFill>
              </a:defRPr>
            </a:pPr>
            <a:r>
              <a:rPr lang="en-US" altLang="zh-CN" sz="1800" b="1">
                <a:solidFill>
                  <a:srgbClr val="0F172A"/>
                </a:solidFill>
              </a:rPr>
              <a:t>• High-Throughput Processing: </a:t>
            </a:r>
            <a:r>
              <a:rPr lang="en-US" altLang="zh-CN" sz="1800" b="0">
                <a:solidFill>
                  <a:srgbClr val="0F172A"/>
                </a:solidFill>
              </a:rPr>
              <a:t>Micro-batch processing replaces single-threaded record-at-a-time updates.</a:t>
            </a:r>
            <a:endParaRPr lang="en-US" altLang="zh-CN" sz="1800" b="0">
              <a:solidFill>
                <a:srgbClr val="0F172A"/>
              </a:solidFill>
            </a:endParaRPr>
          </a:p>
          <a:p>
            <a:pPr>
              <a:defRPr sz="1500" b="1">
                <a:solidFill>
                  <a:srgbClr val="0F172A"/>
                </a:solidFill>
              </a:defRPr>
            </a:pPr>
            <a:r>
              <a:rPr lang="en-US" altLang="zh-CN" sz="1800" b="1">
                <a:solidFill>
                  <a:srgbClr val="0F172A"/>
                </a:solidFill>
              </a:rPr>
              <a:t>• Fair Cost Attribution:</a:t>
            </a:r>
            <a:r>
              <a:rPr lang="en-US" altLang="zh-CN" sz="1800" b="0">
                <a:solidFill>
                  <a:srgbClr val="0F172A"/>
                </a:solidFill>
              </a:rPr>
              <a:t> Per-tenant pipeline and storage isolation enables fair cost attribution by organization.</a:t>
            </a:r>
            <a:endParaRPr lang="en-US" altLang="zh-CN" sz="1800" b="0">
              <a:solidFill>
                <a:srgbClr val="0F172A"/>
              </a:solidFill>
            </a:endParaRPr>
          </a:p>
          <a:p>
            <a:pPr>
              <a:defRPr sz="1500" b="1">
                <a:solidFill>
                  <a:srgbClr val="0F172A"/>
                </a:solidFill>
              </a:defRPr>
            </a:pPr>
            <a:r>
              <a:rPr lang="en-US" altLang="zh-CN" sz="1800" b="1">
                <a:solidFill>
                  <a:srgbClr val="0F172A"/>
                </a:solidFill>
              </a:rPr>
              <a:t>• Inter-Org Data Sharing: </a:t>
            </a:r>
            <a:r>
              <a:rPr lang="en-US" altLang="zh-CN" sz="1800" b="0">
                <a:solidFill>
                  <a:srgbClr val="0F172A"/>
                </a:solidFill>
              </a:rPr>
              <a:t>Cloud-native IAM (S3 + DynamoDB) enables secure cross-org data sharing without data copies.</a:t>
            </a:r>
            <a:endParaRPr lang="en-US" altLang="zh-CN" sz="1800" b="0">
              <a:solidFill>
                <a:srgbClr val="0F172A"/>
              </a:solidFill>
            </a:endParaRPr>
          </a:p>
        </p:txBody>
      </p:sp>
      <p:sp>
        <p:nvSpPr>
          <p:cNvPr id="9" name="矩形 8"/>
          <p:cNvSpPr>
            <a:spLocks noGrp="1"/>
          </p:cNvSpPr>
          <p:nvPr/>
        </p:nvSpPr>
        <p:spPr>
          <a:xfrm>
            <a:off x="1055370" y="2780665"/>
            <a:ext cx="10287000" cy="3309620"/>
          </a:xfrm>
          <a:prstGeom prst="rect">
            <a:avLst/>
          </a:prstGeom>
          <a:noFill/>
          <a:ln w="0">
            <a:noFill/>
            <a:prstDash val="solid"/>
          </a:ln>
        </p:spPr>
        <p:txBody>
          <a:bodyPr/>
          <a:p>
            <a:pPr marL="285750" indent="-285750">
              <a:buFont typeface="Arial" panose="020B0604020202090204" pitchFamily="34" charset="0"/>
              <a:buChar char="•"/>
              <a:defRPr sz="1050">
                <a:solidFill>
                  <a:srgbClr val="475569"/>
                </a:solidFill>
              </a:defRPr>
            </a:pPr>
            <a:endParaRPr lang="en-US" sz="18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文"/>
          <p:cNvSpPr txBox="1"/>
          <p:nvPr>
            <p:custDataLst>
              <p:tags r:id="rId1"/>
            </p:custDataLst>
          </p:nvPr>
        </p:nvSpPr>
        <p:spPr>
          <a:xfrm>
            <a:off x="631825" y="1276985"/>
            <a:ext cx="10610850" cy="5482590"/>
          </a:xfrm>
          <a:prstGeom prst="rect">
            <a:avLst/>
          </a:prstGeom>
          <a:noFill/>
        </p:spPr>
        <p:txBody>
          <a:bodyPr wrap="square" lIns="90170" tIns="46990" rIns="90170" bIns="46990" rtlCol="0" anchor="ctr" anchorCtr="0">
            <a:normAutofit fontScale="80000"/>
          </a:bodyPr>
          <a:lstStyle/>
          <a:p>
            <a:pPr>
              <a:spcAft>
                <a:spcPct val="60000"/>
              </a:spcAft>
            </a:pPr>
            <a:r>
              <a:rPr lang="en-US" altLang="zh-CN" b="1">
                <a:sym typeface="+mn-ea"/>
              </a:rPr>
              <a:t>1. Guaranteed Data Consistency</a:t>
            </a:r>
            <a:r>
              <a:rPr lang="zh-CN" altLang="en-US" b="1">
                <a:sym typeface="+mn-ea"/>
              </a:rPr>
              <a:t>（基于数据时间戳的顺序更新，消除不同步）</a:t>
            </a:r>
            <a:endParaRPr lang="zh-CN" altLang="en-US" b="1"/>
          </a:p>
          <a:p>
            <a:pPr indent="0" algn="just" fontAlgn="auto">
              <a:lnSpc>
                <a:spcPct val="130000"/>
              </a:lnSpc>
            </a:pPr>
            <a:r>
              <a:rPr lang="zh-CN" altLang="en-US">
                <a:sym typeface="+mn-ea"/>
              </a:rPr>
              <a:t>这项能力的核心在于三个机制协同工作：</a:t>
            </a:r>
            <a:endParaRPr lang="zh-CN" altLang="en-US"/>
          </a:p>
          <a:p>
            <a:pPr>
              <a:buFont typeface="Arial" panose="020B0604020202090204"/>
              <a:buChar char="•"/>
            </a:pPr>
            <a:r>
              <a:rPr lang="en-US" altLang="zh-CN">
                <a:sym typeface="+mn-ea"/>
              </a:rPr>
              <a:t>Stream </a:t>
            </a:r>
            <a:r>
              <a:rPr lang="zh-CN" altLang="en-US">
                <a:sym typeface="+mn-ea"/>
              </a:rPr>
              <a:t>层的 </a:t>
            </a:r>
            <a:r>
              <a:rPr lang="en-US" altLang="zh-CN">
                <a:sym typeface="+mn-ea"/>
              </a:rPr>
              <a:t>Stateful Operators</a:t>
            </a:r>
            <a:r>
              <a:rPr lang="zh-CN" altLang="en-US">
                <a:sym typeface="+mn-ea"/>
              </a:rPr>
              <a:t>：有状态算子按 </a:t>
            </a:r>
            <a:r>
              <a:rPr lang="en-US" altLang="zh-CN">
                <a:sym typeface="+mn-ea"/>
              </a:rPr>
              <a:t>event time</a:t>
            </a:r>
            <a:r>
              <a:rPr lang="zh-CN" altLang="en-US">
                <a:sym typeface="+mn-ea"/>
              </a:rPr>
              <a:t>（数据时间戳）处理消息，而不是按到达时间。配合 </a:t>
            </a:r>
            <a:r>
              <a:rPr lang="en-US" altLang="zh-CN">
                <a:sym typeface="+mn-ea"/>
              </a:rPr>
              <a:t>watermark </a:t>
            </a:r>
            <a:r>
              <a:rPr lang="zh-CN" altLang="en-US">
                <a:sym typeface="+mn-ea"/>
              </a:rPr>
              <a:t>机制，即使上游乱序到达，输出到物化视图的顺序也是按业务时间排好的。</a:t>
            </a:r>
            <a:endParaRPr lang="zh-CN" altLang="en-US"/>
          </a:p>
          <a:p>
            <a:pPr>
              <a:buFont typeface="Arial" panose="020B0604020202090204"/>
              <a:buChar char="•"/>
            </a:pPr>
            <a:r>
              <a:rPr lang="zh-CN" altLang="en-US">
                <a:sym typeface="+mn-ea"/>
              </a:rPr>
              <a:t>统一存储替代双写：</a:t>
            </a:r>
            <a:r>
              <a:rPr lang="en-US" altLang="zh-CN">
                <a:sym typeface="+mn-ea"/>
              </a:rPr>
              <a:t>Cassandra + Redis </a:t>
            </a:r>
            <a:r>
              <a:rPr lang="zh-CN" altLang="en-US">
                <a:sym typeface="+mn-ea"/>
              </a:rPr>
              <a:t>双写之所以会不同步，是因为两个独立系统的写入没有原子性保证。新架构中物化视图写入单一统一存储，一次写入，天然一致。</a:t>
            </a:r>
            <a:endParaRPr lang="zh-CN" altLang="en-US"/>
          </a:p>
          <a:p>
            <a:pPr>
              <a:buFont typeface="Arial" panose="020B0604020202090204"/>
              <a:buChar char="•"/>
            </a:pPr>
            <a:r>
              <a:rPr lang="en-US" altLang="zh-CN">
                <a:sym typeface="+mn-ea"/>
              </a:rPr>
              <a:t>Batch </a:t>
            </a:r>
            <a:r>
              <a:rPr lang="zh-CN" altLang="en-US">
                <a:sym typeface="+mn-ea"/>
              </a:rPr>
              <a:t>层定期对账：批处理按时间戳重算全量</a:t>
            </a:r>
            <a:r>
              <a:rPr lang="en-US" altLang="zh-CN">
                <a:sym typeface="+mn-ea"/>
              </a:rPr>
              <a:t>/</a:t>
            </a:r>
            <a:r>
              <a:rPr lang="zh-CN" altLang="en-US">
                <a:sym typeface="+mn-ea"/>
              </a:rPr>
              <a:t>增量结果，与流层的物化视图做 </a:t>
            </a:r>
            <a:r>
              <a:rPr lang="en-US" altLang="zh-CN">
                <a:sym typeface="+mn-ea"/>
              </a:rPr>
              <a:t>reconciliation</a:t>
            </a:r>
            <a:r>
              <a:rPr lang="zh-CN" altLang="en-US">
                <a:sym typeface="+mn-ea"/>
              </a:rPr>
              <a:t>。任何流层的微小偏差都会被批处理修正。</a:t>
            </a:r>
            <a:endParaRPr lang="zh-CN" altLang="en-US"/>
          </a:p>
          <a:p>
            <a:pPr indent="0" algn="just" fontAlgn="auto">
              <a:lnSpc>
                <a:spcPct val="130000"/>
              </a:lnSpc>
            </a:pPr>
            <a:r>
              <a:rPr lang="zh-CN" altLang="en-US">
                <a:sym typeface="+mn-ea"/>
              </a:rPr>
              <a:t>这三层互相制约：流层保证低延迟的顺序写入，单一存储消除双写不一致，批层提供最终正确性的兜底。</a:t>
            </a:r>
            <a:endParaRPr lang="zh-CN" altLang="en-US"/>
          </a:p>
          <a:p>
            <a:pPr>
              <a:spcAft>
                <a:spcPct val="60000"/>
              </a:spcAft>
            </a:pPr>
            <a:r>
              <a:rPr lang="en-US" altLang="zh-CN" b="1">
                <a:sym typeface="+mn-ea"/>
              </a:rPr>
              <a:t>2. Full Data Visibility &amp; Extensibility</a:t>
            </a:r>
            <a:r>
              <a:rPr lang="zh-CN" altLang="en-US" b="1">
                <a:sym typeface="+mn-ea"/>
              </a:rPr>
              <a:t>（实时数据分析 </a:t>
            </a:r>
            <a:r>
              <a:rPr lang="en-US" altLang="zh-CN" b="1">
                <a:sym typeface="+mn-ea"/>
              </a:rPr>
              <a:t>+ </a:t>
            </a:r>
            <a:r>
              <a:rPr lang="zh-CN" altLang="en-US" b="1">
                <a:sym typeface="+mn-ea"/>
              </a:rPr>
              <a:t>新特征无缝回填）</a:t>
            </a:r>
            <a:endParaRPr lang="zh-CN" altLang="en-US" b="1"/>
          </a:p>
          <a:p>
            <a:pPr indent="0" algn="just" fontAlgn="auto">
              <a:lnSpc>
                <a:spcPct val="130000"/>
              </a:lnSpc>
            </a:pPr>
            <a:r>
              <a:rPr lang="zh-CN" altLang="en-US">
                <a:sym typeface="+mn-ea"/>
              </a:rPr>
              <a:t>这是一个</a:t>
            </a:r>
            <a:r>
              <a:rPr lang="en-US" altLang="zh-CN">
                <a:sym typeface="+mn-ea"/>
              </a:rPr>
              <a:t>**"</a:t>
            </a:r>
            <a:r>
              <a:rPr lang="zh-CN" altLang="en-US">
                <a:sym typeface="+mn-ea"/>
              </a:rPr>
              <a:t>可见性</a:t>
            </a:r>
            <a:r>
              <a:rPr lang="en-US" altLang="zh-CN">
                <a:sym typeface="+mn-ea"/>
              </a:rPr>
              <a:t>"</a:t>
            </a:r>
            <a:r>
              <a:rPr lang="zh-CN" altLang="en-US">
                <a:sym typeface="+mn-ea"/>
              </a:rPr>
              <a:t>和</a:t>
            </a:r>
            <a:r>
              <a:rPr lang="en-US" altLang="zh-CN">
                <a:sym typeface="+mn-ea"/>
              </a:rPr>
              <a:t>"</a:t>
            </a:r>
            <a:r>
              <a:rPr lang="zh-CN" altLang="en-US">
                <a:sym typeface="+mn-ea"/>
              </a:rPr>
              <a:t>可扩展性</a:t>
            </a:r>
            <a:r>
              <a:rPr lang="en-US" altLang="zh-CN">
                <a:sym typeface="+mn-ea"/>
              </a:rPr>
              <a:t>"**</a:t>
            </a:r>
            <a:r>
              <a:rPr lang="zh-CN" altLang="en-US">
                <a:sym typeface="+mn-ea"/>
              </a:rPr>
              <a:t>的组合：</a:t>
            </a:r>
            <a:endParaRPr lang="zh-CN" altLang="en-US"/>
          </a:p>
          <a:p>
            <a:pPr indent="0" algn="just" fontAlgn="auto">
              <a:lnSpc>
                <a:spcPct val="130000"/>
              </a:lnSpc>
            </a:pPr>
            <a:r>
              <a:rPr lang="zh-CN" altLang="en-US">
                <a:sym typeface="+mn-ea"/>
              </a:rPr>
              <a:t>可见性来自于：</a:t>
            </a:r>
            <a:endParaRPr lang="zh-CN" altLang="en-US"/>
          </a:p>
          <a:p>
            <a:pPr>
              <a:buFont typeface="Arial" panose="020B0604020202090204"/>
              <a:buChar char="•"/>
            </a:pPr>
            <a:r>
              <a:rPr lang="zh-CN" altLang="en-US">
                <a:sym typeface="+mn-ea"/>
              </a:rPr>
              <a:t>物化视图：流层实时维护的 </a:t>
            </a:r>
            <a:r>
              <a:rPr lang="en-US" altLang="zh-CN">
                <a:sym typeface="+mn-ea"/>
              </a:rPr>
              <a:t>Materialized Views </a:t>
            </a:r>
            <a:r>
              <a:rPr lang="zh-CN" altLang="en-US">
                <a:sym typeface="+mn-ea"/>
              </a:rPr>
              <a:t>是可查询的</a:t>
            </a:r>
            <a:r>
              <a:rPr lang="en-US" altLang="zh-CN">
                <a:sym typeface="+mn-ea"/>
              </a:rPr>
              <a:t>——</a:t>
            </a:r>
            <a:r>
              <a:rPr lang="zh-CN" altLang="en-US">
                <a:sym typeface="+mn-ea"/>
              </a:rPr>
              <a:t>你可以随时知道</a:t>
            </a:r>
            <a:r>
              <a:rPr lang="en-US" altLang="zh-CN">
                <a:sym typeface="+mn-ea"/>
              </a:rPr>
              <a:t>"</a:t>
            </a:r>
            <a:r>
              <a:rPr lang="zh-CN" altLang="en-US">
                <a:sym typeface="+mn-ea"/>
              </a:rPr>
              <a:t>此刻对客的是什么数据</a:t>
            </a:r>
            <a:r>
              <a:rPr lang="en-US" altLang="zh-CN">
                <a:sym typeface="+mn-ea"/>
              </a:rPr>
              <a:t>"</a:t>
            </a:r>
            <a:r>
              <a:rPr lang="zh-CN" altLang="en-US">
                <a:sym typeface="+mn-ea"/>
              </a:rPr>
              <a:t>，不再是黑盒。</a:t>
            </a:r>
            <a:endParaRPr lang="zh-CN" altLang="en-US"/>
          </a:p>
          <a:p>
            <a:pPr>
              <a:buFont typeface="Arial" panose="020B0604020202090204"/>
              <a:buChar char="•"/>
            </a:pPr>
            <a:r>
              <a:rPr lang="en-US" altLang="zh-CN">
                <a:sym typeface="+mn-ea"/>
              </a:rPr>
              <a:t>Data Lake</a:t>
            </a:r>
            <a:r>
              <a:rPr lang="zh-CN" altLang="en-US">
                <a:sym typeface="+mn-ea"/>
              </a:rPr>
              <a:t>：批处理层持续将全量数据写入数据湖，提供了任意时间跨度的审计和分析能力（</a:t>
            </a:r>
            <a:r>
              <a:rPr lang="en-US" altLang="zh-CN">
                <a:sym typeface="+mn-ea"/>
              </a:rPr>
              <a:t>SQL/OLAP</a:t>
            </a:r>
            <a:r>
              <a:rPr lang="zh-CN" altLang="en-US">
                <a:sym typeface="+mn-ea"/>
              </a:rPr>
              <a:t>）。</a:t>
            </a:r>
            <a:endParaRPr lang="zh-CN" altLang="en-US"/>
          </a:p>
          <a:p>
            <a:pPr indent="0" algn="just" fontAlgn="auto">
              <a:lnSpc>
                <a:spcPct val="130000"/>
              </a:lnSpc>
            </a:pPr>
            <a:r>
              <a:rPr lang="zh-CN" altLang="en-US">
                <a:sym typeface="+mn-ea"/>
              </a:rPr>
              <a:t>可扩展性来自于：</a:t>
            </a:r>
            <a:endParaRPr lang="zh-CN" altLang="en-US"/>
          </a:p>
          <a:p>
            <a:pPr>
              <a:buFont typeface="Arial" panose="020B0604020202090204"/>
              <a:buChar char="•"/>
            </a:pPr>
            <a:r>
              <a:rPr lang="zh-CN" altLang="en-US">
                <a:sym typeface="+mn-ea"/>
              </a:rPr>
              <a:t>新特征上线时，不再需要等待在线数据慢慢积累。批处理层可以直接在 </a:t>
            </a:r>
            <a:r>
              <a:rPr lang="en-US" altLang="zh-CN">
                <a:sym typeface="+mn-ea"/>
              </a:rPr>
              <a:t>Data Lake </a:t>
            </a:r>
            <a:r>
              <a:rPr lang="zh-CN" altLang="en-US">
                <a:sym typeface="+mn-ea"/>
              </a:rPr>
              <a:t>上回溯重算历史数据，产出一个完整的初始物化视图。</a:t>
            </a:r>
            <a:endParaRPr lang="zh-CN" altLang="en-US"/>
          </a:p>
          <a:p>
            <a:pPr>
              <a:buFont typeface="Arial" panose="020B0604020202090204"/>
              <a:buChar char="•"/>
            </a:pPr>
            <a:r>
              <a:rPr lang="zh-CN" altLang="en-US">
                <a:sym typeface="+mn-ea"/>
              </a:rPr>
              <a:t>流层再从这个初始状态开始增量更新。新特征的冷启动不需要</a:t>
            </a:r>
            <a:r>
              <a:rPr lang="en-US" altLang="zh-CN">
                <a:sym typeface="+mn-ea"/>
              </a:rPr>
              <a:t>"</a:t>
            </a:r>
            <a:r>
              <a:rPr lang="zh-CN" altLang="en-US">
                <a:sym typeface="+mn-ea"/>
              </a:rPr>
              <a:t>从零等数据</a:t>
            </a:r>
            <a:r>
              <a:rPr lang="en-US" altLang="zh-CN">
                <a:sym typeface="+mn-ea"/>
              </a:rPr>
              <a:t>"</a:t>
            </a:r>
            <a:r>
              <a:rPr lang="zh-CN" altLang="en-US">
                <a:sym typeface="+mn-ea"/>
              </a:rPr>
              <a:t>，而是</a:t>
            </a:r>
            <a:r>
              <a:rPr lang="en-US" altLang="zh-CN">
                <a:sym typeface="+mn-ea"/>
              </a:rPr>
              <a:t>"</a:t>
            </a:r>
            <a:r>
              <a:rPr lang="zh-CN" altLang="en-US">
                <a:sym typeface="+mn-ea"/>
              </a:rPr>
              <a:t>从历史快照切入 </a:t>
            </a:r>
            <a:r>
              <a:rPr lang="en-US" altLang="zh-CN">
                <a:sym typeface="+mn-ea"/>
              </a:rPr>
              <a:t>+ </a:t>
            </a:r>
            <a:r>
              <a:rPr lang="zh-CN" altLang="en-US">
                <a:sym typeface="+mn-ea"/>
              </a:rPr>
              <a:t>流增量追平</a:t>
            </a:r>
            <a:r>
              <a:rPr lang="en-US" altLang="zh-CN">
                <a:sym typeface="+mn-ea"/>
              </a:rPr>
              <a:t>"</a:t>
            </a:r>
            <a:r>
              <a:rPr lang="zh-CN" altLang="en-US">
                <a:sym typeface="+mn-ea"/>
              </a:rPr>
              <a:t>。</a:t>
            </a:r>
            <a:endParaRPr lang="zh-CN" altLang="en-US"/>
          </a:p>
          <a:p>
            <a:pPr indent="0" algn="just" fontAlgn="auto">
              <a:lnSpc>
                <a:spcPct val="130000"/>
              </a:lnSpc>
            </a:pPr>
            <a:r>
              <a:rPr lang="zh-CN" altLang="en-US">
                <a:sym typeface="+mn-ea"/>
              </a:rPr>
              <a:t>这两个能力本质上都源于架构同时维护了实时视图和历史全量两套数据。</a:t>
            </a:r>
            <a:endParaRPr lang="zh-CN" altLang="en-US">
              <a:sym typeface="+mn-ea"/>
            </a:endParaRPr>
          </a:p>
          <a:p>
            <a:pPr>
              <a:spcAft>
                <a:spcPct val="60000"/>
              </a:spcAft>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3" name="标题 2"/>
          <p:cNvSpPr>
            <a:spLocks noGrp="1"/>
          </p:cNvSpPr>
          <p:nvPr>
            <p:ph type="title"/>
            <p:custDataLst>
              <p:tags r:id="rId2"/>
            </p:custDataLst>
          </p:nvPr>
        </p:nvSpPr>
        <p:spPr>
          <a:xfrm>
            <a:off x="948690" y="535305"/>
            <a:ext cx="10346055" cy="720090"/>
          </a:xfrm>
        </p:spPr>
        <p:txBody>
          <a:bodyPr/>
          <a:lstStyle/>
          <a:p>
            <a:r>
              <a:t>Benefits 1–2</a:t>
            </a:r>
          </a:p>
        </p:txBody>
      </p:sp>
      <p:sp>
        <p:nvSpPr>
          <p:cNvPr id="27" name="任意多边形: 形状 26"/>
          <p:cNvSpPr/>
          <p:nvPr>
            <p:custDataLst>
              <p:tags r:id="rId3"/>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4"/>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5"/>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6"/>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文"/>
          <p:cNvSpPr txBox="1"/>
          <p:nvPr>
            <p:custDataLst>
              <p:tags r:id="rId1"/>
            </p:custDataLst>
          </p:nvPr>
        </p:nvSpPr>
        <p:spPr>
          <a:xfrm>
            <a:off x="570230" y="975360"/>
            <a:ext cx="10610850" cy="5482590"/>
          </a:xfrm>
          <a:prstGeom prst="rect">
            <a:avLst/>
          </a:prstGeom>
          <a:noFill/>
        </p:spPr>
        <p:txBody>
          <a:bodyPr wrap="square" lIns="90170" tIns="46990" rIns="90170" bIns="46990" rtlCol="0" anchor="ctr" anchorCtr="0">
            <a:normAutofit/>
          </a:bodyPr>
          <a:lstStyle/>
          <a:p>
            <a:pPr>
              <a:spcAft>
                <a:spcPct val="60000"/>
              </a:spcAft>
            </a:pPr>
            <a:r>
              <a:rPr lang="en-US" altLang="zh-CN" b="1">
                <a:sym typeface="+mn-ea"/>
              </a:rPr>
              <a:t>3. Optimized Storage &amp; Cost Reductions</a:t>
            </a:r>
            <a:r>
              <a:rPr lang="zh-CN" altLang="en-US" b="1">
                <a:sym typeface="+mn-ea"/>
              </a:rPr>
              <a:t>（离线批数据 </a:t>
            </a:r>
            <a:r>
              <a:rPr lang="en-US" altLang="zh-CN" b="1">
                <a:sym typeface="+mn-ea"/>
              </a:rPr>
              <a:t>compaction</a:t>
            </a:r>
            <a:r>
              <a:rPr lang="zh-CN" altLang="en-US" b="1">
                <a:sym typeface="+mn-ea"/>
              </a:rPr>
              <a:t>，大幅减少在线存储）</a:t>
            </a:r>
            <a:endParaRPr lang="zh-CN" altLang="en-US" b="1"/>
          </a:p>
          <a:p>
            <a:pPr indent="0" algn="just" fontAlgn="auto">
              <a:lnSpc>
                <a:spcPct val="130000"/>
              </a:lnSpc>
            </a:pPr>
            <a:r>
              <a:rPr lang="en-US" altLang="zh-CN" sz="1600">
                <a:sym typeface="+mn-ea"/>
              </a:rPr>
              <a:t>Cassandra </a:t>
            </a:r>
            <a:r>
              <a:rPr lang="zh-CN" altLang="en-US" sz="1600">
                <a:sym typeface="+mn-ea"/>
              </a:rPr>
              <a:t>的 </a:t>
            </a:r>
            <a:r>
              <a:rPr lang="en-US" altLang="zh-CN" sz="1600">
                <a:sym typeface="+mn-ea"/>
              </a:rPr>
              <a:t>compaction </a:t>
            </a:r>
            <a:r>
              <a:rPr lang="zh-CN" altLang="en-US" sz="1600">
                <a:sym typeface="+mn-ea"/>
              </a:rPr>
              <a:t>问题在于所有数据都在线，合并操作本身也会产生写放大。</a:t>
            </a:r>
            <a:endParaRPr lang="zh-CN" altLang="en-US" sz="1600"/>
          </a:p>
          <a:p>
            <a:pPr indent="0" algn="just" fontAlgn="auto">
              <a:lnSpc>
                <a:spcPct val="130000"/>
              </a:lnSpc>
            </a:pPr>
            <a:r>
              <a:rPr lang="zh-CN" altLang="en-US" sz="1600">
                <a:sym typeface="+mn-ea"/>
              </a:rPr>
              <a:t>新架构解决这个问题的思路是冷热分离：</a:t>
            </a:r>
            <a:endParaRPr lang="zh-CN" altLang="en-US" sz="1600"/>
          </a:p>
          <a:p>
            <a:pPr>
              <a:buFont typeface="Arial" panose="020B0604020202090204"/>
              <a:buChar char="•"/>
            </a:pPr>
            <a:r>
              <a:rPr lang="zh-CN" altLang="en-US" sz="1600">
                <a:sym typeface="+mn-ea"/>
              </a:rPr>
              <a:t>在线存储只保留近期热数据（比如最近 </a:t>
            </a:r>
            <a:r>
              <a:rPr lang="en-US" altLang="zh-CN" sz="1600">
                <a:sym typeface="+mn-ea"/>
              </a:rPr>
              <a:t>N </a:t>
            </a:r>
            <a:r>
              <a:rPr lang="zh-CN" altLang="en-US" sz="1600">
                <a:sym typeface="+mn-ea"/>
              </a:rPr>
              <a:t>天的物化视图），用于低延迟查询。</a:t>
            </a:r>
            <a:endParaRPr lang="zh-CN" altLang="en-US" sz="1600"/>
          </a:p>
          <a:p>
            <a:pPr>
              <a:buFont typeface="Arial" panose="020B0604020202090204"/>
              <a:buChar char="•"/>
            </a:pPr>
            <a:r>
              <a:rPr lang="en-US" altLang="zh-CN" sz="1600">
                <a:sym typeface="+mn-ea"/>
              </a:rPr>
              <a:t>Data Lake </a:t>
            </a:r>
            <a:r>
              <a:rPr lang="zh-CN" altLang="en-US" sz="1600">
                <a:sym typeface="+mn-ea"/>
              </a:rPr>
              <a:t>承担历史全量数据的存储，成本远低于在线 </a:t>
            </a:r>
            <a:r>
              <a:rPr lang="en-US" altLang="zh-CN" sz="1600">
                <a:sym typeface="+mn-ea"/>
              </a:rPr>
              <a:t>KV </a:t>
            </a:r>
            <a:r>
              <a:rPr lang="zh-CN" altLang="en-US" sz="1600">
                <a:sym typeface="+mn-ea"/>
              </a:rPr>
              <a:t>存储（对象存储 </a:t>
            </a:r>
            <a:r>
              <a:rPr lang="en-US" altLang="zh-CN" sz="1600">
                <a:sym typeface="+mn-ea"/>
              </a:rPr>
              <a:t>vs SSD</a:t>
            </a:r>
            <a:r>
              <a:rPr lang="zh-CN" altLang="en-US" sz="1600">
                <a:sym typeface="+mn-ea"/>
              </a:rPr>
              <a:t>）。</a:t>
            </a:r>
            <a:endParaRPr lang="zh-CN" altLang="en-US" sz="1600"/>
          </a:p>
          <a:p>
            <a:pPr>
              <a:buFont typeface="Arial" panose="020B0604020202090204"/>
              <a:buChar char="•"/>
            </a:pPr>
            <a:r>
              <a:rPr lang="zh-CN" altLang="en-US" sz="1600">
                <a:sym typeface="+mn-ea"/>
              </a:rPr>
              <a:t>离线 </a:t>
            </a:r>
            <a:r>
              <a:rPr lang="en-US" altLang="zh-CN" sz="1600">
                <a:sym typeface="+mn-ea"/>
              </a:rPr>
              <a:t>batch compaction </a:t>
            </a:r>
            <a:r>
              <a:rPr lang="zh-CN" altLang="en-US" sz="1600">
                <a:sym typeface="+mn-ea"/>
              </a:rPr>
              <a:t>在批处理层完成：合并小文件、去重、压缩、按列存优化</a:t>
            </a:r>
            <a:r>
              <a:rPr lang="en-US" altLang="zh-CN" sz="1600">
                <a:sym typeface="+mn-ea"/>
              </a:rPr>
              <a:t>——</a:t>
            </a:r>
            <a:r>
              <a:rPr lang="zh-CN" altLang="en-US" sz="1600">
                <a:sym typeface="+mn-ea"/>
              </a:rPr>
              <a:t>这些耗时操作完全不占用在线集群的 </a:t>
            </a:r>
            <a:r>
              <a:rPr lang="en-US" altLang="zh-CN" sz="1600">
                <a:sym typeface="+mn-ea"/>
              </a:rPr>
              <a:t>CPU </a:t>
            </a:r>
            <a:r>
              <a:rPr lang="zh-CN" altLang="en-US" sz="1600">
                <a:sym typeface="+mn-ea"/>
              </a:rPr>
              <a:t>和 </a:t>
            </a:r>
            <a:r>
              <a:rPr lang="en-US" altLang="zh-CN" sz="1600">
                <a:sym typeface="+mn-ea"/>
              </a:rPr>
              <a:t>IO</a:t>
            </a:r>
            <a:r>
              <a:rPr lang="zh-CN" altLang="en-US" sz="1600">
                <a:sym typeface="+mn-ea"/>
              </a:rPr>
              <a:t>。</a:t>
            </a:r>
            <a:endParaRPr lang="zh-CN" altLang="en-US" sz="1600"/>
          </a:p>
          <a:p>
            <a:pPr>
              <a:buFont typeface="Arial" panose="020B0604020202090204"/>
              <a:buChar char="•"/>
            </a:pPr>
            <a:r>
              <a:rPr lang="zh-CN" altLang="en-US" sz="1600">
                <a:sym typeface="+mn-ea"/>
              </a:rPr>
              <a:t>在线存储只需要服务实时查询，数据量可控，不再需要处理 </a:t>
            </a:r>
            <a:r>
              <a:rPr lang="en-US" altLang="zh-CN" sz="1600">
                <a:sym typeface="+mn-ea"/>
              </a:rPr>
              <a:t>compaction </a:t>
            </a:r>
            <a:r>
              <a:rPr lang="zh-CN" altLang="en-US" sz="1600">
                <a:sym typeface="+mn-ea"/>
              </a:rPr>
              <a:t>压力。</a:t>
            </a:r>
            <a:endParaRPr lang="zh-CN" altLang="en-US" sz="1600"/>
          </a:p>
          <a:p>
            <a:pPr indent="0" algn="just" fontAlgn="auto">
              <a:lnSpc>
                <a:spcPct val="130000"/>
              </a:lnSpc>
            </a:pPr>
            <a:r>
              <a:rPr lang="zh-CN" altLang="en-US" sz="1600">
                <a:sym typeface="+mn-ea"/>
              </a:rPr>
              <a:t>本质上是把</a:t>
            </a:r>
            <a:r>
              <a:rPr lang="en-US" altLang="zh-CN" sz="1600">
                <a:sym typeface="+mn-ea"/>
              </a:rPr>
              <a:t>"</a:t>
            </a:r>
            <a:r>
              <a:rPr lang="zh-CN" altLang="en-US" sz="1600">
                <a:sym typeface="+mn-ea"/>
              </a:rPr>
              <a:t>重操作</a:t>
            </a:r>
            <a:r>
              <a:rPr lang="en-US" altLang="zh-CN" sz="1600">
                <a:sym typeface="+mn-ea"/>
              </a:rPr>
              <a:t>"</a:t>
            </a:r>
            <a:r>
              <a:rPr lang="zh-CN" altLang="en-US" sz="1600">
                <a:sym typeface="+mn-ea"/>
              </a:rPr>
              <a:t>从在线路径移到离线路径，让在线部分保持轻量和低成本。</a:t>
            </a:r>
            <a:endParaRPr lang="zh-CN" altLang="en-US" sz="1600">
              <a:sym typeface="+mn-ea"/>
            </a:endParaRPr>
          </a:p>
          <a:p>
            <a:pPr>
              <a:spcAft>
                <a:spcPct val="60000"/>
              </a:spcAft>
            </a:pPr>
            <a:r>
              <a:rPr lang="en-US" altLang="zh-CN" b="1">
                <a:sym typeface="+mn-ea"/>
              </a:rPr>
              <a:t>4. Strict SLA Enforcement</a:t>
            </a:r>
            <a:r>
              <a:rPr lang="zh-CN" altLang="en-US" b="1">
                <a:sym typeface="+mn-ea"/>
              </a:rPr>
              <a:t>（新数据更新延迟严格 </a:t>
            </a:r>
            <a:r>
              <a:rPr lang="en-US" altLang="zh-CN" b="1">
                <a:sym typeface="+mn-ea"/>
              </a:rPr>
              <a:t>&lt; 10 </a:t>
            </a:r>
            <a:r>
              <a:rPr lang="zh-CN" altLang="en-US" b="1">
                <a:sym typeface="+mn-ea"/>
              </a:rPr>
              <a:t>分钟）</a:t>
            </a:r>
            <a:endParaRPr lang="zh-CN" altLang="en-US" b="1"/>
          </a:p>
          <a:p>
            <a:pPr indent="0" algn="just" fontAlgn="auto">
              <a:lnSpc>
                <a:spcPct val="130000"/>
              </a:lnSpc>
            </a:pPr>
            <a:r>
              <a:rPr lang="zh-CN" altLang="en-US" sz="1600">
                <a:sym typeface="+mn-ea"/>
              </a:rPr>
              <a:t>这个 </a:t>
            </a:r>
            <a:r>
              <a:rPr lang="en-US" altLang="zh-CN" sz="1600">
                <a:sym typeface="+mn-ea"/>
              </a:rPr>
              <a:t>SLA </a:t>
            </a:r>
            <a:r>
              <a:rPr lang="zh-CN" altLang="en-US" sz="1600">
                <a:sym typeface="+mn-ea"/>
              </a:rPr>
              <a:t>是流批协同的结果，不是单一组件能保证的：</a:t>
            </a:r>
            <a:endParaRPr lang="zh-CN" altLang="en-US" sz="1600"/>
          </a:p>
          <a:p>
            <a:pPr>
              <a:buFont typeface="Arial" panose="020B0604020202090204"/>
              <a:buChar char="•"/>
            </a:pPr>
            <a:r>
              <a:rPr lang="zh-CN" altLang="en-US" sz="1600">
                <a:sym typeface="+mn-ea"/>
              </a:rPr>
              <a:t>流层提供 </a:t>
            </a:r>
            <a:r>
              <a:rPr lang="en-US" altLang="zh-CN" sz="1600">
                <a:sym typeface="+mn-ea"/>
              </a:rPr>
              <a:t>&lt; 1 </a:t>
            </a:r>
            <a:r>
              <a:rPr lang="zh-CN" altLang="en-US" sz="1600">
                <a:sym typeface="+mn-ea"/>
              </a:rPr>
              <a:t>秒 的实时更新延迟</a:t>
            </a:r>
            <a:r>
              <a:rPr lang="en-US" altLang="zh-CN" sz="1600">
                <a:sym typeface="+mn-ea"/>
              </a:rPr>
              <a:t>——</a:t>
            </a:r>
            <a:r>
              <a:rPr lang="zh-CN" altLang="en-US" sz="1600">
                <a:sym typeface="+mn-ea"/>
              </a:rPr>
              <a:t>这是正常路径。</a:t>
            </a:r>
            <a:endParaRPr lang="zh-CN" altLang="en-US" sz="1600"/>
          </a:p>
          <a:p>
            <a:pPr>
              <a:buFont typeface="Arial" panose="020B0604020202090204"/>
              <a:buChar char="•"/>
            </a:pPr>
            <a:r>
              <a:rPr lang="zh-CN" altLang="en-US" sz="1600">
                <a:sym typeface="+mn-ea"/>
              </a:rPr>
              <a:t>但流层有失败的可能：消息堆积、算子重启、异常数据等。</a:t>
            </a:r>
            <a:endParaRPr lang="zh-CN" altLang="en-US" sz="1600"/>
          </a:p>
          <a:p>
            <a:pPr>
              <a:buFont typeface="Arial" panose="020B0604020202090204"/>
              <a:buChar char="•"/>
            </a:pPr>
            <a:r>
              <a:rPr lang="en-US" altLang="zh-CN" sz="1600">
                <a:sym typeface="+mn-ea"/>
              </a:rPr>
              <a:t>Batch </a:t>
            </a:r>
            <a:r>
              <a:rPr lang="zh-CN" altLang="en-US" sz="1600">
                <a:sym typeface="+mn-ea"/>
              </a:rPr>
              <a:t>层 提供了一个 </a:t>
            </a:r>
            <a:r>
              <a:rPr lang="en-US" altLang="zh-CN" sz="1600">
                <a:sym typeface="+mn-ea"/>
              </a:rPr>
              <a:t>&lt; 10 </a:t>
            </a:r>
            <a:r>
              <a:rPr lang="zh-CN" altLang="en-US" sz="1600">
                <a:sym typeface="+mn-ea"/>
              </a:rPr>
              <a:t>分钟的兜底保障：即使流层出现问题，批处理也会在 </a:t>
            </a:r>
            <a:r>
              <a:rPr lang="en-US" altLang="zh-CN" sz="1600">
                <a:sym typeface="+mn-ea"/>
              </a:rPr>
              <a:t>10 </a:t>
            </a:r>
            <a:r>
              <a:rPr lang="zh-CN" altLang="en-US" sz="1600">
                <a:sym typeface="+mn-ea"/>
              </a:rPr>
              <a:t>分钟内重算并覆盖结果。</a:t>
            </a:r>
            <a:endParaRPr lang="zh-CN" altLang="en-US" sz="1600"/>
          </a:p>
          <a:p>
            <a:pPr indent="0" algn="just" fontAlgn="auto">
              <a:lnSpc>
                <a:spcPct val="130000"/>
              </a:lnSpc>
            </a:pPr>
            <a:r>
              <a:rPr lang="zh-CN" altLang="en-US" sz="1600">
                <a:sym typeface="+mn-ea"/>
              </a:rPr>
              <a:t>这实际上是一个分层 </a:t>
            </a:r>
            <a:r>
              <a:rPr lang="en-US" altLang="zh-CN" sz="1600">
                <a:sym typeface="+mn-ea"/>
              </a:rPr>
              <a:t>SLA </a:t>
            </a:r>
            <a:r>
              <a:rPr lang="zh-CN" altLang="en-US" sz="1600">
                <a:sym typeface="+mn-ea"/>
              </a:rPr>
              <a:t>设计：</a:t>
            </a:r>
            <a:endParaRPr lang="zh-CN" altLang="en-US" sz="1600"/>
          </a:p>
          <a:p>
            <a:pPr indent="0" algn="just" fontAlgn="auto">
              <a:lnSpc>
                <a:spcPct val="130000"/>
              </a:lnSpc>
            </a:pPr>
            <a:endParaRPr lang="zh-CN" altLang="en-US" sz="1600" kern="0" spc="0" dirty="0">
              <a:ln>
                <a:noFill/>
                <a:prstDash val="sysDot"/>
              </a:ln>
              <a:solidFill>
                <a:schemeClr val="tx1">
                  <a:lumMod val="85000"/>
                  <a:lumOff val="15000"/>
                </a:schemeClr>
              </a:solidFill>
              <a:latin typeface="+mn-ea"/>
              <a:ea typeface="+mn-ea"/>
              <a:sym typeface="+mn-ea"/>
            </a:endParaRPr>
          </a:p>
        </p:txBody>
      </p:sp>
      <p:sp>
        <p:nvSpPr>
          <p:cNvPr id="3" name="标题 2"/>
          <p:cNvSpPr>
            <a:spLocks noGrp="1"/>
          </p:cNvSpPr>
          <p:nvPr>
            <p:ph type="title"/>
            <p:custDataLst>
              <p:tags r:id="rId2"/>
            </p:custDataLst>
          </p:nvPr>
        </p:nvSpPr>
        <p:spPr>
          <a:xfrm>
            <a:off x="948690" y="535305"/>
            <a:ext cx="10346055" cy="720090"/>
          </a:xfrm>
        </p:spPr>
        <p:txBody>
          <a:bodyPr/>
          <a:lstStyle/>
          <a:p>
            <a:r>
              <a:t>Benefits 3–4</a:t>
            </a:r>
          </a:p>
        </p:txBody>
      </p:sp>
      <p:sp>
        <p:nvSpPr>
          <p:cNvPr id="27" name="任意多边形: 形状 26"/>
          <p:cNvSpPr/>
          <p:nvPr>
            <p:custDataLst>
              <p:tags r:id="rId3"/>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4"/>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5"/>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6"/>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p:nvPr/>
        </p:nvGraphicFramePr>
        <p:xfrm>
          <a:off x="551815" y="5876608"/>
          <a:ext cx="10485120" cy="0"/>
        </p:xfrm>
        <a:graphic>
          <a:graphicData uri="http://schemas.openxmlformats.org/drawingml/2006/table">
            <a:tbl>
              <a:tblPr/>
              <a:tblGrid>
                <a:gridCol w="3495040"/>
                <a:gridCol w="3495040"/>
                <a:gridCol w="3495040"/>
              </a:tblGrid>
              <a:tr h="0">
                <a:tc>
                  <a:txBody>
                    <a:bodyPr/>
                    <a:p>
                      <a:r>
                        <a:rPr lang="zh-CN" altLang="en-US" sz="1100"/>
                        <a:t>层级</a:t>
                      </a:r>
                      <a:endParaRPr lang="zh-CN" altLang="en-US" sz="1100"/>
                    </a:p>
                  </a:txBody>
                  <a:tcPr marL="0" marR="0" marT="0" marB="0" anchor="ctr" anchorCtr="0">
                    <a:lnL>
                      <a:noFill/>
                    </a:lnL>
                    <a:lnR>
                      <a:noFill/>
                    </a:lnR>
                    <a:lnT>
                      <a:noFill/>
                    </a:lnT>
                    <a:lnB>
                      <a:noFill/>
                    </a:lnB>
                    <a:noFill/>
                  </a:tcPr>
                </a:tc>
                <a:tc>
                  <a:txBody>
                    <a:bodyPr/>
                    <a:p>
                      <a:r>
                        <a:rPr lang="zh-CN" altLang="en-US" sz="1100"/>
                        <a:t>正常路径延迟</a:t>
                      </a:r>
                      <a:endParaRPr lang="zh-CN" altLang="en-US" sz="1100"/>
                    </a:p>
                  </a:txBody>
                  <a:tcPr marL="0" marR="0" marT="0" marB="0" anchor="ctr" anchorCtr="0">
                    <a:lnL>
                      <a:noFill/>
                    </a:lnL>
                    <a:lnR>
                      <a:noFill/>
                    </a:lnR>
                    <a:lnT>
                      <a:noFill/>
                    </a:lnT>
                    <a:lnB>
                      <a:noFill/>
                    </a:lnB>
                    <a:noFill/>
                  </a:tcPr>
                </a:tc>
                <a:tc>
                  <a:txBody>
                    <a:bodyPr/>
                    <a:p>
                      <a:r>
                        <a:rPr lang="zh-CN" altLang="en-US" sz="1100"/>
                        <a:t>兜底路径延迟</a:t>
                      </a:r>
                      <a:endParaRPr lang="zh-CN" altLang="en-US" sz="1100"/>
                    </a:p>
                  </a:txBody>
                  <a:tcPr marL="0" marR="0" marT="0" marB="0" anchor="ctr" anchorCtr="0">
                    <a:lnL>
                      <a:noFill/>
                    </a:lnL>
                    <a:lnR>
                      <a:noFill/>
                    </a:lnR>
                    <a:lnT>
                      <a:noFill/>
                    </a:lnT>
                    <a:lnB>
                      <a:noFill/>
                    </a:lnB>
                    <a:noFill/>
                  </a:tcPr>
                </a:tc>
              </a:tr>
              <a:tr h="0">
                <a:tc>
                  <a:txBody>
                    <a:bodyPr/>
                    <a:p>
                      <a:r>
                        <a:rPr lang="en-US" altLang="zh-CN" sz="1100"/>
                        <a:t>Stream</a:t>
                      </a:r>
                      <a:endParaRPr lang="en-US" altLang="zh-CN" sz="1100"/>
                    </a:p>
                  </a:txBody>
                  <a:tcPr marL="0" marR="0" marT="0" marB="0" anchor="ctr" anchorCtr="0">
                    <a:lnL>
                      <a:noFill/>
                    </a:lnL>
                    <a:lnR>
                      <a:noFill/>
                    </a:lnR>
                    <a:lnT>
                      <a:noFill/>
                    </a:lnT>
                    <a:lnB>
                      <a:noFill/>
                    </a:lnB>
                    <a:noFill/>
                  </a:tcPr>
                </a:tc>
                <a:tc>
                  <a:txBody>
                    <a:bodyPr/>
                    <a:p>
                      <a:r>
                        <a:rPr lang="en-US" altLang="zh-CN" sz="1100"/>
                        <a:t>&lt; 1s</a:t>
                      </a:r>
                      <a:endParaRPr lang="en-US" altLang="zh-CN" sz="1100"/>
                    </a:p>
                  </a:txBody>
                  <a:tcPr marL="0" marR="0" marT="0" marB="0" anchor="ctr" anchorCtr="0">
                    <a:lnL>
                      <a:noFill/>
                    </a:lnL>
                    <a:lnR>
                      <a:noFill/>
                    </a:lnR>
                    <a:lnT>
                      <a:noFill/>
                    </a:lnT>
                    <a:lnB>
                      <a:noFill/>
                    </a:lnB>
                    <a:noFill/>
                  </a:tcPr>
                </a:tc>
                <a:tc>
                  <a:txBody>
                    <a:bodyPr/>
                    <a:p>
                      <a:r>
                        <a:rPr lang="en-US" altLang="zh-CN" sz="1100"/>
                        <a:t>—</a:t>
                      </a:r>
                      <a:endParaRPr lang="en-US" altLang="zh-CN" sz="1100"/>
                    </a:p>
                  </a:txBody>
                  <a:tcPr marL="0" marR="0" marT="0" marB="0" anchor="ctr" anchorCtr="0">
                    <a:lnL>
                      <a:noFill/>
                    </a:lnL>
                    <a:lnR>
                      <a:noFill/>
                    </a:lnR>
                    <a:lnT>
                      <a:noFill/>
                    </a:lnT>
                    <a:lnB>
                      <a:noFill/>
                    </a:lnB>
                    <a:noFill/>
                  </a:tcPr>
                </a:tc>
              </a:tr>
              <a:tr h="0">
                <a:tc>
                  <a:txBody>
                    <a:bodyPr/>
                    <a:p>
                      <a:r>
                        <a:rPr lang="en-US" altLang="zh-CN" sz="1100"/>
                        <a:t>Batch</a:t>
                      </a:r>
                      <a:endParaRPr lang="en-US" altLang="zh-CN" sz="1100"/>
                    </a:p>
                  </a:txBody>
                  <a:tcPr marL="0" marR="0" marT="0" marB="0" anchor="ctr" anchorCtr="0">
                    <a:lnL>
                      <a:noFill/>
                    </a:lnL>
                    <a:lnR>
                      <a:noFill/>
                    </a:lnR>
                    <a:lnT>
                      <a:noFill/>
                    </a:lnT>
                    <a:lnB>
                      <a:noFill/>
                    </a:lnB>
                    <a:noFill/>
                  </a:tcPr>
                </a:tc>
                <a:tc>
                  <a:txBody>
                    <a:bodyPr/>
                    <a:p>
                      <a:r>
                        <a:rPr lang="en-US" altLang="zh-CN" sz="1100"/>
                        <a:t>—</a:t>
                      </a:r>
                      <a:endParaRPr lang="en-US" altLang="zh-CN" sz="1100"/>
                    </a:p>
                  </a:txBody>
                  <a:tcPr marL="0" marR="0" marT="0" marB="0" anchor="ctr" anchorCtr="0">
                    <a:lnL>
                      <a:noFill/>
                    </a:lnL>
                    <a:lnR>
                      <a:noFill/>
                    </a:lnR>
                    <a:lnT>
                      <a:noFill/>
                    </a:lnT>
                    <a:lnB>
                      <a:noFill/>
                    </a:lnB>
                    <a:noFill/>
                  </a:tcPr>
                </a:tc>
                <a:tc>
                  <a:txBody>
                    <a:bodyPr/>
                    <a:p>
                      <a:r>
                        <a:rPr lang="en-US" altLang="zh-CN" sz="1100"/>
                        <a:t>&lt; 10min</a:t>
                      </a:r>
                      <a:endParaRPr lang="en-US" altLang="zh-CN" sz="1100"/>
                    </a:p>
                  </a:txBody>
                  <a:tcPr marL="0" marR="0" marT="0" marB="0" anchor="ctr" anchorCtr="0">
                    <a:lnL>
                      <a:noFill/>
                    </a:lnL>
                    <a:lnR>
                      <a:noFill/>
                    </a:lnR>
                    <a:lnT>
                      <a:noFill/>
                    </a:lnT>
                    <a:lnB>
                      <a:noFill/>
                    </a:lnB>
                    <a:noFill/>
                  </a:tcPr>
                </a:tc>
              </a:tr>
            </a:tbl>
          </a:graphicData>
        </a:graphic>
      </p:graphicFrame>
      <p:sp>
        <p:nvSpPr>
          <p:cNvPr id="5" name="文本框 4"/>
          <p:cNvSpPr txBox="1"/>
          <p:nvPr/>
        </p:nvSpPr>
        <p:spPr>
          <a:xfrm>
            <a:off x="335915" y="6021070"/>
            <a:ext cx="6096000" cy="737235"/>
          </a:xfrm>
          <a:prstGeom prst="rect">
            <a:avLst/>
          </a:prstGeom>
          <a:noFill/>
        </p:spPr>
        <p:txBody>
          <a:bodyPr wrap="square" rtlCol="0" anchor="t">
            <a:spAutoFit/>
          </a:bodyPr>
          <a:p>
            <a:endParaRPr lang="en-US" altLang="zh-CN" sz="2600"/>
          </a:p>
          <a:p>
            <a:r>
              <a:rPr lang="zh-CN" altLang="en-US" sz="1600">
                <a:sym typeface="+mn-ea"/>
              </a:rPr>
              <a:t>最终保证：无论走哪条路径，数据在 </a:t>
            </a:r>
            <a:r>
              <a:rPr lang="en-US" altLang="zh-CN" sz="1600">
                <a:sym typeface="+mn-ea"/>
              </a:rPr>
              <a:t>10 </a:t>
            </a:r>
            <a:r>
              <a:rPr lang="zh-CN" altLang="en-US" sz="1600">
                <a:sym typeface="+mn-ea"/>
              </a:rPr>
              <a:t>分钟内一定到达服务层。</a:t>
            </a:r>
            <a:endParaRPr lang="zh-CN" altLang="en-US" sz="1600">
              <a:sym typeface="+mn-ea"/>
            </a:endParaRPr>
          </a:p>
        </p:txBody>
      </p:sp>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lstStyle/>
          <a:p>
            <a:r>
              <a:t>Benefits 5–6</a:t>
            </a:r>
          </a:p>
        </p:txBody>
      </p:sp>
      <p:sp>
        <p:nvSpPr>
          <p:cNvPr id="27" name="任意多边形: 形状 26"/>
          <p:cNvSpPr/>
          <p:nvPr>
            <p:custDataLst>
              <p:tags r:id="rId2"/>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3"/>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4"/>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5"/>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67715" y="1557020"/>
            <a:ext cx="11350625" cy="4013835"/>
          </a:xfrm>
          <a:prstGeom prst="rect">
            <a:avLst/>
          </a:prstGeom>
        </p:spPr>
        <p:txBody>
          <a:bodyPr wrap="square">
            <a:spAutoFit/>
          </a:bodyPr>
          <a:p>
            <a:pPr>
              <a:spcAft>
                <a:spcPct val="60000"/>
              </a:spcAft>
            </a:pPr>
            <a:r>
              <a:rPr lang="en-US" altLang="zh-CN" sz="2300" b="1"/>
              <a:t>5. Elastic Infrastructure</a:t>
            </a:r>
            <a:r>
              <a:rPr lang="zh-CN" altLang="en-US" sz="2300" b="1"/>
              <a:t>（</a:t>
            </a:r>
            <a:r>
              <a:rPr lang="en-US" altLang="zh-CN" sz="2300" b="1"/>
              <a:t>NRT Proton Store </a:t>
            </a:r>
            <a:r>
              <a:rPr lang="zh-CN" altLang="en-US" sz="2300" b="1"/>
              <a:t>的动态扩缩容）</a:t>
            </a:r>
            <a:endParaRPr lang="zh-CN" altLang="en-US" sz="2300" b="1"/>
          </a:p>
          <a:p>
            <a:r>
              <a:rPr lang="en-US" altLang="zh-CN" sz="1600"/>
              <a:t>NRT Proton Store </a:t>
            </a:r>
            <a:r>
              <a:rPr lang="zh-CN" altLang="en-US" sz="1600"/>
              <a:t>是图中的近实时存储层。弹性来自于计算与存储的解耦：</a:t>
            </a:r>
            <a:endParaRPr lang="zh-CN" altLang="en-US" sz="1600"/>
          </a:p>
          <a:p>
            <a:pPr>
              <a:buFont typeface="Arial" panose="020B0604020202090204"/>
              <a:buChar char="•"/>
            </a:pPr>
            <a:r>
              <a:rPr lang="zh-CN" altLang="en-US" sz="1600"/>
              <a:t>流处理节点（</a:t>
            </a:r>
            <a:r>
              <a:rPr lang="en-US" altLang="zh-CN" sz="1600"/>
              <a:t>Stateful Operators</a:t>
            </a:r>
            <a:r>
              <a:rPr lang="zh-CN" altLang="en-US" sz="1600"/>
              <a:t>）和存储节点是分离的。</a:t>
            </a:r>
            <a:endParaRPr lang="zh-CN" altLang="en-US" sz="1600"/>
          </a:p>
          <a:p>
            <a:pPr>
              <a:buFont typeface="Arial" panose="020B0604020202090204"/>
              <a:buChar char="•"/>
            </a:pPr>
            <a:r>
              <a:rPr lang="zh-CN" altLang="en-US" sz="1600"/>
              <a:t>当流量波峰到来时，可以独立扩容存储节点而不影响计算节点，反之亦然。</a:t>
            </a:r>
            <a:endParaRPr lang="zh-CN" altLang="en-US" sz="1600"/>
          </a:p>
          <a:p>
            <a:pPr>
              <a:buFont typeface="Arial" panose="020B0604020202090204"/>
              <a:buChar char="•"/>
            </a:pPr>
            <a:r>
              <a:rPr lang="zh-CN" altLang="en-US" sz="1600"/>
              <a:t>闲时可以缩容，节省资源成本。</a:t>
            </a:r>
            <a:endParaRPr lang="zh-CN" altLang="en-US" sz="1600"/>
          </a:p>
          <a:p>
            <a:pPr>
              <a:buFont typeface="Arial" panose="020B0604020202090204"/>
              <a:buChar char="•"/>
            </a:pPr>
            <a:r>
              <a:rPr lang="zh-CN" altLang="en-US" sz="1600"/>
              <a:t>这种解耦使得扩缩容不需要做数据重分布（因为存储层自己处理副本和分片），只需要加减节点即可。</a:t>
            </a:r>
            <a:endParaRPr lang="zh-CN" altLang="en-US" sz="1600"/>
          </a:p>
          <a:p>
            <a:r>
              <a:rPr lang="zh-CN" altLang="en-US" sz="1600"/>
              <a:t>这是云原生存储的典型收益：分离的计算和存储各自独立弹性伸缩。</a:t>
            </a:r>
            <a:endParaRPr lang="zh-CN" altLang="en-US" sz="1600"/>
          </a:p>
          <a:p>
            <a:pPr>
              <a:spcAft>
                <a:spcPct val="60000"/>
              </a:spcAft>
            </a:pPr>
            <a:r>
              <a:rPr lang="en-US" altLang="zh-CN" sz="2300" b="1"/>
              <a:t>6. High-Throughput Processing</a:t>
            </a:r>
            <a:r>
              <a:rPr lang="zh-CN" altLang="en-US" sz="2300" b="1"/>
              <a:t>（</a:t>
            </a:r>
            <a:r>
              <a:rPr lang="en-US" altLang="zh-CN" sz="2300" b="1"/>
              <a:t>micro-batch </a:t>
            </a:r>
            <a:r>
              <a:rPr lang="zh-CN" altLang="en-US" sz="2300" b="1"/>
              <a:t>替代单线程处理）</a:t>
            </a:r>
            <a:endParaRPr lang="zh-CN" altLang="en-US" sz="2300" b="1"/>
          </a:p>
          <a:p>
            <a:r>
              <a:rPr lang="zh-CN" altLang="en-US" sz="1600"/>
              <a:t>图中 </a:t>
            </a:r>
            <a:r>
              <a:rPr lang="en-US" altLang="zh-CN" sz="1600"/>
              <a:t>Stream Process </a:t>
            </a:r>
            <a:r>
              <a:rPr lang="zh-CN" altLang="en-US" sz="1600"/>
              <a:t>和 </a:t>
            </a:r>
            <a:r>
              <a:rPr lang="en-US" altLang="zh-CN" sz="1600"/>
              <a:t>Stateful Operators </a:t>
            </a:r>
            <a:r>
              <a:rPr lang="zh-CN" altLang="en-US" sz="1600"/>
              <a:t>的设计是并行化的：</a:t>
            </a:r>
            <a:endParaRPr lang="zh-CN" altLang="en-US" sz="1600"/>
          </a:p>
          <a:p>
            <a:pPr>
              <a:buFont typeface="Arial" panose="020B0604020202090204"/>
              <a:buChar char="•"/>
            </a:pPr>
            <a:r>
              <a:rPr lang="zh-CN" altLang="en-US" sz="1600"/>
              <a:t>相比老架构的单线程逐条消费，新架构支持 </a:t>
            </a:r>
            <a:r>
              <a:rPr lang="en-US" altLang="zh-CN" sz="1600"/>
              <a:t>micro-batch </a:t>
            </a:r>
            <a:r>
              <a:rPr lang="zh-CN" altLang="en-US" sz="1600"/>
              <a:t>模式：将短时间窗口内的消息聚合成小批次，一次算子调用处理一批，大幅提升吞吐。</a:t>
            </a:r>
            <a:endParaRPr lang="zh-CN" altLang="en-US" sz="1600"/>
          </a:p>
          <a:p>
            <a:pPr>
              <a:buFont typeface="Arial" panose="020B0604020202090204"/>
              <a:buChar char="•"/>
            </a:pPr>
            <a:r>
              <a:rPr lang="en-US" altLang="zh-CN" sz="1600"/>
              <a:t>Stateful Operators </a:t>
            </a:r>
            <a:r>
              <a:rPr lang="zh-CN" altLang="en-US" sz="1600"/>
              <a:t>可以分区并行：按 </a:t>
            </a:r>
            <a:r>
              <a:rPr lang="en-US" altLang="zh-CN" sz="1600"/>
              <a:t>key </a:t>
            </a:r>
            <a:r>
              <a:rPr lang="zh-CN" altLang="en-US" sz="1600"/>
              <a:t>分片，每个分片独立处理，互不干扰。</a:t>
            </a:r>
            <a:endParaRPr lang="zh-CN" altLang="en-US" sz="1600"/>
          </a:p>
          <a:p>
            <a:pPr>
              <a:buFont typeface="Arial" panose="020B0604020202090204"/>
              <a:buChar char="•"/>
            </a:pPr>
            <a:r>
              <a:rPr lang="zh-CN" altLang="en-US" sz="1600"/>
              <a:t>这本质上是用 批的吞吐 去逼近 流的延迟，比纯单线程流处理高出一个数量级。</a:t>
            </a:r>
            <a:endParaRPr lang="zh-CN" altLang="en-US" sz="1600"/>
          </a:p>
        </p:txBody>
      </p:sp>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lstStyle/>
          <a:p>
            <a:r>
              <a:t>Benefits 7–8</a:t>
            </a:r>
          </a:p>
        </p:txBody>
      </p:sp>
      <p:sp>
        <p:nvSpPr>
          <p:cNvPr id="27" name="任意多边形: 形状 26"/>
          <p:cNvSpPr/>
          <p:nvPr>
            <p:custDataLst>
              <p:tags r:id="rId2"/>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3"/>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4"/>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5"/>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1815" y="1628775"/>
            <a:ext cx="11350625" cy="4260215"/>
          </a:xfrm>
          <a:prstGeom prst="rect">
            <a:avLst/>
          </a:prstGeom>
        </p:spPr>
        <p:txBody>
          <a:bodyPr wrap="square">
            <a:spAutoFit/>
          </a:bodyPr>
          <a:p>
            <a:pPr>
              <a:spcAft>
                <a:spcPct val="60000"/>
              </a:spcAft>
            </a:pPr>
            <a:r>
              <a:rPr lang="en-US" altLang="zh-CN" sz="2300" b="1"/>
              <a:t>7. Fair Cost Attribution</a:t>
            </a:r>
            <a:r>
              <a:rPr lang="zh-CN" altLang="en-US" sz="2300" b="1"/>
              <a:t>（按组织隔离服务实例，消除共享成本负担）</a:t>
            </a:r>
            <a:endParaRPr lang="zh-CN" altLang="en-US" sz="2300" b="1"/>
          </a:p>
          <a:p>
            <a:r>
              <a:rPr lang="zh-CN" altLang="en-US" sz="1600"/>
              <a:t>这项能力体现在多租户隔离设计上：</a:t>
            </a:r>
            <a:endParaRPr lang="zh-CN" altLang="en-US" sz="1600"/>
          </a:p>
          <a:p>
            <a:pPr>
              <a:buFont typeface="Arial" panose="020B0604020202090204"/>
              <a:buChar char="•"/>
            </a:pPr>
            <a:r>
              <a:rPr lang="zh-CN" altLang="en-US" sz="1600"/>
              <a:t>不同组织的数据流经独立的 </a:t>
            </a:r>
            <a:r>
              <a:rPr lang="en-US" altLang="zh-CN" sz="1600"/>
              <a:t>pipeline </a:t>
            </a:r>
            <a:r>
              <a:rPr lang="zh-CN" altLang="en-US" sz="1600"/>
              <a:t>实例（各自的 </a:t>
            </a:r>
            <a:r>
              <a:rPr lang="en-US" altLang="zh-CN" sz="1600"/>
              <a:t>Stream Process + Stateful Operator </a:t>
            </a:r>
            <a:r>
              <a:rPr lang="zh-CN" altLang="en-US" sz="1600"/>
              <a:t>链）。</a:t>
            </a:r>
            <a:endParaRPr lang="zh-CN" altLang="en-US" sz="1600"/>
          </a:p>
          <a:p>
            <a:pPr>
              <a:buFont typeface="Arial" panose="020B0604020202090204"/>
              <a:buChar char="•"/>
            </a:pPr>
            <a:r>
              <a:rPr lang="zh-CN" altLang="en-US" sz="1600"/>
              <a:t>存储层也按组织做物理或逻辑隔离，每个组织的物化视图和数据湖路径独立。</a:t>
            </a:r>
            <a:endParaRPr lang="zh-CN" altLang="en-US" sz="1600"/>
          </a:p>
          <a:p>
            <a:pPr>
              <a:buFont typeface="Arial" panose="020B0604020202090204"/>
              <a:buChar char="•"/>
            </a:pPr>
            <a:r>
              <a:rPr lang="zh-CN" altLang="en-US" sz="1600"/>
              <a:t>成本核算时，每个组织的计算资源（流算子 </a:t>
            </a:r>
            <a:r>
              <a:rPr lang="en-US" altLang="zh-CN" sz="1600"/>
              <a:t>CPU/</a:t>
            </a:r>
            <a:r>
              <a:rPr lang="zh-CN" altLang="en-US" sz="1600"/>
              <a:t>内存）和存储资源（数据量）都可以独立计量，不再出现</a:t>
            </a:r>
            <a:r>
              <a:rPr lang="en-US" altLang="zh-CN" sz="1600"/>
              <a:t>"SnD </a:t>
            </a:r>
            <a:r>
              <a:rPr lang="zh-CN" altLang="en-US" sz="1600"/>
              <a:t>吃大锅饭</a:t>
            </a:r>
            <a:r>
              <a:rPr lang="en-US" altLang="zh-CN" sz="1600"/>
              <a:t>"</a:t>
            </a:r>
            <a:r>
              <a:rPr lang="zh-CN" altLang="en-US" sz="1600"/>
              <a:t>的问题。</a:t>
            </a:r>
            <a:endParaRPr lang="zh-CN" altLang="en-US" sz="1600"/>
          </a:p>
          <a:p>
            <a:r>
              <a:rPr lang="zh-CN" altLang="en-US" sz="1600"/>
              <a:t>本质上就是将共享的多租户改为单租户可计量的实例隔离。</a:t>
            </a:r>
            <a:endParaRPr lang="zh-CN" altLang="en-US" sz="1600"/>
          </a:p>
          <a:p>
            <a:pPr>
              <a:spcAft>
                <a:spcPct val="60000"/>
              </a:spcAft>
            </a:pPr>
            <a:r>
              <a:rPr lang="en-US" altLang="zh-CN" sz="2300" b="1"/>
              <a:t>8. Inter-Org Data Sharing</a:t>
            </a:r>
            <a:r>
              <a:rPr lang="zh-CN" altLang="en-US" sz="2300" b="1"/>
              <a:t>（跨组织安全共享 </a:t>
            </a:r>
            <a:r>
              <a:rPr lang="en-US" altLang="zh-CN" sz="2300" b="1"/>
              <a:t>S3 </a:t>
            </a:r>
            <a:r>
              <a:rPr lang="zh-CN" altLang="en-US" sz="2300" b="1"/>
              <a:t>和 </a:t>
            </a:r>
            <a:r>
              <a:rPr lang="en-US" altLang="zh-CN" sz="2300" b="1"/>
              <a:t>DynamoDB </a:t>
            </a:r>
            <a:r>
              <a:rPr lang="zh-CN" altLang="en-US" sz="2300" b="1"/>
              <a:t>中的 </a:t>
            </a:r>
            <a:r>
              <a:rPr lang="en-US" altLang="zh-CN" sz="2300" b="1"/>
              <a:t>NRT </a:t>
            </a:r>
            <a:r>
              <a:rPr lang="zh-CN" altLang="en-US" sz="2300" b="1"/>
              <a:t>数据）</a:t>
            </a:r>
            <a:endParaRPr lang="zh-CN" altLang="en-US" sz="2300" b="1"/>
          </a:p>
          <a:p>
            <a:r>
              <a:rPr lang="zh-CN" altLang="en-US" sz="1600"/>
              <a:t>这项能力来自于存储层的选型和权限设计：</a:t>
            </a:r>
            <a:endParaRPr lang="zh-CN" altLang="en-US" sz="1600"/>
          </a:p>
          <a:p>
            <a:pPr>
              <a:buFont typeface="Arial" panose="020B0604020202090204"/>
              <a:buChar char="•"/>
            </a:pPr>
            <a:r>
              <a:rPr lang="en-US" altLang="zh-CN" sz="1600"/>
              <a:t>S3</a:t>
            </a:r>
            <a:r>
              <a:rPr lang="zh-CN" altLang="en-US" sz="1600"/>
              <a:t>（</a:t>
            </a:r>
            <a:r>
              <a:rPr lang="en-US" altLang="zh-CN" sz="1600"/>
              <a:t>Data Lake</a:t>
            </a:r>
            <a:r>
              <a:rPr lang="zh-CN" altLang="en-US" sz="1600"/>
              <a:t>）：天然支持跨账户访问策略（</a:t>
            </a:r>
            <a:r>
              <a:rPr lang="en-US" altLang="zh-CN" sz="1600"/>
              <a:t>bucket policy / IAM role / pre-signed URL</a:t>
            </a:r>
            <a:r>
              <a:rPr lang="zh-CN" altLang="en-US" sz="1600"/>
              <a:t>）。一个组织的批处理结果可以只读共享给其他组织，不需要拷贝数据。</a:t>
            </a:r>
            <a:endParaRPr lang="zh-CN" altLang="en-US" sz="1600"/>
          </a:p>
          <a:p>
            <a:pPr>
              <a:buFont typeface="Arial" panose="020B0604020202090204"/>
              <a:buChar char="•"/>
            </a:pPr>
            <a:r>
              <a:rPr lang="en-US" altLang="zh-CN" sz="1600"/>
              <a:t>DynamoDB</a:t>
            </a:r>
            <a:r>
              <a:rPr lang="zh-CN" altLang="en-US" sz="1600"/>
              <a:t>（实时层）：支持细粒度的 </a:t>
            </a:r>
            <a:r>
              <a:rPr lang="en-US" altLang="zh-CN" sz="1600"/>
              <a:t>IAM </a:t>
            </a:r>
            <a:r>
              <a:rPr lang="zh-CN" altLang="en-US" sz="1600"/>
              <a:t>权限控制（表级别、甚至 </a:t>
            </a:r>
            <a:r>
              <a:rPr lang="en-US" altLang="zh-CN" sz="1600"/>
              <a:t>item </a:t>
            </a:r>
            <a:r>
              <a:rPr lang="zh-CN" altLang="en-US" sz="1600"/>
              <a:t>级别），可以实现</a:t>
            </a:r>
            <a:r>
              <a:rPr lang="en-US" altLang="zh-CN" sz="1600"/>
              <a:t>"</a:t>
            </a:r>
            <a:r>
              <a:rPr lang="zh-CN" altLang="en-US" sz="1600"/>
              <a:t>允许 </a:t>
            </a:r>
            <a:r>
              <a:rPr lang="en-US" altLang="zh-CN" sz="1600"/>
              <a:t>Org B </a:t>
            </a:r>
            <a:r>
              <a:rPr lang="zh-CN" altLang="en-US" sz="1600"/>
              <a:t>读取 </a:t>
            </a:r>
            <a:r>
              <a:rPr lang="en-US" altLang="zh-CN" sz="1600"/>
              <a:t>Org A </a:t>
            </a:r>
            <a:r>
              <a:rPr lang="zh-CN" altLang="en-US" sz="1600"/>
              <a:t>的某些表</a:t>
            </a:r>
            <a:r>
              <a:rPr lang="en-US" altLang="zh-CN" sz="1600"/>
              <a:t>/</a:t>
            </a:r>
            <a:r>
              <a:rPr lang="zh-CN" altLang="en-US" sz="1600"/>
              <a:t>分区</a:t>
            </a:r>
            <a:r>
              <a:rPr lang="en-US" altLang="zh-CN" sz="1600"/>
              <a:t>"</a:t>
            </a:r>
            <a:r>
              <a:rPr lang="zh-CN" altLang="en-US" sz="1600"/>
              <a:t>。</a:t>
            </a:r>
            <a:endParaRPr lang="zh-CN" altLang="en-US" sz="1600"/>
          </a:p>
          <a:p>
            <a:pPr>
              <a:buFont typeface="Arial" panose="020B0604020202090204"/>
              <a:buChar char="•"/>
            </a:pPr>
            <a:r>
              <a:rPr lang="zh-CN" altLang="en-US" sz="1600"/>
              <a:t>新架构统一使用这些云原生存储，权限模型成熟，跨组织共享不再需要自建共享通道或数据拷贝。</a:t>
            </a:r>
            <a:endParaRPr lang="zh-CN" altLang="en-US" sz="1600"/>
          </a:p>
        </p:txBody>
      </p:sp>
    </p:spTree>
    <p:custDataLst>
      <p:tags r:id="rId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11.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18.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24.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30.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7331</Words>
  <Application>WPS 演示</Application>
  <PresentationFormat>Converted Presentation</PresentationFormat>
  <Paragraphs>492</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Calibri</vt:lpstr>
      <vt:lpstr>Helvetica Neue</vt:lpstr>
      <vt:lpstr>宋体</vt:lpstr>
      <vt:lpstr>汉仪书宋二KW</vt:lpstr>
      <vt:lpstr>微软雅黑</vt:lpstr>
      <vt:lpstr>汉仪旗黑</vt:lpstr>
      <vt:lpstr>Arial Unicode MS</vt:lpstr>
      <vt:lpstr>Apple Color Emoji</vt:lpstr>
      <vt:lpstr>Arial</vt:lpstr>
      <vt:lpstr>Calibri Light</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单击此处添加标题</vt:lpstr>
      <vt:lpstr>benefit of new archi</vt:lpstr>
      <vt:lpstr>benefit of new archi</vt:lpstr>
      <vt:lpstr>benefit of new archi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段宁</cp:lastModifiedBy>
  <cp:revision>6</cp:revision>
  <dcterms:created xsi:type="dcterms:W3CDTF">2026-06-29T12:52:01Z</dcterms:created>
  <dcterms:modified xsi:type="dcterms:W3CDTF">2026-06-29T12:52:01Z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4CD65F9283C668B0AD92406AE17258B6_42</vt:lpwstr>
  </property>
  <property fmtid="{D5CDD505-2E9C-101B-9397-08002B2CF9AE}" pid="3" name="KSOProductBuildVer">
    <vt:lpwstr>2052-7.5.1.8994</vt:lpwstr>
  </property>
</Properties>
</file>