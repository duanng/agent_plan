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Coupang 数据平台演进史 — 从创业到独角兽的十年路线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D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每个阶段的【痛点 → 解法 → 新痛点】循环，揭示了存算分离的必然性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4864"/>
          </a:xfrm>
          <a:prstGeom prst="rect">
            <a:avLst/>
          </a:prstGeom>
          <a:solidFill>
            <a:srgbClr val="4A6D7C"/>
          </a:solidFill>
        </p:spPr>
      </p:sp>
      <p:sp>
        <p:nvSpPr>
          <p:cNvPr id="5" name="Shape 3"/>
          <p:cNvSpPr/>
          <p:nvPr/>
        </p:nvSpPr>
        <p:spPr>
          <a:xfrm>
            <a:off x="457200" y="1051560"/>
            <a:ext cx="1572768" cy="39319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97280"/>
            <a:ext cx="1481328" cy="502920"/>
          </a:xfrm>
          <a:prstGeom prst="roundRect">
            <a:avLst>
              <a:gd name="adj" fmla="val 7273"/>
            </a:avLst>
          </a:prstGeom>
          <a:solidFill>
            <a:schemeClr val="bg2">
              <a:lumMod val="90000"/>
            </a:schemeClr>
          </a:solidFill>
        </p:spPr>
      </p:sp>
      <p:sp>
        <p:nvSpPr>
          <p:cNvPr id="7" name="Text 5"/>
          <p:cNvSpPr/>
          <p:nvPr/>
        </p:nvSpPr>
        <p:spPr>
          <a:xfrm>
            <a:off x="502920" y="1097280"/>
            <a:ext cx="1481328" cy="5029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1B3A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Phase I</a:t>
            </a:r>
            <a:endParaRPr lang="en-US" sz="8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1B3A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2010–13 · RDBMS 单体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1481455" cy="502920"/>
          </a:xfrm>
          <a:prstGeom prst="roundRect">
            <a:avLst>
              <a:gd name="adj" fmla="val 10000"/>
            </a:avLst>
          </a:prstGeom>
          <a:solidFill>
            <a:srgbClr val="FFF5F5"/>
          </a:solidFill>
          <a:ln w="6350">
            <a:solidFill>
              <a:srgbClr val="EF9A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91640"/>
            <a:ext cx="1481455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⚠ 单机撑不住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2286000"/>
            <a:ext cx="14813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D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1389888" cy="914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3" name="Text 11"/>
          <p:cNvSpPr/>
          <p:nvPr/>
        </p:nvSpPr>
        <p:spPr>
          <a:xfrm>
            <a:off x="548640" y="2834640"/>
            <a:ext cx="138988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55A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MySQL/Oracle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548640" y="3200400"/>
            <a:ext cx="138988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55A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无专职数据团队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138988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55A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BI查询量暴增后崩溃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2103120" y="1051560"/>
            <a:ext cx="1572768" cy="39319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48840" y="1097280"/>
            <a:ext cx="1481328" cy="502920"/>
          </a:xfrm>
          <a:prstGeom prst="roundRect">
            <a:avLst>
              <a:gd name="adj" fmla="val 7273"/>
            </a:avLst>
          </a:prstGeom>
          <a:solidFill>
            <a:schemeClr val="bg2">
              <a:lumMod val="90000"/>
            </a:schemeClr>
          </a:solidFill>
        </p:spPr>
      </p:sp>
      <p:sp>
        <p:nvSpPr>
          <p:cNvPr id="18" name="Text 16"/>
          <p:cNvSpPr/>
          <p:nvPr/>
        </p:nvSpPr>
        <p:spPr>
          <a:xfrm>
            <a:off x="2148840" y="1097280"/>
            <a:ext cx="1481328" cy="5029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1B3A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Phase II</a:t>
            </a:r>
            <a:endParaRPr lang="en-US" sz="8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1B3A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2014–16 · Hadoop+MPP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148840" y="1691640"/>
            <a:ext cx="1481455" cy="502920"/>
          </a:xfrm>
          <a:prstGeom prst="roundRect">
            <a:avLst>
              <a:gd name="adj" fmla="val 10000"/>
            </a:avLst>
          </a:prstGeom>
          <a:solidFill>
            <a:srgbClr val="FFF5F5"/>
          </a:solidFill>
          <a:ln w="6350">
            <a:solidFill>
              <a:srgbClr val="EF9A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48840" y="1691640"/>
            <a:ext cx="1481455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⚠ 硬件争用/无法扩缩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148840" y="2286000"/>
            <a:ext cx="14813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D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分布式存储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194560" y="2697480"/>
            <a:ext cx="1389888" cy="914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24" name="Text 22"/>
          <p:cNvSpPr/>
          <p:nvPr/>
        </p:nvSpPr>
        <p:spPr>
          <a:xfrm>
            <a:off x="2194560" y="2834640"/>
            <a:ext cx="138988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55A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HDFS + MPP 数据库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2194560" y="3200400"/>
            <a:ext cx="138988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55A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Log Collection 团队成立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2194560" y="3566160"/>
            <a:ext cx="138988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55A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Hive 从早8点挂到午夜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3749040" y="1051560"/>
            <a:ext cx="1572768" cy="39319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94760" y="1097280"/>
            <a:ext cx="1481328" cy="502920"/>
          </a:xfrm>
          <a:prstGeom prst="roundRect">
            <a:avLst>
              <a:gd name="adj" fmla="val 7273"/>
            </a:avLst>
          </a:prstGeom>
          <a:solidFill>
            <a:schemeClr val="bg2">
              <a:lumMod val="90000"/>
            </a:schemeClr>
          </a:solidFill>
        </p:spPr>
      </p:sp>
      <p:sp>
        <p:nvSpPr>
          <p:cNvPr id="29" name="Text 27"/>
          <p:cNvSpPr/>
          <p:nvPr/>
        </p:nvSpPr>
        <p:spPr>
          <a:xfrm>
            <a:off x="3794760" y="1097280"/>
            <a:ext cx="1481328" cy="5029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1B3A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Phase III</a:t>
            </a:r>
            <a:endParaRPr lang="en-US" sz="8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1B3A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2016–17 · Cloud 迁移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794760" y="1691640"/>
            <a:ext cx="1481455" cy="502920"/>
          </a:xfrm>
          <a:prstGeom prst="roundRect">
            <a:avLst>
              <a:gd name="adj" fmla="val 10000"/>
            </a:avLst>
          </a:prstGeom>
          <a:solidFill>
            <a:srgbClr val="FFF5F5"/>
          </a:solidFill>
          <a:ln w="6350">
            <a:solidFill>
              <a:srgbClr val="EF9A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94760" y="1691640"/>
            <a:ext cx="1481455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⚠ 集群膨胀/数据孤岛</a:t>
            </a:r>
            <a:br>
              <a:rPr lang="en-US" sz="7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</a:br>
            <a:r>
              <a:rPr lang="zh-CN" altLang="en-US" sz="700" dirty="0"/>
              <a:t>团队各自建集群形成</a:t>
            </a:r>
            <a:r>
              <a:rPr lang="en-US" altLang="zh-CN" sz="700" dirty="0"/>
              <a:t>"</a:t>
            </a:r>
            <a:r>
              <a:rPr lang="zh-CN" altLang="en-US" sz="700" dirty="0"/>
              <a:t>数据飞地</a:t>
            </a:r>
            <a:r>
              <a:rPr lang="en-US" altLang="zh-CN" sz="700" dirty="0"/>
              <a:t>"</a:t>
            </a:r>
            <a:r>
              <a:rPr lang="zh-CN" altLang="en-US" sz="700" dirty="0"/>
              <a:t>，存储和计算实际上还是耦合的</a:t>
            </a:r>
            <a:endParaRPr lang="zh-CN" alt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794760" y="2286000"/>
            <a:ext cx="14813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D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存算分离第一步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840480" y="2697480"/>
            <a:ext cx="1389888" cy="914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35" name="Text 33"/>
          <p:cNvSpPr/>
          <p:nvPr/>
        </p:nvSpPr>
        <p:spPr>
          <a:xfrm>
            <a:off x="3840480" y="2834640"/>
            <a:ext cx="138988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55A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S3 + 云上 MPP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3840480" y="3200400"/>
            <a:ext cx="138988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55A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DAP/Sandbox/Reporting 三层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3840480" y="3566160"/>
            <a:ext cx="138988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55A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r>
              <a:rPr lang="zh-CN" altLang="en-US" sz="650" dirty="0"/>
              <a:t>弹性扩容、星型模型</a:t>
            </a:r>
            <a:r>
              <a:rPr lang="en-US" altLang="zh-CN" sz="650" dirty="0"/>
              <a:t> EDW </a:t>
            </a:r>
            <a:endParaRPr lang="en-US" altLang="zh-CN" sz="650" dirty="0"/>
          </a:p>
        </p:txBody>
      </p:sp>
      <p:sp>
        <p:nvSpPr>
          <p:cNvPr id="38" name="Shape 36"/>
          <p:cNvSpPr/>
          <p:nvPr/>
        </p:nvSpPr>
        <p:spPr>
          <a:xfrm>
            <a:off x="5394960" y="1051560"/>
            <a:ext cx="1572768" cy="39319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40680" y="1097280"/>
            <a:ext cx="1481328" cy="502920"/>
          </a:xfrm>
          <a:prstGeom prst="roundRect">
            <a:avLst>
              <a:gd name="adj" fmla="val 7273"/>
            </a:avLst>
          </a:prstGeom>
          <a:solidFill>
            <a:srgbClr val="81C784"/>
          </a:solidFill>
        </p:spPr>
      </p:sp>
      <p:sp>
        <p:nvSpPr>
          <p:cNvPr id="40" name="Text 38"/>
          <p:cNvSpPr/>
          <p:nvPr/>
        </p:nvSpPr>
        <p:spPr>
          <a:xfrm>
            <a:off x="5440680" y="1097280"/>
            <a:ext cx="148132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Phase IV</a:t>
            </a:r>
            <a:endParaRPr lang="en-US" sz="8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2019– · 平台化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440680" y="1691640"/>
            <a:ext cx="1481455" cy="502920"/>
          </a:xfrm>
          <a:prstGeom prst="roundRect">
            <a:avLst>
              <a:gd name="adj" fmla="val 10000"/>
            </a:avLst>
          </a:prstGeom>
          <a:solidFill>
            <a:srgbClr val="FFF5F5"/>
          </a:solidFill>
          <a:ln w="6350">
            <a:solidFill>
              <a:srgbClr val="EF9A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40680" y="1691640"/>
            <a:ext cx="1481455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⚠ Job混乱/日志不可信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440680" y="2286000"/>
            <a:ext cx="14813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D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共享Metastore+自动化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486400" y="2697480"/>
            <a:ext cx="1389888" cy="914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46" name="Text 44"/>
          <p:cNvSpPr/>
          <p:nvPr/>
        </p:nvSpPr>
        <p:spPr>
          <a:xfrm>
            <a:off x="5486400" y="2834640"/>
            <a:ext cx="138988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55A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共享 Hive Metastore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5486400" y="3200400"/>
            <a:ext cx="138988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55A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自研 WLP 日志平台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5486400" y="3566160"/>
            <a:ext cx="138988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55A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Airflow + EMS 调度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7040880" y="1051560"/>
            <a:ext cx="1572768" cy="39319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086600" y="1097280"/>
            <a:ext cx="1481328" cy="502920"/>
          </a:xfrm>
          <a:prstGeom prst="roundRect">
            <a:avLst>
              <a:gd name="adj" fmla="val 7273"/>
            </a:avLst>
          </a:prstGeom>
          <a:solidFill>
            <a:srgbClr val="64B5F6"/>
          </a:solidFill>
        </p:spPr>
      </p:sp>
      <p:sp>
        <p:nvSpPr>
          <p:cNvPr id="51" name="Text 49"/>
          <p:cNvSpPr/>
          <p:nvPr/>
        </p:nvSpPr>
        <p:spPr>
          <a:xfrm>
            <a:off x="7086600" y="1097280"/>
            <a:ext cx="148132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Phase V</a:t>
            </a:r>
            <a:endParaRPr lang="en-US" sz="8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2020+ · 现代数据平台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086600" y="1691640"/>
            <a:ext cx="1481455" cy="502920"/>
          </a:xfrm>
          <a:prstGeom prst="roundRect">
            <a:avLst>
              <a:gd name="adj" fmla="val 10000"/>
            </a:avLst>
          </a:prstGeom>
          <a:solidFill>
            <a:srgbClr val="FFF5F5"/>
          </a:solidFill>
          <a:ln w="6350">
            <a:solidFill>
              <a:srgbClr val="EF9A9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86600" y="1691640"/>
            <a:ext cx="1481455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⚠ 只有批/查询慢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7086600" y="2286000"/>
            <a:ext cx="14813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D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流处理+多引擎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7132320" y="2697480"/>
            <a:ext cx="1389888" cy="914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57" name="Text 55"/>
          <p:cNvSpPr/>
          <p:nvPr/>
        </p:nvSpPr>
        <p:spPr>
          <a:xfrm>
            <a:off x="7132320" y="2834640"/>
            <a:ext cx="138988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55A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Kafka + Flink 实时流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7132320" y="3200400"/>
            <a:ext cx="138988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55A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Presto+Druid+ClickHouse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7132320" y="3566160"/>
            <a:ext cx="138988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55A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Iceberg 湖仓一体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457200" y="448056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E8F2F5"/>
          </a:solidFill>
          <a:ln w="12700">
            <a:solidFill>
              <a:srgbClr val="256D4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💡 核心规律：每一代都在逼近【存算分离 + 多引擎专业化 + 自动化治理】的理想形态。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56D4B"/>
          </a:solidFill>
        </p:spPr>
      </p:sp>
      <p:sp>
        <p:nvSpPr>
          <p:cNvPr id="63" name="Text 6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200" dirty="0"/>
          </a:p>
        </p:txBody>
      </p:sp>
      <p:sp>
        <p:nvSpPr>
          <p:cNvPr id="64" name="Text 46"/>
          <p:cNvSpPr/>
          <p:nvPr/>
        </p:nvSpPr>
        <p:spPr>
          <a:xfrm>
            <a:off x="5532120" y="3913505"/>
            <a:ext cx="1389888" cy="347472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650" dirty="0">
                <a:solidFill>
                  <a:srgbClr val="455A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r>
              <a:rPr lang="zh-CN" altLang="en-US" sz="650" dirty="0"/>
              <a:t>数据质量框架、</a:t>
            </a:r>
            <a:r>
              <a:rPr lang="en-US" altLang="zh-CN" sz="650" dirty="0"/>
              <a:t>SLA </a:t>
            </a:r>
            <a:r>
              <a:rPr lang="zh-CN" altLang="en-US" sz="650" dirty="0"/>
              <a:t>通知、数据发现工具</a:t>
            </a:r>
            <a:r>
              <a:rPr lang="en-US" altLang="zh-CN" sz="650" dirty="0"/>
              <a:t> </a:t>
            </a:r>
            <a:endParaRPr lang="en-US" altLang="zh-CN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我们的演进路线 — 从 Phase IV+ 起步，三层递进融合 AI 平台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8580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8288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Tier 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基础平台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77440" y="77724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D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存储底座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377440" y="1051560"/>
            <a:ext cx="1371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55A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S3/MinIO + Hive Metastore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55A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Parquet/ORC 表格式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86200" y="77724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D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计算引擎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886200" y="1051560"/>
            <a:ext cx="1371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55A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Flink on K8s · Spark on K8s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55A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流批双引擎读写同一份数据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394960" y="77724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D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接入层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94960" y="1051560"/>
            <a:ext cx="1371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55A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Kafka · Flink CDC · Filebeat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55A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文件网关 · MQTT IoT 网关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903720" y="77724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D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服务层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903720" y="1051560"/>
            <a:ext cx="1371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55A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StarRocks OLAP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55A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Presto/Trino 联邦查询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114800" y="20116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6D7C"/>
                </a:solidFill>
              </a:rPr>
              <a:t>▼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" y="2286000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286000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86000"/>
            <a:ext cx="18288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47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Tier 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47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 + 治理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77440" y="237744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47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实时链路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377440" y="2651760"/>
            <a:ext cx="1371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55A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Flink 实时推荐特征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55A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IoT 实时清洗 + CDC 同步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886200" y="237744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47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数据治理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886200" y="2651760"/>
            <a:ext cx="1371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55A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Airflow 统一编排 · 血缘追踪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55A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数据质量监控 + SLA 告警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394960" y="237744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47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表格式升级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394960" y="2651760"/>
            <a:ext cx="1371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55A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Hive → Apache Iceberg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55A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ACID · Time Travel · 分区演进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903720" y="237744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47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日志平台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903720" y="2651760"/>
            <a:ext cx="1371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55A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WLP 式 Schema 注册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55A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端到端校验 + QA 测试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114800" y="347472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6D7C"/>
                </a:solidFill>
              </a:rPr>
              <a:t>▼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65760" y="3749040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749040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FCE4EC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749040"/>
            <a:ext cx="18288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71C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Tier 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B71C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平台融合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377440" y="384048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71C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训练数据桥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377440" y="4114800"/>
            <a:ext cx="1371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55A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Spark 从 Hive 表构造训练集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55A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S3 文件区 → Alluxio 预热 → GPU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886200" y="384048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71C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Feature Store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886200" y="4114800"/>
            <a:ext cx="1371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55A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Feast 特征注册与复用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55A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离线训练 + 在线推理一致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394960" y="384048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71C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推理数据流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394960" y="4114800"/>
            <a:ext cx="1371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55A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实时特征 → 模型服务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55A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Kafka → Flink → 在线推理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903720" y="384048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71C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数据→模型闭环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903720" y="4114800"/>
            <a:ext cx="1371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55A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推理结果回写 Hive 表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55A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BI 看板 + 模型效果评估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62828"/>
          </a:solidFill>
        </p:spPr>
      </p:sp>
      <p:sp>
        <p:nvSpPr>
          <p:cNvPr id="39" name="Text 3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1176</Words>
  <Application>WPS 演示</Application>
  <PresentationFormat>On-screen Show (16:9)</PresentationFormat>
  <Paragraphs>152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Arial</vt:lpstr>
      <vt:lpstr>Arial</vt:lpstr>
      <vt:lpstr>Calibri</vt:lpstr>
      <vt:lpstr>Helvetica Neue</vt:lpstr>
      <vt:lpstr>汉仪书宋二KW</vt:lpstr>
      <vt:lpstr>Apple Color Emoji</vt:lpstr>
      <vt:lpstr>等线</vt:lpstr>
      <vt:lpstr>汉仪中等线KW</vt:lpstr>
      <vt:lpstr>宋体</vt:lpstr>
      <vt:lpstr>Arial Unicode MS</vt:lpstr>
      <vt:lpstr>Office Theme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段宁</cp:lastModifiedBy>
  <cp:revision>3</cp:revision>
  <dcterms:created xsi:type="dcterms:W3CDTF">2026-07-26T03:21:08Z</dcterms:created>
  <dcterms:modified xsi:type="dcterms:W3CDTF">2026-07-26T03:21:08Z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FDD6762C5D5AC3C1247D656A48EE40B3_43</vt:lpwstr>
  </property>
  <property fmtid="{D5CDD505-2E9C-101B-9397-08002B2CF9AE}" pid="3" name="KSOProductBuildVer">
    <vt:lpwstr>2052-7.5.1.8994</vt:lpwstr>
  </property>
</Properties>
</file>