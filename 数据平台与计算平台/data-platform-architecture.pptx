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D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存算分离数据平台</a:t>
            </a:r>
            <a:endParaRPr lang="en-US" sz="4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D4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业务数据处理 + AI训练数据准备 — 双模数据基础设施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256D4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A0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7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架构总览 — 七层存算分离数据平台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65760" y="594360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E8D5F5"/>
          </a:solidFill>
          <a:ln w="19050">
            <a:solidFill>
              <a:srgbClr val="7B1FA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1264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423160" y="777240"/>
            <a:ext cx="91440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B1FA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2316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RDBMS MySQL/PG</a:t>
            </a:r>
            <a:endParaRPr lang="en-US" sz="600" dirty="0"/>
          </a:p>
        </p:txBody>
      </p:sp>
      <p:sp>
        <p:nvSpPr>
          <p:cNvPr id="7" name="Shape 5"/>
          <p:cNvSpPr/>
          <p:nvPr/>
        </p:nvSpPr>
        <p:spPr>
          <a:xfrm>
            <a:off x="3429000" y="777240"/>
            <a:ext cx="91440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B1FA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用户行为日志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434840" y="777240"/>
            <a:ext cx="91440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B1FA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 设备 MQTT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5440680" y="777240"/>
            <a:ext cx="91440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B1FA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4068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遥感影像 tiff/nc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6446520" y="777240"/>
            <a:ext cx="91440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B1FA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 API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365760" y="1216152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D6DAF0"/>
          </a:solidFill>
          <a:ln w="19050">
            <a:solidFill>
              <a:srgbClr val="3949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234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949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接入层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23160" y="139903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3949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23160" y="139903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949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消息总线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3680460" y="139903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3949A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80460" y="139903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949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CDC 变更捕获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4937760" y="139903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3949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39903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949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Filebeat 日志采集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195060" y="139903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3949A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95060" y="139903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949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文件接入网关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65760" y="1837944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D4EDDA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185623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 ★ 存算分离核心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231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231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/ MinIO 对象存储底座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32613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613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Metastore 表元数据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40995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995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业务表 Parquet/ORC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49377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IoT 时序分区表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57759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759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遥感分块影像表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6614160" y="2020824"/>
            <a:ext cx="746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4160" y="2020824"/>
            <a:ext cx="74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原始文件区 tiff/nc 保底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365760" y="2459736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FFE8CC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247802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计算层 K8s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423160" y="2642616"/>
            <a:ext cx="24231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23160" y="2642616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on K8s 实时流处理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4937760" y="2642616"/>
            <a:ext cx="24231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642616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 on K8s 批量处理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365760" y="3081528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D4E9FC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309981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服务层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423160" y="3264408"/>
            <a:ext cx="15849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1565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23160" y="3264408"/>
            <a:ext cx="158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D47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StarRocks/Doris OLAP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4099560" y="3264408"/>
            <a:ext cx="15849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1565C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9560" y="3264408"/>
            <a:ext cx="158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D47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Presto/Trino 联邦查询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5775960" y="3264408"/>
            <a:ext cx="15849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1565C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75960" y="3264408"/>
            <a:ext cx="158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D47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Superset/Grafana BI 看板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65760" y="3703320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FCE4EC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372160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7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训练数据桥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423160" y="3886200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23160" y="3886200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7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 Store Feast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680460" y="3886200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80460" y="3886200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7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 训练数据集构造器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4937760" y="3886200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3886200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7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训练数据区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6195060" y="3886200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C6282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95060" y="3886200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7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Alluxio 预热 → GPU 集群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365760" y="4325112"/>
            <a:ext cx="7498080" cy="585216"/>
          </a:xfrm>
          <a:prstGeom prst="roundRect">
            <a:avLst>
              <a:gd name="adj" fmla="val 9375"/>
            </a:avLst>
          </a:prstGeom>
          <a:solidFill>
            <a:srgbClr val="F5F5F5"/>
          </a:solidFill>
          <a:ln w="19050">
            <a:solidFill>
              <a:srgbClr val="78909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2920" y="43434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治理与平台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423160" y="450799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8909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23160" y="450799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Airflow 任务调度</a:t>
            </a:r>
            <a:endParaRPr lang="en-US" sz="600" dirty="0"/>
          </a:p>
        </p:txBody>
      </p:sp>
      <p:sp>
        <p:nvSpPr>
          <p:cNvPr id="67" name="Shape 65"/>
          <p:cNvSpPr/>
          <p:nvPr/>
        </p:nvSpPr>
        <p:spPr>
          <a:xfrm>
            <a:off x="3680460" y="450799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8909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80460" y="450799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Catalog Atlas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4937760" y="450799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8909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450799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数据血缘追踪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6195060" y="4507992"/>
            <a:ext cx="11658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78909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95060" y="4507992"/>
            <a:ext cx="11658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质量监控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909560" y="1188720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909560" y="1810512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909560" y="2432304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7909560" y="3054096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909560" y="3675888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7909560" y="4297680"/>
            <a:ext cx="274320" cy="36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D7C"/>
                </a:solidFill>
              </a:rPr>
              <a:t>▼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56D4B"/>
          </a:solidFill>
          <a:ln/>
        </p:spPr>
      </p:sp>
      <p:sp>
        <p:nvSpPr>
          <p:cNvPr id="80" name="Text 7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存算分离 — 核心设计原理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474720" cy="3474720"/>
          </a:xfrm>
          <a:prstGeom prst="roundRect">
            <a:avLst>
              <a:gd name="adj" fmla="val 2632"/>
            </a:avLst>
          </a:prstGeom>
          <a:solidFill>
            <a:srgbClr val="E8F5E9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 (S3/MinIO)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状态永驻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6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Metastore — 表元数据管理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6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业务表 — Parquet/ORC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234086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6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IoT 表 — 按时间分区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688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6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遥感表 — 分块影像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30358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69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原始文件区 — tiff/nc 保底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3832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373075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Iceberg 演进方向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20640" y="914400"/>
            <a:ext cx="3474720" cy="3474720"/>
          </a:xfrm>
          <a:prstGeom prst="roundRect">
            <a:avLst>
              <a:gd name="adj" fmla="val 2632"/>
            </a:avLst>
          </a:prstGeom>
          <a:solidFill>
            <a:srgbClr val="FFF3E0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0058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计算层 (Kubernetes)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完全无状态，弹性扩缩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0352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on K8s — 实时流处理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0" y="19933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IoT 清洗 · CDC 同步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03520" y="234086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实时推荐特征计算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0" y="2688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 on K8s — 批量处理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03520" y="30358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遥感处理 · 重度 ETL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33832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36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训练数据集构造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03520" y="373075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03520" y="407822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统一读写 S3 Hive 表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114800" y="1371600"/>
            <a:ext cx="914400" cy="54864"/>
          </a:xfrm>
          <a:prstGeom prst="rect">
            <a:avLst/>
          </a:prstGeom>
          <a:solidFill>
            <a:srgbClr val="256D4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0" y="3474720"/>
            <a:ext cx="914400" cy="54864"/>
          </a:xfrm>
          <a:prstGeom prst="rect">
            <a:avLst/>
          </a:prstGeom>
          <a:solidFill>
            <a:srgbClr val="256D4B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0" y="1463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56D4B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四大核心数据链路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 1 — IoT 实时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828800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 设备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926080" y="73152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99232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99232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MQTT 网关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96512" y="73152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9664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9664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266944" y="73152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40096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实时清洗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37376" y="73152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10528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IoT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时序表 S3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607808" y="73152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80960" y="68580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0" y="68580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StarRocks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7B1F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OLAP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1691640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 2 — 遥感批量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0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0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遥感文件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tiff/nc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926080" y="182880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999232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文件接入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096512" y="182880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169664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9664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原始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文件区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266944" y="182880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340096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40096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分块解析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37376" y="182880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10528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0528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遥感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S3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607808" y="182880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80960" y="178308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80960" y="178308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5760" y="2788920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 3 — CDC 实时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0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26080" y="292608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999232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99232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CDC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6512" y="292608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169664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69664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266944" y="292608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340096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40096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转换写入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437376" y="292608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510528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10528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业务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S3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607808" y="292608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680960" y="288036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80960" y="288036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65760" y="3886200"/>
            <a:ext cx="1280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 4 — AI 训练构造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1828800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28800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926080" y="402336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2999232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99232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聚合采样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096512" y="402336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4169664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69664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266944" y="402336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5340096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40096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文件区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6437376" y="402336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10528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10528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Alluxio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预热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607808" y="4023360"/>
            <a:ext cx="73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D7C"/>
                </a:solidFill>
              </a:rPr>
              <a:t>→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7680960" y="3977640"/>
            <a:ext cx="10972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680960" y="3977640"/>
            <a:ext cx="1097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集群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56D4B"/>
          </a:solidFill>
          <a:ln/>
        </p:spPr>
      </p:sp>
      <p:sp>
        <p:nvSpPr>
          <p:cNvPr id="76" name="Text 7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技术栈总览 &amp; 演进路线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85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当前技术栈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80160" y="1097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Kafka · Flink CDC · Filebeat · MQTT 网关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27632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80160" y="16276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S3/MinIO · Hive Metastore · Hive (Parquet/ORC)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157984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2157984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 on K8s · Spark on K8s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688336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80160" y="268833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StarRocks/Doris · Presto/Trino · Superset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218688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321868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Spark 训练构造 · Alluxio · (Feast 未来引入)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749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56D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3749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Airflow · Data Catalog · 血缘 · 质量监控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64008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685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演进路线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37760" y="1097280"/>
            <a:ext cx="3657600" cy="640080"/>
          </a:xfrm>
          <a:prstGeom prst="roundRect">
            <a:avLst>
              <a:gd name="adj" fmla="val 8571"/>
            </a:avLst>
          </a:prstGeom>
          <a:solidFill>
            <a:srgbClr val="E8F2F5"/>
          </a:solidFill>
          <a:ln w="19050">
            <a:solidFill>
              <a:srgbClr val="256D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4920" y="11430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 — 当前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74920" y="14173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表格式落地 · 存算分离上线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37760" y="1920240"/>
            <a:ext cx="3657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256D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196596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 — 升级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492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Hive → Iceberg · ACID/Time Travel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937760" y="2743200"/>
            <a:ext cx="3657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256D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27889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3 — 深化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74920" y="306324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 Store (Feast) · 数据质量平台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937760" y="3566160"/>
            <a:ext cx="3657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256D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4920" y="36118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4 — 优化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74920" y="38862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流批一体深化 · Flink 批处理扩展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256D4B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2026-07-08T01:06:39Z</dcterms:created>
  <dcterms:modified xsi:type="dcterms:W3CDTF">2026-07-08T01:06:39Z</dcterms:modified>
</cp:coreProperties>
</file>