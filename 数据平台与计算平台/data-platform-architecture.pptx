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2" r:id="rId11"/>
    <p:sldId id="265" r:id="rId12"/>
    <p:sldId id="266" r:id="rId13"/>
    <p:sldId id="264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21970" y="270000"/>
            <a:ext cx="8100000" cy="5400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21970" y="4767263"/>
            <a:ext cx="2057400" cy="273844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cs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>
            <a:lvl1pPr>
              <a:defRPr>
                <a:latin typeface="+mn-ea"/>
                <a:ea typeface="+mn-ea"/>
                <a:cs typeface="+mn-cs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565487" y="4767263"/>
            <a:ext cx="2057400" cy="273844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cs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6" Type="http://schemas.openxmlformats.org/officeDocument/2006/relationships/slideLayout" Target="../slideLayouts/slideLayout3.xml"/><Relationship Id="rId25" Type="http://schemas.openxmlformats.org/officeDocument/2006/relationships/tags" Target="../tags/tag21.xml"/><Relationship Id="rId24" Type="http://schemas.openxmlformats.org/officeDocument/2006/relationships/image" Target="../media/image11.svg"/><Relationship Id="rId23" Type="http://schemas.openxmlformats.org/officeDocument/2006/relationships/image" Target="../media/image10.png"/><Relationship Id="rId22" Type="http://schemas.openxmlformats.org/officeDocument/2006/relationships/tags" Target="../tags/tag20.xml"/><Relationship Id="rId21" Type="http://schemas.openxmlformats.org/officeDocument/2006/relationships/image" Target="../media/image9.svg"/><Relationship Id="rId20" Type="http://schemas.openxmlformats.org/officeDocument/2006/relationships/image" Target="../media/image8.png"/><Relationship Id="rId2" Type="http://schemas.openxmlformats.org/officeDocument/2006/relationships/tags" Target="../tags/tag6.xml"/><Relationship Id="rId19" Type="http://schemas.openxmlformats.org/officeDocument/2006/relationships/tags" Target="../tags/tag19.xml"/><Relationship Id="rId18" Type="http://schemas.openxmlformats.org/officeDocument/2006/relationships/image" Target="../media/image7.svg"/><Relationship Id="rId17" Type="http://schemas.openxmlformats.org/officeDocument/2006/relationships/image" Target="../media/image6.png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D4B"/>
          </a:solidFill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存算分离数据平台</a:t>
            </a:r>
            <a:endParaRPr lang="en-US" sz="4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架构设计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8D4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业务数据处理 + AI训练数据准备 — 双模数据基础设施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828800" cy="36576"/>
          </a:xfrm>
          <a:prstGeom prst="rect">
            <a:avLst/>
          </a:prstGeom>
          <a:solidFill>
            <a:srgbClr val="256D4B"/>
          </a:solidFill>
        </p:spPr>
      </p:sp>
      <p:sp>
        <p:nvSpPr>
          <p:cNvPr id="6" name="Text 4"/>
          <p:cNvSpPr/>
          <p:nvPr/>
        </p:nvSpPr>
        <p:spPr>
          <a:xfrm>
            <a:off x="731520" y="393192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A0A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7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046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架构总览 — 七层存算分离数据平台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594360"/>
            <a:ext cx="7498080" cy="585216"/>
          </a:xfrm>
          <a:prstGeom prst="roundRect">
            <a:avLst>
              <a:gd name="adj" fmla="val 9375"/>
            </a:avLst>
          </a:prstGeom>
          <a:solidFill>
            <a:srgbClr val="E8D5F5"/>
          </a:solidFill>
          <a:ln w="19050">
            <a:solidFill>
              <a:srgbClr val="7B1FA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12648"/>
            <a:ext cx="1828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B1F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数据源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423160" y="77724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7B1F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23160" y="777240"/>
            <a:ext cx="914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B1F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RDBMS MySQL/PG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429000" y="77724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7B1F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777240"/>
            <a:ext cx="914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B1F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用户行为日志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4434840" y="77724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7B1FA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777240"/>
            <a:ext cx="914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B1F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IoT 设备 MQTT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5440680" y="77724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7B1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777240"/>
            <a:ext cx="914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B1F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遥感影像 tiff/nc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6446520" y="77724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7B1F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777240"/>
            <a:ext cx="914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B1F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 API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65760" y="1216152"/>
            <a:ext cx="7498080" cy="585216"/>
          </a:xfrm>
          <a:prstGeom prst="roundRect">
            <a:avLst>
              <a:gd name="adj" fmla="val 9375"/>
            </a:avLst>
          </a:prstGeom>
          <a:solidFill>
            <a:srgbClr val="D6DAF0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234440"/>
            <a:ext cx="1828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949A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23160" y="1399032"/>
            <a:ext cx="11658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3949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1399032"/>
            <a:ext cx="11658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3949A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Kafka 消息总线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3680460" y="1399032"/>
            <a:ext cx="11658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3949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80460" y="1399032"/>
            <a:ext cx="11658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3949A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Flink CDC 变更捕获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4937760" y="1399032"/>
            <a:ext cx="11658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3949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399032"/>
            <a:ext cx="11658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3949A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Filebeat 日志采集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6195060" y="1399032"/>
            <a:ext cx="11658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3949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5060" y="1399032"/>
            <a:ext cx="11658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3949A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文件接入网关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365760" y="1837944"/>
            <a:ext cx="7498080" cy="585216"/>
          </a:xfrm>
          <a:prstGeom prst="roundRect">
            <a:avLst>
              <a:gd name="adj" fmla="val 9375"/>
            </a:avLst>
          </a:prstGeom>
          <a:solidFill>
            <a:srgbClr val="D4EDDA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1856232"/>
            <a:ext cx="1828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存储层 ★ 存算分离核心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23160" y="2020824"/>
            <a:ext cx="7467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2020824"/>
            <a:ext cx="746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S3 / MinIO 对象存储底座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3261360" y="2020824"/>
            <a:ext cx="7467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61360" y="2020824"/>
            <a:ext cx="746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Hive Metastore 表元数据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4099560" y="2020824"/>
            <a:ext cx="7467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99560" y="2020824"/>
            <a:ext cx="746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Hive 业务表 Parquet/ORC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4937760" y="2020824"/>
            <a:ext cx="7467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020824"/>
            <a:ext cx="746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Hive IoT 时序分区表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5775960" y="2020824"/>
            <a:ext cx="7467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75960" y="2020824"/>
            <a:ext cx="746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Hive 遥感分块影像表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6614160" y="2020824"/>
            <a:ext cx="7467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14160" y="2020824"/>
            <a:ext cx="746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原始文件区 tiff/nc 保底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365760" y="2459736"/>
            <a:ext cx="7498080" cy="585216"/>
          </a:xfrm>
          <a:prstGeom prst="roundRect">
            <a:avLst>
              <a:gd name="adj" fmla="val 9375"/>
            </a:avLst>
          </a:prstGeom>
          <a:solidFill>
            <a:srgbClr val="FFE8CC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2478024"/>
            <a:ext cx="1828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BF36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计算层 K8s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423160" y="2642616"/>
            <a:ext cx="24231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23160" y="2642616"/>
            <a:ext cx="2423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F36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Flink on K8s 实时流处理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4937760" y="2642616"/>
            <a:ext cx="24231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2642616"/>
            <a:ext cx="2423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F36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Spark on K8s 批量处理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365760" y="3081528"/>
            <a:ext cx="7498080" cy="585216"/>
          </a:xfrm>
          <a:prstGeom prst="roundRect">
            <a:avLst>
              <a:gd name="adj" fmla="val 9375"/>
            </a:avLst>
          </a:prstGeom>
          <a:solidFill>
            <a:srgbClr val="D4E9FC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099816"/>
            <a:ext cx="1828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47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服务层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423160" y="3264408"/>
            <a:ext cx="15849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23160" y="3264408"/>
            <a:ext cx="1584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D47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StarRocks/Doris OLAP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4099560" y="3264408"/>
            <a:ext cx="15849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99560" y="3264408"/>
            <a:ext cx="1584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D47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Presto/Trino 联邦查询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5775960" y="3264408"/>
            <a:ext cx="15849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75960" y="3264408"/>
            <a:ext cx="1584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D47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Superset/Grafana BI 看板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365760" y="3703320"/>
            <a:ext cx="7498080" cy="585216"/>
          </a:xfrm>
          <a:prstGeom prst="roundRect">
            <a:avLst>
              <a:gd name="adj" fmla="val 9375"/>
            </a:avLst>
          </a:prstGeom>
          <a:solidFill>
            <a:srgbClr val="FCE4EC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3721608"/>
            <a:ext cx="1828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B71C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训练数据桥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423160" y="3886200"/>
            <a:ext cx="11658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23160" y="3886200"/>
            <a:ext cx="11658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71C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Feature Store Feast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3680460" y="3886200"/>
            <a:ext cx="11658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80460" y="3886200"/>
            <a:ext cx="11658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71C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Spark 训练数据集构造器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4937760" y="3886200"/>
            <a:ext cx="11658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3886200"/>
            <a:ext cx="11658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71C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S3 训练数据区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6195060" y="3886200"/>
            <a:ext cx="11658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95060" y="3886200"/>
            <a:ext cx="11658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71C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Alluxio 预热 → GPU 集群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365760" y="4325112"/>
            <a:ext cx="7498080" cy="585216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19050">
            <a:solidFill>
              <a:srgbClr val="78909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4343400"/>
            <a:ext cx="1828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74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治理与平台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423160" y="4507992"/>
            <a:ext cx="11658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78909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23160" y="4507992"/>
            <a:ext cx="11658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374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Airflow 任务调度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3680460" y="4507992"/>
            <a:ext cx="11658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78909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80460" y="4507992"/>
            <a:ext cx="11658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374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 Catalog Atlas</a:t>
            </a:r>
            <a:endParaRPr lang="en-US" sz="600" dirty="0"/>
          </a:p>
        </p:txBody>
      </p:sp>
      <p:sp>
        <p:nvSpPr>
          <p:cNvPr id="69" name="Shape 67"/>
          <p:cNvSpPr/>
          <p:nvPr/>
        </p:nvSpPr>
        <p:spPr>
          <a:xfrm>
            <a:off x="4937760" y="4507992"/>
            <a:ext cx="11658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78909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37760" y="4507992"/>
            <a:ext cx="11658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374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数据血缘追踪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6195060" y="4507992"/>
            <a:ext cx="11658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78909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95060" y="4507992"/>
            <a:ext cx="11658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374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质量监控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7909560" y="1188720"/>
            <a:ext cx="274320" cy="365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D7C"/>
                </a:solidFill>
              </a:rPr>
              <a:t>▼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909560" y="1810512"/>
            <a:ext cx="274320" cy="365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D7C"/>
                </a:solidFill>
              </a:rPr>
              <a:t>▼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909560" y="2432304"/>
            <a:ext cx="274320" cy="365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D7C"/>
                </a:solidFill>
              </a:rPr>
              <a:t>▼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909560" y="3054096"/>
            <a:ext cx="274320" cy="365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D7C"/>
                </a:solidFill>
              </a:rPr>
              <a:t>▼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909560" y="3675888"/>
            <a:ext cx="274320" cy="365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D7C"/>
                </a:solidFill>
              </a:rPr>
              <a:t>▼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7909560" y="4297680"/>
            <a:ext cx="274320" cy="365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D7C"/>
                </a:solidFill>
              </a:rPr>
              <a:t>▼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56D4B"/>
          </a:solidFill>
        </p:spPr>
      </p:sp>
      <p:sp>
        <p:nvSpPr>
          <p:cNvPr id="80" name="Text 7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存算分离 — 核心设计原理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存储层 (S3/MinIO)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状态永驻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69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Hive Metastore — 表元数据管理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993392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69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Hive 业务表 — Parquet/ORC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2340864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69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Hive IoT 表 — 按时间分区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688336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69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Hive 遥感表 — 分块影像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035808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69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原始文件区 — tiff/nc 保底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730752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★ Iceberg 演进方向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0" y="91440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FFF3E0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00584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计算层 (Kubernetes)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完全无状态，弹性扩缩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64592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Flink on K8s — 实时流处理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0" y="1993392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36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· IoT 清洗 · CDC 同步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0" y="2340864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36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· 实时推荐特征计算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0" y="2688336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Spark on K8s — 批量处理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0" y="3035808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36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· 遥感处理 · 重度 ETL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0" y="33832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36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· 训练数据集构造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0" y="3730752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0" y="4078224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统一读写 S3 Hive 表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0" y="1371600"/>
            <a:ext cx="914400" cy="54864"/>
          </a:xfrm>
          <a:prstGeom prst="rect">
            <a:avLst/>
          </a:prstGeom>
          <a:solidFill>
            <a:srgbClr val="256D4B"/>
          </a:solidFill>
        </p:spPr>
      </p:sp>
      <p:sp>
        <p:nvSpPr>
          <p:cNvPr id="23" name="Shape 21"/>
          <p:cNvSpPr/>
          <p:nvPr/>
        </p:nvSpPr>
        <p:spPr>
          <a:xfrm>
            <a:off x="4114800" y="3474720"/>
            <a:ext cx="914400" cy="54864"/>
          </a:xfrm>
          <a:prstGeom prst="rect">
            <a:avLst/>
          </a:prstGeom>
          <a:solidFill>
            <a:srgbClr val="256D4B"/>
          </a:solidFill>
        </p:spPr>
      </p:sp>
      <p:sp>
        <p:nvSpPr>
          <p:cNvPr id="24" name="Text 22"/>
          <p:cNvSpPr/>
          <p:nvPr/>
        </p:nvSpPr>
        <p:spPr>
          <a:xfrm>
            <a:off x="4114800" y="14630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D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0" y="356616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D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56D4B"/>
          </a:solidFill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046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四大核心数据链路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280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B1F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 1 — IoT 实时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828800" y="68580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68580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1F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IoT 设备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926080" y="731520"/>
            <a:ext cx="731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D7C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99232" y="68580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9232" y="68580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1F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MQTT 网关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96512" y="731520"/>
            <a:ext cx="731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D7C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69664" y="68580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9664" y="68580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1F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Kafka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266944" y="731520"/>
            <a:ext cx="731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D7C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40096" y="68580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0096" y="68580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1F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Flink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7B1F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实时清洗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37376" y="731520"/>
            <a:ext cx="731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D7C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10528" y="68580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68580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1F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Hive IoT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7B1F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时序表 S3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607808" y="731520"/>
            <a:ext cx="731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D7C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80960" y="68580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68580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1F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StarRocks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7B1F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OLAP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1691640"/>
            <a:ext cx="1280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 2 — 遥感批量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0" y="178308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178308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遥感文件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tiff/nc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926080" y="1828800"/>
            <a:ext cx="731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D7C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999232" y="178308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178308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文件接入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096512" y="1828800"/>
            <a:ext cx="731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D7C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169664" y="178308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9664" y="178308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S3 原始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文件区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66944" y="1828800"/>
            <a:ext cx="731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D7C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340096" y="178308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0096" y="178308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Spark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分块解析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37376" y="1828800"/>
            <a:ext cx="731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D7C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10528" y="178308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178308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Hive 遥感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 S3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607808" y="1828800"/>
            <a:ext cx="731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D7C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80960" y="178308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0" y="178308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5760" y="2788920"/>
            <a:ext cx="1280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565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 3 — CDC 实时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28800" y="288036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0" y="288036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PG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926080" y="2926080"/>
            <a:ext cx="731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D7C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999232" y="288036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99232" y="288036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Flink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CDC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096512" y="2926080"/>
            <a:ext cx="731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D7C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169664" y="288036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69664" y="288036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Kafka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266944" y="2926080"/>
            <a:ext cx="731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D7C"/>
                </a:solidFill>
              </a:rPr>
              <a:t>→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340096" y="288036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40096" y="288036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Flink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转换写入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37376" y="2926080"/>
            <a:ext cx="731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D7C"/>
                </a:solidFill>
              </a:rPr>
              <a:t>→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510528" y="288036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10528" y="288036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Hive 业务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 S3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607808" y="2926080"/>
            <a:ext cx="731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D7C"/>
                </a:solidFill>
              </a:rPr>
              <a:t>→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7680960" y="288036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80960" y="288036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BI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看板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65760" y="3886200"/>
            <a:ext cx="1280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 4 — AI 训练构造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828800" y="397764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28800" y="397764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业务表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926080" y="4023360"/>
            <a:ext cx="731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D7C"/>
                </a:solidFill>
              </a:rPr>
              <a:t>→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2999232" y="397764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999232" y="397764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Spark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聚合采样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096512" y="4023360"/>
            <a:ext cx="731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D7C"/>
                </a:solidFill>
              </a:rPr>
              <a:t>→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4169664" y="397764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69664" y="397764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数据集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266944" y="4023360"/>
            <a:ext cx="731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D7C"/>
                </a:solidFill>
              </a:rPr>
              <a:t>→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5340096" y="397764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40096" y="397764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S3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文件区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437376" y="4023360"/>
            <a:ext cx="731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D7C"/>
                </a:solidFill>
              </a:rPr>
              <a:t>→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6510528" y="397764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10528" y="397764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Alluxio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预热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607808" y="4023360"/>
            <a:ext cx="731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D7C"/>
                </a:solidFill>
              </a:rPr>
              <a:t>→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7680960" y="397764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80960" y="397764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GPU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65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集群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56D4B"/>
          </a:solidFill>
        </p:spPr>
      </p:sp>
      <p:sp>
        <p:nvSpPr>
          <p:cNvPr id="76" name="Text 7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046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技术栈总览 &amp; 演进路线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40080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8580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当前技术栈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3152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56D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80160" y="1097280"/>
            <a:ext cx="29260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Kafka · Flink CDC · Filebeat · MQTT 网关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73152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56D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80160" y="1627632"/>
            <a:ext cx="29260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S3/MinIO · Hive Metastore · Hive (Parquet/ORC)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157984"/>
            <a:ext cx="73152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56D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2157984"/>
            <a:ext cx="29260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Flink on K8s · Spark on K8s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688336"/>
            <a:ext cx="73152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56D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80160" y="2688336"/>
            <a:ext cx="29260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StarRocks/Doris · Presto/Trino · Superset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218688"/>
            <a:ext cx="73152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56D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3218688"/>
            <a:ext cx="29260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Spark 训练构造 · Alluxio · (Feast 未来引入)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73152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56D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治理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80160" y="3749040"/>
            <a:ext cx="29260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7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Airflow · Data Catalog · 血缘 · 质量监控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640080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68580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演进路线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1097280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E8F2F5"/>
          </a:solidFill>
          <a:ln w="19050">
            <a:solidFill>
              <a:srgbClr val="256D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143000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Phase 1 — 当前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1417320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Hive 表格式落地 · 存算分离上线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37760" y="1920240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256D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1965960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Phase 2 — 升级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240280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Hive → Iceberg · ACID/Time Travel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37760" y="2743200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256D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788920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Phase 3 — 深化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3063240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Feature Store (Feast) · 数据质量平台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937760" y="3566160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256D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611880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4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Phase 4 — 优化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3886200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流批一体深化 · Flink 批处理扩展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56D4B"/>
          </a:solidFill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805" y="1045210"/>
            <a:ext cx="7601585" cy="33483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/Users/vw/Library/Containers/com.kingsoft.wpsoffice.mac/Data/tmp/picturecompress_20260719182038/output_1.pngoutput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9555"/>
            <a:ext cx="9144000" cy="46437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350" y="0"/>
            <a:ext cx="786066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+mn-ea"/>
                <a:ea typeface="+mn-ea"/>
                <a:cs typeface="+mn-cs"/>
              </a:rPr>
              <a:t>数据平台</a:t>
            </a:r>
            <a:r>
              <a:rPr lang="zh-CN" altLang="en-US" dirty="0">
                <a:latin typeface="+mn-ea"/>
                <a:ea typeface="+mn-ea"/>
                <a:cs typeface="+mn-cs"/>
              </a:rPr>
              <a:t>演进</a:t>
            </a:r>
            <a:endParaRPr lang="zh-CN" altLang="en-US" dirty="0">
              <a:latin typeface="+mn-ea"/>
              <a:ea typeface="+mn-ea"/>
              <a:cs typeface="+mn-cs"/>
            </a:endParaRPr>
          </a:p>
        </p:txBody>
      </p:sp>
      <p:sp>
        <p:nvSpPr>
          <p:cNvPr id="50" name="矩形 49"/>
          <p:cNvSpPr/>
          <p:nvPr>
            <p:custDataLst>
              <p:tags r:id="rId2"/>
            </p:custDataLst>
          </p:nvPr>
        </p:nvSpPr>
        <p:spPr>
          <a:xfrm>
            <a:off x="1016794" y="1073468"/>
            <a:ext cx="7604760" cy="762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105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</a:t>
            </a:r>
            <a:endParaRPr lang="zh-CN" altLang="en-US" sz="105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" name="圆角矩形 1"/>
          <p:cNvSpPr/>
          <p:nvPr>
            <p:custDataLst>
              <p:tags r:id="rId3"/>
            </p:custDataLst>
          </p:nvPr>
        </p:nvSpPr>
        <p:spPr>
          <a:xfrm>
            <a:off x="521970" y="1296829"/>
            <a:ext cx="315278" cy="315278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177800" dist="38100" dir="2700000" algn="tl" rotWithShape="0">
              <a:schemeClr val="accent1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+mn-ea"/>
            </a:endParaRPr>
          </a:p>
        </p:txBody>
      </p:sp>
      <p:pic>
        <p:nvPicPr>
          <p:cNvPr id="22" name="图片 21" descr="343439383331313b343532303031393bd2b5bca8b9dcc0ed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1029" y="1385888"/>
            <a:ext cx="137160" cy="137160"/>
          </a:xfrm>
          <a:prstGeom prst="rect">
            <a:avLst/>
          </a:prstGeom>
          <a:effectLst/>
        </p:spPr>
      </p:pic>
      <p:cxnSp>
        <p:nvCxnSpPr>
          <p:cNvPr id="66" name="直接连接符 65"/>
          <p:cNvCxnSpPr/>
          <p:nvPr>
            <p:custDataLst>
              <p:tags r:id="rId7"/>
            </p:custDataLst>
          </p:nvPr>
        </p:nvCxnSpPr>
        <p:spPr>
          <a:xfrm>
            <a:off x="521970" y="1945005"/>
            <a:ext cx="8094345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矩形 32"/>
          <p:cNvSpPr/>
          <p:nvPr>
            <p:custDataLst>
              <p:tags r:id="rId8"/>
            </p:custDataLst>
          </p:nvPr>
        </p:nvSpPr>
        <p:spPr>
          <a:xfrm>
            <a:off x="1016794" y="2054543"/>
            <a:ext cx="7604760" cy="762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105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</a:t>
            </a:r>
            <a:endParaRPr lang="zh-CN" altLang="en-US" sz="105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5" name="圆角矩形 34"/>
          <p:cNvSpPr/>
          <p:nvPr>
            <p:custDataLst>
              <p:tags r:id="rId9"/>
            </p:custDataLst>
          </p:nvPr>
        </p:nvSpPr>
        <p:spPr>
          <a:xfrm>
            <a:off x="521970" y="2277904"/>
            <a:ext cx="315278" cy="315278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177800" dist="38100" dir="2700000" algn="tl" rotWithShape="0">
              <a:schemeClr val="accent1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+mn-ea"/>
            </a:endParaRPr>
          </a:p>
        </p:txBody>
      </p:sp>
      <p:cxnSp>
        <p:nvCxnSpPr>
          <p:cNvPr id="37" name="直接连接符 36"/>
          <p:cNvCxnSpPr/>
          <p:nvPr>
            <p:custDataLst>
              <p:tags r:id="rId10"/>
            </p:custDataLst>
          </p:nvPr>
        </p:nvCxnSpPr>
        <p:spPr>
          <a:xfrm>
            <a:off x="521970" y="2926080"/>
            <a:ext cx="8094345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矩形 38"/>
          <p:cNvSpPr/>
          <p:nvPr>
            <p:custDataLst>
              <p:tags r:id="rId11"/>
            </p:custDataLst>
          </p:nvPr>
        </p:nvSpPr>
        <p:spPr>
          <a:xfrm>
            <a:off x="1016794" y="3035618"/>
            <a:ext cx="7604760" cy="762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105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</a:t>
            </a:r>
            <a:endParaRPr lang="zh-CN" altLang="en-US" sz="105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1" name="圆角矩形 40"/>
          <p:cNvSpPr/>
          <p:nvPr>
            <p:custDataLst>
              <p:tags r:id="rId12"/>
            </p:custDataLst>
          </p:nvPr>
        </p:nvSpPr>
        <p:spPr>
          <a:xfrm>
            <a:off x="521970" y="3258979"/>
            <a:ext cx="315278" cy="315278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177800" dist="38100" dir="2700000" algn="tl" rotWithShape="0">
              <a:schemeClr val="accent1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+mn-ea"/>
            </a:endParaRPr>
          </a:p>
        </p:txBody>
      </p:sp>
      <p:cxnSp>
        <p:nvCxnSpPr>
          <p:cNvPr id="43" name="直接连接符 42"/>
          <p:cNvCxnSpPr/>
          <p:nvPr>
            <p:custDataLst>
              <p:tags r:id="rId13"/>
            </p:custDataLst>
          </p:nvPr>
        </p:nvCxnSpPr>
        <p:spPr>
          <a:xfrm>
            <a:off x="521970" y="3907155"/>
            <a:ext cx="8094345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矩形 44"/>
          <p:cNvSpPr/>
          <p:nvPr>
            <p:custDataLst>
              <p:tags r:id="rId14"/>
            </p:custDataLst>
          </p:nvPr>
        </p:nvSpPr>
        <p:spPr>
          <a:xfrm>
            <a:off x="1016794" y="4016693"/>
            <a:ext cx="7604760" cy="762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105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</a:t>
            </a:r>
            <a:endParaRPr lang="zh-CN" altLang="en-US" sz="105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" name="圆角矩形 46"/>
          <p:cNvSpPr/>
          <p:nvPr>
            <p:custDataLst>
              <p:tags r:id="rId15"/>
            </p:custDataLst>
          </p:nvPr>
        </p:nvSpPr>
        <p:spPr>
          <a:xfrm>
            <a:off x="521970" y="4240054"/>
            <a:ext cx="315278" cy="315278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177800" dist="38100" dir="2700000" algn="tl" rotWithShape="0">
              <a:schemeClr val="accent1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+mn-ea"/>
            </a:endParaRPr>
          </a:p>
        </p:txBody>
      </p:sp>
      <p:pic>
        <p:nvPicPr>
          <p:cNvPr id="51" name="图片 50" descr="343439383331313b343532303032303bb8f6c8cbd0c5cfa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9599" y="2355533"/>
            <a:ext cx="160020" cy="160020"/>
          </a:xfrm>
          <a:prstGeom prst="rect">
            <a:avLst/>
          </a:prstGeom>
        </p:spPr>
      </p:pic>
      <p:pic>
        <p:nvPicPr>
          <p:cNvPr id="52" name="图片 51" descr="343439383331313b343532303033323bd3a6d3c3b9dcc0ed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9599" y="3336608"/>
            <a:ext cx="160020" cy="160020"/>
          </a:xfrm>
          <a:prstGeom prst="rect">
            <a:avLst/>
          </a:prstGeom>
        </p:spPr>
      </p:pic>
      <p:pic>
        <p:nvPicPr>
          <p:cNvPr id="53" name="图片 52" descr="343439383331313b343532303032383bbfcdbba7b9dcc0ed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98609" y="4316693"/>
            <a:ext cx="162000" cy="162000"/>
          </a:xfrm>
          <a:prstGeom prst="rect">
            <a:avLst/>
          </a:prstGeom>
        </p:spPr>
      </p:pic>
    </p:spTree>
    <p:custDataLst>
      <p:tags r:id="rId2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4170" y="972185"/>
            <a:ext cx="8395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数据平台的</a:t>
            </a:r>
            <a:r>
              <a:rPr lang="zh-CN" altLang="en-US"/>
              <a:t>演进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5161_3*a*1"/>
  <p:tag name="KSO_WM_TEMPLATE_CATEGORY" val="diagram"/>
  <p:tag name="KSO_WM_TEMPLATE_INDEX" val="20235161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5161_3*l_h_f*1_1_1"/>
  <p:tag name="KSO_WM_TEMPLATE_CATEGORY" val="diagram"/>
  <p:tag name="KSO_WM_TEMPLATE_INDEX" val="20235161"/>
  <p:tag name="KSO_WM_UNIT_LAYERLEVEL" val="1_1_1"/>
  <p:tag name="KSO_WM_TAG_VERSION" val="3.0"/>
  <p:tag name="KSO_WM_UNIT_VALUE" val="160"/>
  <p:tag name="KSO_WM_DIAGRAM_MAX_ITEMCNT" val="4"/>
  <p:tag name="KSO_WM_DIAGRAM_MIN_ITEMCNT" val="2"/>
  <p:tag name="KSO_WM_DIAGRAM_VIRTUALLY_FRAME" val="{&quot;height&quot;:389,&quot;left&quot;:-65.24374626099593,&quot;top&quot;:35.90003937007877,&quot;width&quot;:850.4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61_3*l_h_i*1_1_1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389,&quot;left&quot;:-65.24374626099593,&quot;top&quot;:35.90003937007877,&quot;width&quot;:850.450012207031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61_3*l_h_x*1_1_1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UNIT_VALUE" val="51*51"/>
  <p:tag name="KSO_WM_UNIT_TYPE" val="l_h_x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9,&quot;left&quot;:-65.24374626099593,&quot;top&quot;:35.90003937007877,&quot;width&quot;:850.450012207031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61_3*l_h_i*1_2_2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4"/>
  <p:tag name="KSO_WM_DIAGRAM_MIN_ITEMCNT" val="2"/>
  <p:tag name="KSO_WM_DIAGRAM_VIRTUALLY_FRAME" val="{&quot;height&quot;:389,&quot;left&quot;:-65.24374626099593,&quot;top&quot;:35.90003937007877,&quot;width&quot;:850.450012207031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0"/>
</p:tagLst>
</file>

<file path=ppt/tags/tag1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5161_3*l_h_f*1_2_1"/>
  <p:tag name="KSO_WM_TEMPLATE_CATEGORY" val="diagram"/>
  <p:tag name="KSO_WM_TEMPLATE_INDEX" val="20235161"/>
  <p:tag name="KSO_WM_UNIT_LAYERLEVEL" val="1_1_1"/>
  <p:tag name="KSO_WM_TAG_VERSION" val="3.0"/>
  <p:tag name="KSO_WM_UNIT_VALUE" val="160"/>
  <p:tag name="KSO_WM_DIAGRAM_MAX_ITEMCNT" val="4"/>
  <p:tag name="KSO_WM_DIAGRAM_MIN_ITEMCNT" val="2"/>
  <p:tag name="KSO_WM_DIAGRAM_VIRTUALLY_FRAME" val="{&quot;height&quot;:389,&quot;left&quot;:-65.24374626099593,&quot;top&quot;:35.90003937007877,&quot;width&quot;:850.4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61_3*l_h_i*1_2_1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389,&quot;left&quot;:-65.24374626099593,&quot;top&quot;:35.90003937007877,&quot;width&quot;:850.450012207031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61_3*l_h_i*1_3_2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4"/>
  <p:tag name="KSO_WM_DIAGRAM_MIN_ITEMCNT" val="2"/>
  <p:tag name="KSO_WM_DIAGRAM_VIRTUALLY_FRAME" val="{&quot;height&quot;:389,&quot;left&quot;:-65.24374626099593,&quot;top&quot;:35.90003937007877,&quot;width&quot;:850.450012207031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0"/>
</p:tagLst>
</file>

<file path=ppt/tags/tag1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5161_3*l_h_f*1_3_1"/>
  <p:tag name="KSO_WM_TEMPLATE_CATEGORY" val="diagram"/>
  <p:tag name="KSO_WM_TEMPLATE_INDEX" val="20235161"/>
  <p:tag name="KSO_WM_UNIT_LAYERLEVEL" val="1_1_1"/>
  <p:tag name="KSO_WM_TAG_VERSION" val="3.0"/>
  <p:tag name="KSO_WM_UNIT_VALUE" val="160"/>
  <p:tag name="KSO_WM_DIAGRAM_MAX_ITEMCNT" val="4"/>
  <p:tag name="KSO_WM_DIAGRAM_MIN_ITEMCNT" val="2"/>
  <p:tag name="KSO_WM_DIAGRAM_VIRTUALLY_FRAME" val="{&quot;height&quot;:389,&quot;left&quot;:-65.24374626099593,&quot;top&quot;:35.90003937007877,&quot;width&quot;:850.4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61_3*l_h_i*1_3_1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389,&quot;left&quot;:-65.24374626099593,&quot;top&quot;:35.90003937007877,&quot;width&quot;:850.450012207031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61_3*l_h_i*1_4_2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UNIT_TYPE" val="l_h_i"/>
  <p:tag name="KSO_WM_UNIT_INDEX" val="1_4_2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4"/>
  <p:tag name="KSO_WM_DIAGRAM_MIN_ITEMCNT" val="2"/>
  <p:tag name="KSO_WM_DIAGRAM_VIRTUALLY_FRAME" val="{&quot;height&quot;:389,&quot;left&quot;:-65.24374626099593,&quot;top&quot;:35.90003937007877,&quot;width&quot;:850.450012207031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0"/>
</p:tagLst>
</file>

<file path=ppt/tags/tag1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5161_3*l_h_f*1_4_1"/>
  <p:tag name="KSO_WM_TEMPLATE_CATEGORY" val="diagram"/>
  <p:tag name="KSO_WM_TEMPLATE_INDEX" val="20235161"/>
  <p:tag name="KSO_WM_UNIT_LAYERLEVEL" val="1_1_1"/>
  <p:tag name="KSO_WM_TAG_VERSION" val="3.0"/>
  <p:tag name="KSO_WM_UNIT_VALUE" val="160"/>
  <p:tag name="KSO_WM_DIAGRAM_MAX_ITEMCNT" val="4"/>
  <p:tag name="KSO_WM_DIAGRAM_MIN_ITEMCNT" val="2"/>
  <p:tag name="KSO_WM_DIAGRAM_VIRTUALLY_FRAME" val="{&quot;height&quot;:389,&quot;left&quot;:-65.24374626099593,&quot;top&quot;:35.90003937007877,&quot;width&quot;:850.4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LAYER_COUNT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61_3*l_h_i*1_4_1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UNIT_TYPE" val="l_h_i"/>
  <p:tag name="KSO_WM_UNIT_INDEX" val="1_4_1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389,&quot;left&quot;:-65.24374626099593,&quot;top&quot;:35.90003937007877,&quot;width&quot;:850.4500122070312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61_3*l_h_x*1_2_1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UNIT_VALUE" val="59*59"/>
  <p:tag name="KSO_WM_UNIT_TYPE" val="l_h_x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9,&quot;left&quot;:-65.24374626099593,&quot;top&quot;:35.90003937007877,&quot;width&quot;:850.450012207031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61_3*l_h_x*1_3_1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UNIT_VALUE" val="59*59"/>
  <p:tag name="KSO_WM_UNIT_TYPE" val="l_h_x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9,&quot;left&quot;:-65.24374626099593,&quot;top&quot;:35.90003937007877,&quot;width&quot;:850.450012207031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161_3*l_h_x*1_4_1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UNIT_VALUE" val="60*60"/>
  <p:tag name="KSO_WM_UNIT_TYPE" val="l_h_x"/>
  <p:tag name="KSO_WM_UNIT_INDEX" val="1_4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9,&quot;left&quot;:-65.24374626099593,&quot;top&quot;:35.90003937007877,&quot;width&quot;:850.450012207031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21.xml><?xml version="1.0" encoding="utf-8"?>
<p:tagLst xmlns:p="http://schemas.openxmlformats.org/presentationml/2006/main">
  <p:tag name="KSO_WM_SLIDE_ID" val="diagram20235161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5161"/>
  <p:tag name="KSO_WM_SLIDE_TYPE" val="text"/>
  <p:tag name="KSO_WM_SLIDE_SUBTYPE" val="diag"/>
  <p:tag name="KSO_WM_SLIDE_SIZE" val="850.35*389"/>
  <p:tag name="KSO_WM_SLIDE_POSITION" val="54.8*112.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1924</Words>
  <Application>WPS 演示</Application>
  <PresentationFormat>On-screen Show (16:9)</PresentationFormat>
  <Paragraphs>313</Paragraphs>
  <Slides>11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Arial</vt:lpstr>
      <vt:lpstr>Arial</vt:lpstr>
      <vt:lpstr>Calibri</vt:lpstr>
      <vt:lpstr>Helvetica Neue</vt:lpstr>
      <vt:lpstr>宋体</vt:lpstr>
      <vt:lpstr>Arial Unicode MS</vt:lpstr>
      <vt:lpstr>等线</vt:lpstr>
      <vt:lpstr>汉仪中等线KW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单击此处添加标题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段宁</cp:lastModifiedBy>
  <cp:revision>4</cp:revision>
  <dcterms:created xsi:type="dcterms:W3CDTF">2026-07-26T03:19:33Z</dcterms:created>
  <dcterms:modified xsi:type="dcterms:W3CDTF">2026-07-26T03:19:33Z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3EE32D5BBBA838DCFEA45C6AB9C500AA_42</vt:lpwstr>
  </property>
  <property fmtid="{D5CDD505-2E9C-101B-9397-08002B2CF9AE}" pid="3" name="KSOProductBuildVer">
    <vt:lpwstr>2052-7.5.1.8994</vt:lpwstr>
  </property>
</Properties>
</file>